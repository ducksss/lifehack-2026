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d04d7c7b384d8a" /><Relationship Type="http://schemas.openxmlformats.org/officeDocument/2006/relationships/extended-properties" Target="/docProps/app.xml" Id="Rbf8438c784d648ae" /><Relationship Type="http://schemas.openxmlformats.org/officeDocument/2006/relationships/officeDocument" Target="/ppt/presentation.xml" Id="Rd2d94e297f884a99" /></Relationships>
</file>

<file path=ppt/presentation.xml><?xml version="1.0" encoding="utf-8"?>
<p:presentation xmlns:p="http://schemas.openxmlformats.org/presentationml/2006/main">
  <p:sldMasterIdLst>
    <p:sldMasterId xmlns:r="http://schemas.openxmlformats.org/officeDocument/2006/relationships" id="2147483648" r:id="Rc93c364e42da464f"/>
  </p:sldMasterIdLst>
  <p:notesMasterIdLst>
    <p:notesMasterId xmlns:r="http://schemas.openxmlformats.org/officeDocument/2006/relationships" r:id="Rfd85ba31c960496f"/>
  </p:notesMasterIdLst>
  <p:sldIdLst>
    <p:sldId xmlns:r="http://schemas.openxmlformats.org/officeDocument/2006/relationships" id="256" r:id="R8d254256f3bb4b72"/>
    <p:sldId xmlns:r="http://schemas.openxmlformats.org/officeDocument/2006/relationships" id="257" r:id="R66c4ab50d04b4f23"/>
    <p:sldId xmlns:r="http://schemas.openxmlformats.org/officeDocument/2006/relationships" id="258" r:id="Rfd11a6a7866746ae"/>
    <p:sldId xmlns:r="http://schemas.openxmlformats.org/officeDocument/2006/relationships" id="259" r:id="R44109ed6262749a4"/>
    <p:sldId xmlns:r="http://schemas.openxmlformats.org/officeDocument/2006/relationships" id="260" r:id="Re696fabd930c450c"/>
    <p:sldId xmlns:r="http://schemas.openxmlformats.org/officeDocument/2006/relationships" id="261" r:id="R434d400806714b70"/>
    <p:sldId xmlns:r="http://schemas.openxmlformats.org/officeDocument/2006/relationships" id="262" r:id="R121481306528463c"/>
    <p:sldId xmlns:r="http://schemas.openxmlformats.org/officeDocument/2006/relationships" id="263" r:id="R134a87dca8a1473c"/>
    <p:sldId xmlns:r="http://schemas.openxmlformats.org/officeDocument/2006/relationships" id="264" r:id="R6bc8eef9e20b4f0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aedd83b27f04b90" /><Relationship Type="http://schemas.openxmlformats.org/officeDocument/2006/relationships/slideMaster" Target="/ppt/slideMasters/slideMaster1.xml" Id="Rc93c364e42da464f" /><Relationship Type="http://schemas.openxmlformats.org/officeDocument/2006/relationships/notesMaster" Target="/ppt/notesMasters/notesMaster1.xml" Id="Rfd85ba31c960496f" /><Relationship Type="http://schemas.openxmlformats.org/officeDocument/2006/relationships/presProps" Target="/ppt/presProps.xml" Id="Rc0407d3a41e4476c" /><Relationship Type="http://schemas.openxmlformats.org/officeDocument/2006/relationships/tableStyles" Target="/ppt/tableStyles.xml" Id="Rd2060b5829a349f2" /><Relationship Type="http://schemas.openxmlformats.org/officeDocument/2006/relationships/slide" Target="/ppt/slides/slide1.xml" Id="R8d254256f3bb4b72" /><Relationship Type="http://schemas.openxmlformats.org/officeDocument/2006/relationships/slide" Target="/ppt/slides/slide2.xml" Id="R66c4ab50d04b4f23" /><Relationship Type="http://schemas.openxmlformats.org/officeDocument/2006/relationships/slide" Target="/ppt/slides/slide3.xml" Id="Rfd11a6a7866746ae" /><Relationship Type="http://schemas.openxmlformats.org/officeDocument/2006/relationships/slide" Target="/ppt/slides/slide4.xml" Id="R44109ed6262749a4" /><Relationship Type="http://schemas.openxmlformats.org/officeDocument/2006/relationships/slide" Target="/ppt/slides/slide5.xml" Id="Re696fabd930c450c" /><Relationship Type="http://schemas.openxmlformats.org/officeDocument/2006/relationships/slide" Target="/ppt/slides/slide6.xml" Id="R434d400806714b70" /><Relationship Type="http://schemas.openxmlformats.org/officeDocument/2006/relationships/slide" Target="/ppt/slides/slide7.xml" Id="R121481306528463c" /><Relationship Type="http://schemas.openxmlformats.org/officeDocument/2006/relationships/slide" Target="/ppt/slides/slide8.xml" Id="R134a87dca8a1473c" /><Relationship Type="http://schemas.openxmlformats.org/officeDocument/2006/relationships/slide" Target="/ppt/slides/slide9.xml" Id="R6bc8eef9e20b4f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679e2022a34b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4a75ae1fce4b2c" /><Relationship Type="http://schemas.openxmlformats.org/officeDocument/2006/relationships/notesMaster" Target="/ppt/notesMasters/notesMaster1.xml" Id="Rc35614ac01724a98" /></Relationships>
</file>

<file path=ppt/notesSlides/_rels/notesSlide2.xml.rels>&#65279;<?xml version="1.0" encoding="utf-8"?><Relationships xmlns="http://schemas.openxmlformats.org/package/2006/relationships"><Relationship Type="http://schemas.openxmlformats.org/officeDocument/2006/relationships/slide" Target="/ppt/slides/slide2.xml" Id="Re27e59fc5145431f" /><Relationship Type="http://schemas.openxmlformats.org/officeDocument/2006/relationships/notesMaster" Target="/ppt/notesMasters/notesMaster1.xml" Id="R7666284f1e2348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77cc83f36a4d1d" /><Relationship Type="http://schemas.openxmlformats.org/officeDocument/2006/relationships/notesMaster" Target="/ppt/notesMasters/notesMaster1.xml" Id="R6767963925eb44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305a180a06432b" /><Relationship Type="http://schemas.openxmlformats.org/officeDocument/2006/relationships/notesMaster" Target="/ppt/notesMasters/notesMaster1.xml" Id="R76ca92cb558b461a" /></Relationships>
</file>

<file path=ppt/notesSlides/_rels/notesSlide5.xml.rels>&#65279;<?xml version="1.0" encoding="utf-8"?><Relationships xmlns="http://schemas.openxmlformats.org/package/2006/relationships"><Relationship Type="http://schemas.openxmlformats.org/officeDocument/2006/relationships/slide" Target="/ppt/slides/slide5.xml" Id="R791c1af4c58647e4" /><Relationship Type="http://schemas.openxmlformats.org/officeDocument/2006/relationships/notesMaster" Target="/ppt/notesMasters/notesMaster1.xml" Id="R922ba1941433482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92161933794e5a" /><Relationship Type="http://schemas.openxmlformats.org/officeDocument/2006/relationships/notesMaster" Target="/ppt/notesMasters/notesMaster1.xml" Id="R3602cdf0166540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f13f35805d48ce" /><Relationship Type="http://schemas.openxmlformats.org/officeDocument/2006/relationships/notesMaster" Target="/ppt/notesMasters/notesMaster1.xml" Id="R323b6fb084344cb0"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e8d4f4812f4575" /><Relationship Type="http://schemas.openxmlformats.org/officeDocument/2006/relationships/notesMaster" Target="/ppt/notesMasters/notesMaster1.xml" Id="Rb40adbf8196342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42ecd1612e4970" /><Relationship Type="http://schemas.openxmlformats.org/officeDocument/2006/relationships/notesMaster" Target="/ppt/notesMasters/notesMaster1.xml" Id="R54d8d61058a04b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Someone flying tonight does not want forty adapter links. They want to know they are ready. Woven turns that mission into one complete cart and one exact confirmation.</a:t>
            </a:r>
          </a:p>
          <a:p xmlns:a="http://schemas.openxmlformats.org/drawingml/2006/main">
            <a:r>
              <a:t/>
            </a:r>
          </a:p>
          <a:p xmlns:a="http://schemas.openxmlformats.org/drawingml/2006/main">
            <a:r>
              <a:t>[Sources]</a:t>
            </a:r>
          </a:p>
          <a:p xmlns:a="http://schemas.openxmlformats.org/drawingml/2006/main">
            <a:r>
              <a:t>- docs/assets/devpost/cover.png</a:t>
            </a:r>
          </a:p>
          <a:p xmlns:a="http://schemas.openxmlformats.org/drawingml/2006/main">
            <a:r>
              <a:t>- docs/BRAND_GUIDE.md</a:t>
            </a:r>
          </a:p>
          <a:p xmlns:a="http://schemas.openxmlformats.org/drawingml/2006/main">
            <a:r>
              <a:t>- docs/DEVPOST_SUBMISSION.md — 30-second pitch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not simply a discovery problem. It is a mission-completion problem: one incompatible, unavailable or over-budget item makes every individually good recommendation useless.</a:t>
            </a:r>
          </a:p>
          <a:p xmlns:a="http://schemas.openxmlformats.org/drawingml/2006/main">
            <a:r>
              <a:t/>
            </a:r>
          </a:p>
          <a:p xmlns:a="http://schemas.openxmlformats.org/drawingml/2006/main">
            <a:r>
              <a:t>[Sources]</a:t>
            </a:r>
          </a:p>
          <a:p xmlns:a="http://schemas.openxmlformats.org/drawingml/2006/main">
            <a:r>
              <a:t>- docs/PRD.md — Primary persona and functional requirements</a:t>
            </a:r>
          </a:p>
          <a:p xmlns:a="http://schemas.openxmlformats.org/drawingml/2006/main">
            <a:r>
              <a:t>- docs/DEVPOST_SUBMISSION.md — Inspiration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request is difficult to express through search filters, but completely natural in ChatGPT or Codex. The conversation already contains the destination, devices, budget and deadline Woven needs.</a:t>
            </a:r>
          </a:p>
          <a:p xmlns:a="http://schemas.openxmlformats.org/drawingml/2006/main">
            <a:r>
              <a:t/>
            </a:r>
          </a:p>
          <a:p xmlns:a="http://schemas.openxmlformats.org/drawingml/2006/main">
            <a:r>
              <a:t>[Sources]</a:t>
            </a:r>
          </a:p>
          <a:p xmlns:a="http://schemas.openxmlformats.org/drawingml/2006/main">
            <a:r>
              <a:t>- docs/PRD.md — Canonical story</a:t>
            </a:r>
          </a:p>
          <a:p xmlns:a="http://schemas.openxmlformats.org/drawingml/2006/main">
            <a:r>
              <a:t>- docs/HANDOVER.md — Canonical demo 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Woven does not rank loose products. It rejects incomplete or incompatible combinations, stays under the hard budget and returns one pickup location per cart with an explanation for every component.</a:t>
            </a:r>
          </a:p>
          <a:p xmlns:a="http://schemas.openxmlformats.org/drawingml/2006/main">
            <a:r>
              <a:t/>
            </a:r>
          </a:p>
          <a:p xmlns:a="http://schemas.openxmlformats.org/drawingml/2006/main">
            <a:r>
              <a:t>[Sources]</a:t>
            </a:r>
          </a:p>
          <a:p xmlns:a="http://schemas.openxmlformats.org/drawingml/2006/main">
            <a:r>
              <a:t>- docs/assets/screenshots/buyer-overview.png</a:t>
            </a:r>
          </a:p>
          <a:p xmlns:a="http://schemas.openxmlformats.org/drawingml/2006/main">
            <a:r>
              <a:t>- docs/PRD.md — Functional requirements</a:t>
            </a:r>
          </a:p>
          <a:p xmlns:a="http://schemas.openxmlformats.org/drawingml/2006/main">
            <a:r>
              <a:t>- docs/architecture.md — Cart algorithm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ChatGPT or Codex understands the intent. Woven supplies deterministic commerce tools and the embedded interface. The user—not the model—confirms the exact terms. The current Visa boundary is a simulator only.</a:t>
            </a:r>
          </a:p>
          <a:p xmlns:a="http://schemas.openxmlformats.org/drawingml/2006/main">
            <a:r>
              <a:t/>
            </a:r>
          </a:p>
          <a:p xmlns:a="http://schemas.openxmlformats.org/drawingml/2006/main">
            <a:r>
              <a:t>[Sources]</a:t>
            </a:r>
          </a:p>
          <a:p xmlns:a="http://schemas.openxmlformats.org/drawingml/2006/main">
            <a:r>
              <a:t>- docs/assets/devpost/architecture.png</a:t>
            </a:r>
          </a:p>
          <a:p xmlns:a="http://schemas.openxmlformats.org/drawingml/2006/main">
            <a:r>
              <a:t>- docs/architecture.md</a:t>
            </a:r>
          </a:p>
          <a:p xmlns:a="http://schemas.openxmlformats.org/drawingml/2006/main">
            <a:r>
              <a:t>- docs/BRAND_GUIDE.md — Prototype language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checkout, Woven rechecks price and stock, binds the exact merchant, cart version and amount, and creates a ten-minute mandate. The model never receives the private confirmation nonce; the user must click Confirm.</a:t>
            </a:r>
          </a:p>
          <a:p xmlns:a="http://schemas.openxmlformats.org/drawingml/2006/main">
            <a:r>
              <a:t/>
            </a:r>
          </a:p>
          <a:p xmlns:a="http://schemas.openxmlformats.org/drawingml/2006/main">
            <a:r>
              <a:t>[Sources]</a:t>
            </a:r>
          </a:p>
          <a:p xmlns:a="http://schemas.openxmlformats.org/drawingml/2006/main">
            <a:r>
              <a:t>- docs/assets/screenshots/checkout-confirmation.png</a:t>
            </a:r>
          </a:p>
          <a:p xmlns:a="http://schemas.openxmlformats.org/drawingml/2006/main">
            <a:r>
              <a:t>- docs/architecture.md — Tool contract and confirmation state machine</a:t>
            </a:r>
          </a:p>
          <a:p xmlns:a="http://schemas.openxmlformats.org/drawingml/2006/main">
            <a:r>
              <a:t>- docs/PRD.md — Acceptance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merchant desk lets judges change inventory or prices and trigger decline or reversal paths live. Every path keeps recommendation separate from authorization, accepts no payment credentials and records the outcome.</a:t>
            </a:r>
          </a:p>
          <a:p xmlns:a="http://schemas.openxmlformats.org/drawingml/2006/main">
            <a:r>
              <a:t/>
            </a:r>
          </a:p>
          <a:p xmlns:a="http://schemas.openxmlformats.org/drawingml/2006/main">
            <a:r>
              <a:t>[Sources]</a:t>
            </a:r>
          </a:p>
          <a:p xmlns:a="http://schemas.openxmlformats.org/drawingml/2006/main">
            <a:r>
              <a:t>- docs/assets/screenshots/merchant-dashboard.png</a:t>
            </a:r>
          </a:p>
          <a:p xmlns:a="http://schemas.openxmlformats.org/drawingml/2006/main">
            <a:r>
              <a:t>- docs/PRD.md — Functional requirements</a:t>
            </a:r>
          </a:p>
          <a:p xmlns:a="http://schemas.openxmlformats.org/drawingml/2006/main">
            <a:r>
              <a:t>- docs/architecture.md — Trust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deliberately starts with one demanding electronics mission and a validated CSV contract. The path to scale is to connect real catalogue, stock and fulfilment APIs while preserving the same exact confirmation boundary.</a:t>
            </a:r>
          </a:p>
          <a:p xmlns:a="http://schemas.openxmlformats.org/drawingml/2006/main">
            <a:r>
              <a:t/>
            </a:r>
          </a:p>
          <a:p xmlns:a="http://schemas.openxmlformats.org/drawingml/2006/main">
            <a:r>
              <a:t>[Sources]</a:t>
            </a:r>
          </a:p>
          <a:p xmlns:a="http://schemas.openxmlformats.org/drawingml/2006/main">
            <a:r>
              <a:t>- docs/PRD.md — Non-goals</a:t>
            </a:r>
          </a:p>
          <a:p xmlns:a="http://schemas.openxmlformats.org/drawingml/2006/main">
            <a:r>
              <a:t>- docs/DEVPOST_SUBMISSION.md — What's next</a:t>
            </a:r>
          </a:p>
          <a:p xmlns:a="http://schemas.openxmlformats.org/drawingml/2006/main">
            <a:r>
              <a:t>- docs/HANDOVER.md — Highest-value next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not building another online store. We are making the existing AI conversation capable of completing a real mission—while keeping the exact commercial decision visibly human.</a:t>
            </a:r>
          </a:p>
          <a:p xmlns:a="http://schemas.openxmlformats.org/drawingml/2006/main">
            <a:r>
              <a:t/>
            </a:r>
          </a:p>
          <a:p xmlns:a="http://schemas.openxmlformats.org/drawingml/2006/main">
            <a:r>
              <a:t>[Sources]</a:t>
            </a:r>
          </a:p>
          <a:p xmlns:a="http://schemas.openxmlformats.org/drawingml/2006/main">
            <a:r>
              <a:t>- docs/assets/screenshots/order-success.png</a:t>
            </a:r>
          </a:p>
          <a:p xmlns:a="http://schemas.openxmlformats.org/drawingml/2006/main">
            <a:r>
              <a:t>- docs/BRAND_GUIDE.md — Core line and prototype boundary</a:t>
            </a:r>
          </a:p>
          <a:p xmlns:a="http://schemas.openxmlformats.org/drawingml/2006/main">
            <a:r>
              <a:t>- docs/DEVPOST_SUBMISSION.md — 30-second pitch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516871cf5d42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e9d0a5702c4a7a" /><Relationship Type="http://schemas.openxmlformats.org/officeDocument/2006/relationships/slideLayout" Target="/ppt/slideLayouts/slideLayout1.xml" Id="R63ea19c7d01646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ea19c7d01646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4987ca7d8d84fc5" /><Relationship Type="http://schemas.openxmlformats.org/officeDocument/2006/relationships/image" Target="/ppt/media/image.png" Id="R518f8e1e769543be" /><Relationship Type="http://schemas.openxmlformats.org/officeDocument/2006/relationships/notesSlide" Target="/ppt/notesSlides/notesSlide1.xml" Id="R9e78472a038e442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2888aa97adc4770" /><Relationship Type="http://schemas.openxmlformats.org/officeDocument/2006/relationships/notesSlide" Target="/ppt/notesSlides/notesSlide2.xml" Id="Ra3dd2422e65044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c7d7bbbc67245a5" /><Relationship Type="http://schemas.openxmlformats.org/officeDocument/2006/relationships/notesSlide" Target="/ppt/notesSlides/notesSlide3.xml" Id="R40828bc696d844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8e90e82e4e94c2e" /><Relationship Type="http://schemas.openxmlformats.org/officeDocument/2006/relationships/image" Target="/ppt/media/image2.png" Id="R3a3f835612ee409b" /><Relationship Type="http://schemas.openxmlformats.org/officeDocument/2006/relationships/notesSlide" Target="/ppt/notesSlides/notesSlide4.xml" Id="R4cb7866a84974d3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2e7a066f1b64168" /><Relationship Type="http://schemas.openxmlformats.org/officeDocument/2006/relationships/image" Target="/ppt/media/image3.png" Id="Raa545504ff6c40b8" /><Relationship Type="http://schemas.openxmlformats.org/officeDocument/2006/relationships/notesSlide" Target="/ppt/notesSlides/notesSlide5.xml" Id="R1af890b64c3544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cfa92fceb0e43cd" /><Relationship Type="http://schemas.openxmlformats.org/officeDocument/2006/relationships/image" Target="/ppt/media/image4.png" Id="R13b74459dc7b44eb" /><Relationship Type="http://schemas.openxmlformats.org/officeDocument/2006/relationships/notesSlide" Target="/ppt/notesSlides/notesSlide6.xml" Id="R8400e9aaa6934b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15818fb8e484f1a" /><Relationship Type="http://schemas.openxmlformats.org/officeDocument/2006/relationships/image" Target="/ppt/media/image5.png" Id="R2fa4a6fe333c46ff" /><Relationship Type="http://schemas.openxmlformats.org/officeDocument/2006/relationships/notesSlide" Target="/ppt/notesSlides/notesSlide7.xml" Id="Rb1dda5954d204e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1a97cff38464f99" /><Relationship Type="http://schemas.openxmlformats.org/officeDocument/2006/relationships/notesSlide" Target="/ppt/notesSlides/notesSlide8.xml" Id="Rcc8ade05bbe34c6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7b6abe327ae4277" /><Relationship Type="http://schemas.openxmlformats.org/officeDocument/2006/relationships/image" Target="/ppt/media/image6.png" Id="Rc63ab80ad15a43e0" /><Relationship Type="http://schemas.openxmlformats.org/officeDocument/2006/relationships/notesSlide" Target="/ppt/notesSlides/notesSlide9.xml" Id="R4d6cbb479a274af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18f8e1e769543be"/>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1406175347"/>
      </p:ext>
    </p:extLst>
  </p:cSld>
</p:sld>
</file>

<file path=ppt/slides/slide2.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PROBLEM</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Search finds products. People need complete outcomes.</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One wrong item breaks the whole mission.</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Compatibility</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The charger, cables and destination adapter must work as one system.</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Availability</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Every item must be in stock at the same pickup location today.</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Commercial terms</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The finished kit must remain under budget when the user confirms.</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02</a:t>
            </a:r>
          </a:p>
        </p:txBody>
      </p:sp>
    </p:spTree>
    <p:extLst>
      <p:ext uri="{BB962C8B-B14F-4D97-AF65-F5344CB8AC3E}">
        <p14:creationId xmlns:p14="http://schemas.microsoft.com/office/powerpoint/2010/main" val="619982641"/>
      </p:ext>
    </p:extLst>
  </p:cSld>
</p:sld>
</file>

<file path=ppt/slides/slide3.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he insight">
            <a:extLst xmlns:a="http://schemas.openxmlformats.org/drawingml/2006/main">
              <a:ext uri="{FF2B5EF4-FFF2-40B4-BE49-F238E27FC236}">
                <a16:creationId xmlns:a16="http://schemas.microsoft.com/office/drawing/2014/main" id="{0E9A20C0-1257-4684-8F68-81D3C29EF240}"/>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THE INSIGHT</a:t>
            </a:r>
          </a:p>
        </p:txBody>
      </p:sp>
      <p:sp>
        <p:nvSpPr>
          <p:cNvPr id="2" name="title-The next storefront is the conversation.">
            <a:extLst xmlns:a="http://schemas.openxmlformats.org/drawingml/2006/main">
              <a:ext uri="{FF2B5EF4-FFF2-40B4-BE49-F238E27FC236}">
                <a16:creationId xmlns:a16="http://schemas.microsoft.com/office/drawing/2014/main" id="{969BE9F7-A93F-4601-A652-3DE21C19653C}"/>
              </a:ext>
            </a:extLst>
          </p:cNvPr>
          <p:cNvSpPr>
            <a:spLocks xmlns:a="http://schemas.openxmlformats.org/drawingml/2006/main" noGrp="1"/>
          </p:cNvSpPr>
          <p:nvPr/>
        </p:nvSpPr>
        <p:spPr>
          <a:xfrm xmlns:a="http://schemas.openxmlformats.org/drawingml/2006/main">
            <a:off x="838200" y="990600"/>
            <a:ext cx="12573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The next storefront is the conversation.</a:t>
            </a:r>
          </a:p>
        </p:txBody>
      </p:sp>
      <p:sp>
        <p:nvSpPr>
          <p:cNvPr id="3" name="mission-quote">
            <a:extLst xmlns:a="http://schemas.openxmlformats.org/drawingml/2006/main">
              <a:ext uri="{FF2B5EF4-FFF2-40B4-BE49-F238E27FC236}">
                <a16:creationId xmlns:a16="http://schemas.microsoft.com/office/drawing/2014/main" id="{2EFDEF0A-10CB-4EF5-B352-9F246A44681A}"/>
              </a:ext>
            </a:extLst>
          </p:cNvPr>
          <p:cNvSpPr>
            <a:spLocks xmlns:a="http://schemas.openxmlformats.org/drawingml/2006/main" noGrp="1"/>
          </p:cNvSpPr>
          <p:nvPr/>
        </p:nvSpPr>
        <p:spPr>
          <a:xfrm xmlns:a="http://schemas.openxmlformats.org/drawingml/2006/main">
            <a:off x="838200" y="2571750"/>
            <a:ext cx="9620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4000"/>
              </a:lnSpc>
              <a:buNone/>
              <a:defRPr sz="3900">
                <a:solidFill>
                  <a:srgbClr val="FFFFFF"/>
                </a:solidFill>
                <a:latin typeface="Georgia"/>
                <a:ea typeface="Georgia"/>
                <a:cs typeface="Georgia"/>
              </a:defRPr>
            </a:pPr>
            <a:r>
              <a:rPr sz="3900">
                <a:solidFill>
                  <a:srgbClr val="FFFFFF"/>
                </a:solidFill>
                <a:latin typeface="Georgia"/>
                <a:ea typeface="Georgia"/>
                <a:cs typeface="Georgia"/>
              </a:rPr>
              <a:t>“I fly to Tokyo tonight. Build a charging kit for my MacBook Air, iPhone and AirPods </a:t>
            </a:r>
            <a:r>
              <a:rPr sz="3900" b="1">
                <a:solidFill>
                  <a:srgbClr val="FFFFFF"/>
                </a:solidFill>
                <a:latin typeface="Georgia"/>
                <a:ea typeface="Georgia"/>
                <a:cs typeface="Georgia"/>
              </a:rPr>
              <a:t>under S$150</a:t>
            </a:r>
            <a:r>
              <a:rPr sz="3900">
                <a:solidFill>
                  <a:srgbClr val="FFFFFF"/>
                </a:solidFill>
                <a:latin typeface="Georgia"/>
                <a:ea typeface="Georgia"/>
                <a:cs typeface="Georgia"/>
              </a:rPr>
              <a:t>, with pickup today.”</a:t>
            </a:r>
          </a:p>
        </p:txBody>
      </p:sp>
      <p:sp>
        <p:nvSpPr>
          <p:cNvPr id="4" name="constraint-rail">
            <a:extLst xmlns:a="http://schemas.openxmlformats.org/drawingml/2006/main">
              <a:ext uri="{FF2B5EF4-FFF2-40B4-BE49-F238E27FC236}">
                <a16:creationId xmlns:a16="http://schemas.microsoft.com/office/drawing/2014/main" id="{C7427611-62AF-49F3-96D4-D2F722F44F43}"/>
              </a:ext>
            </a:extLst>
          </p:cNvPr>
          <p:cNvSpPr>
            <a:spLocks xmlns:a="http://schemas.openxmlformats.org/drawingml/2006/main" noGrp="1"/>
          </p:cNvSpPr>
          <p:nvPr/>
        </p:nvSpPr>
        <p:spPr>
          <a:xfrm xmlns:a="http://schemas.openxmlformats.org/drawingml/2006/main">
            <a:off x="11239500" y="2571750"/>
            <a:ext cx="57150" cy="3476625"/>
          </a:xfrm>
          <a:prstGeom xmlns:a="http://schemas.openxmlformats.org/drawingml/2006/main" prst="rect">
            <a:avLst/>
          </a:prstGeom>
          <a:solidFill xmlns:a="http://schemas.openxmlformats.org/drawingml/2006/main">
            <a:srgbClr val="B7F522"/>
          </a:solidFill>
          <a:ln xmlns:a="http://schemas.openxmlformats.org/drawingml/2006/main" w="0">
            <a:noFill/>
            <a:prstDash val="solid"/>
          </a:ln>
        </p:spPr>
      </p:sp>
      <p:sp>
        <p:nvSpPr>
          <p:cNvPr id="5" name="constraint-label-0">
            <a:extLst xmlns:a="http://schemas.openxmlformats.org/drawingml/2006/main">
              <a:ext uri="{FF2B5EF4-FFF2-40B4-BE49-F238E27FC236}">
                <a16:creationId xmlns:a16="http://schemas.microsoft.com/office/drawing/2014/main" id="{7AA39BE2-FA59-4EFF-91F8-6C0E2FD0DD98}"/>
              </a:ext>
            </a:extLst>
          </p:cNvPr>
          <p:cNvSpPr>
            <a:spLocks xmlns:a="http://schemas.openxmlformats.org/drawingml/2006/main" noGrp="1"/>
          </p:cNvSpPr>
          <p:nvPr/>
        </p:nvSpPr>
        <p:spPr>
          <a:xfrm xmlns:a="http://schemas.openxmlformats.org/drawingml/2006/main">
            <a:off x="11668125" y="26479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DESTINATION</a:t>
            </a:r>
          </a:p>
        </p:txBody>
      </p:sp>
      <p:sp>
        <p:nvSpPr>
          <p:cNvPr id="6" name="constraint-value-0">
            <a:extLst xmlns:a="http://schemas.openxmlformats.org/drawingml/2006/main">
              <a:ext uri="{FF2B5EF4-FFF2-40B4-BE49-F238E27FC236}">
                <a16:creationId xmlns:a16="http://schemas.microsoft.com/office/drawing/2014/main" id="{DC158097-6463-4A7F-95C3-AE1BAEB9BC75}"/>
              </a:ext>
            </a:extLst>
          </p:cNvPr>
          <p:cNvSpPr>
            <a:spLocks xmlns:a="http://schemas.openxmlformats.org/drawingml/2006/main" noGrp="1"/>
          </p:cNvSpPr>
          <p:nvPr/>
        </p:nvSpPr>
        <p:spPr>
          <a:xfrm xmlns:a="http://schemas.openxmlformats.org/drawingml/2006/main">
            <a:off x="11668125" y="29241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Tokyo</a:t>
            </a:r>
          </a:p>
        </p:txBody>
      </p:sp>
      <p:sp>
        <p:nvSpPr>
          <p:cNvPr id="7" name="constraint-label-1">
            <a:extLst xmlns:a="http://schemas.openxmlformats.org/drawingml/2006/main">
              <a:ext uri="{FF2B5EF4-FFF2-40B4-BE49-F238E27FC236}">
                <a16:creationId xmlns:a16="http://schemas.microsoft.com/office/drawing/2014/main" id="{3A9CCD6B-D9ED-4458-B40A-4A9942E747D6}"/>
              </a:ext>
            </a:extLst>
          </p:cNvPr>
          <p:cNvSpPr>
            <a:spLocks xmlns:a="http://schemas.openxmlformats.org/drawingml/2006/main" noGrp="1"/>
          </p:cNvSpPr>
          <p:nvPr/>
        </p:nvSpPr>
        <p:spPr>
          <a:xfrm xmlns:a="http://schemas.openxmlformats.org/drawingml/2006/main">
            <a:off x="11668125" y="34861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DEVICES</a:t>
            </a:r>
          </a:p>
        </p:txBody>
      </p:sp>
      <p:sp>
        <p:nvSpPr>
          <p:cNvPr id="8" name="constraint-value-1">
            <a:extLst xmlns:a="http://schemas.openxmlformats.org/drawingml/2006/main">
              <a:ext uri="{FF2B5EF4-FFF2-40B4-BE49-F238E27FC236}">
                <a16:creationId xmlns:a16="http://schemas.microsoft.com/office/drawing/2014/main" id="{9C92FC46-5FC9-460B-9B88-20B0C150CD90}"/>
              </a:ext>
            </a:extLst>
          </p:cNvPr>
          <p:cNvSpPr>
            <a:spLocks xmlns:a="http://schemas.openxmlformats.org/drawingml/2006/main" noGrp="1"/>
          </p:cNvSpPr>
          <p:nvPr/>
        </p:nvSpPr>
        <p:spPr>
          <a:xfrm xmlns:a="http://schemas.openxmlformats.org/drawingml/2006/main">
            <a:off x="11668125" y="37623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MacBook · iPhone · AirPods</a:t>
            </a:r>
          </a:p>
        </p:txBody>
      </p:sp>
      <p:sp>
        <p:nvSpPr>
          <p:cNvPr id="9" name="constraint-label-2">
            <a:extLst xmlns:a="http://schemas.openxmlformats.org/drawingml/2006/main">
              <a:ext uri="{FF2B5EF4-FFF2-40B4-BE49-F238E27FC236}">
                <a16:creationId xmlns:a16="http://schemas.microsoft.com/office/drawing/2014/main" id="{08595B41-1CA9-4968-A357-7F0F4F054E80}"/>
              </a:ext>
            </a:extLst>
          </p:cNvPr>
          <p:cNvSpPr>
            <a:spLocks xmlns:a="http://schemas.openxmlformats.org/drawingml/2006/main" noGrp="1"/>
          </p:cNvSpPr>
          <p:nvPr/>
        </p:nvSpPr>
        <p:spPr>
          <a:xfrm xmlns:a="http://schemas.openxmlformats.org/drawingml/2006/main">
            <a:off x="11668125" y="43243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BUDGET</a:t>
            </a:r>
          </a:p>
        </p:txBody>
      </p:sp>
      <p:sp>
        <p:nvSpPr>
          <p:cNvPr id="10" name="constraint-value-2">
            <a:extLst xmlns:a="http://schemas.openxmlformats.org/drawingml/2006/main">
              <a:ext uri="{FF2B5EF4-FFF2-40B4-BE49-F238E27FC236}">
                <a16:creationId xmlns:a16="http://schemas.microsoft.com/office/drawing/2014/main" id="{DA463453-F3EC-4FC9-ADA5-A68745001B79}"/>
              </a:ext>
            </a:extLst>
          </p:cNvPr>
          <p:cNvSpPr>
            <a:spLocks xmlns:a="http://schemas.openxmlformats.org/drawingml/2006/main" noGrp="1"/>
          </p:cNvSpPr>
          <p:nvPr/>
        </p:nvSpPr>
        <p:spPr>
          <a:xfrm xmlns:a="http://schemas.openxmlformats.org/drawingml/2006/main">
            <a:off x="11668125" y="46005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S$150 hard cap</a:t>
            </a:r>
          </a:p>
        </p:txBody>
      </p:sp>
      <p:sp>
        <p:nvSpPr>
          <p:cNvPr id="11" name="constraint-label-3">
            <a:extLst xmlns:a="http://schemas.openxmlformats.org/drawingml/2006/main">
              <a:ext uri="{FF2B5EF4-FFF2-40B4-BE49-F238E27FC236}">
                <a16:creationId xmlns:a16="http://schemas.microsoft.com/office/drawing/2014/main" id="{8A77585B-BD13-4C6C-A109-3B4EFDB67C55}"/>
              </a:ext>
            </a:extLst>
          </p:cNvPr>
          <p:cNvSpPr>
            <a:spLocks xmlns:a="http://schemas.openxmlformats.org/drawingml/2006/main" noGrp="1"/>
          </p:cNvSpPr>
          <p:nvPr/>
        </p:nvSpPr>
        <p:spPr>
          <a:xfrm xmlns:a="http://schemas.openxmlformats.org/drawingml/2006/main">
            <a:off x="11668125" y="51625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DEADLINE</a:t>
            </a:r>
          </a:p>
        </p:txBody>
      </p:sp>
      <p:sp>
        <p:nvSpPr>
          <p:cNvPr id="12" name="constraint-value-3">
            <a:extLst xmlns:a="http://schemas.openxmlformats.org/drawingml/2006/main">
              <a:ext uri="{FF2B5EF4-FFF2-40B4-BE49-F238E27FC236}">
                <a16:creationId xmlns:a16="http://schemas.microsoft.com/office/drawing/2014/main" id="{F23B21D7-5C5A-4190-8CAC-D7BC67758A37}"/>
              </a:ext>
            </a:extLst>
          </p:cNvPr>
          <p:cNvSpPr>
            <a:spLocks xmlns:a="http://schemas.openxmlformats.org/drawingml/2006/main" noGrp="1"/>
          </p:cNvSpPr>
          <p:nvPr/>
        </p:nvSpPr>
        <p:spPr>
          <a:xfrm xmlns:a="http://schemas.openxmlformats.org/drawingml/2006/main">
            <a:off x="11668125" y="54387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Pickup today</a:t>
            </a:r>
          </a:p>
        </p:txBody>
      </p:sp>
      <p:sp>
        <p:nvSpPr>
          <p:cNvPr id="13" name="constraint-summary">
            <a:extLst xmlns:a="http://schemas.openxmlformats.org/drawingml/2006/main">
              <a:ext uri="{FF2B5EF4-FFF2-40B4-BE49-F238E27FC236}">
                <a16:creationId xmlns:a16="http://schemas.microsoft.com/office/drawing/2014/main" id="{4A3F781E-6DB6-4EF9-B02D-DAB3997EC1E5}"/>
              </a:ext>
            </a:extLst>
          </p:cNvPr>
          <p:cNvSpPr>
            <a:spLocks xmlns:a="http://schemas.openxmlformats.org/drawingml/2006/main" noGrp="1"/>
          </p:cNvSpPr>
          <p:nvPr/>
        </p:nvSpPr>
        <p:spPr>
          <a:xfrm xmlns:a="http://schemas.openxmlformats.org/drawingml/2006/main">
            <a:off x="838200" y="65722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100" b="1">
                <a:solidFill>
                  <a:srgbClr val="B7F522"/>
                </a:solidFill>
                <a:latin typeface="Menlo"/>
                <a:ea typeface="Menlo"/>
                <a:cs typeface="Menlo"/>
              </a:defRPr>
            </a:pPr>
            <a:r>
              <a:rPr sz="2100" b="1">
                <a:solidFill>
                  <a:srgbClr val="B7F522"/>
                </a:solidFill>
                <a:latin typeface="Menlo"/>
                <a:ea typeface="Menlo"/>
                <a:cs typeface="Menlo"/>
              </a:rPr>
              <a:t>5 hard constraints. 1 natural sentence.</a:t>
            </a:r>
          </a:p>
        </p:txBody>
      </p:sp>
      <p:sp>
        <p:nvSpPr>
          <p:cNvPr id="14" name="footer-label-3">
            <a:extLst xmlns:a="http://schemas.openxmlformats.org/drawingml/2006/main">
              <a:ext uri="{FF2B5EF4-FFF2-40B4-BE49-F238E27FC236}">
                <a16:creationId xmlns:a16="http://schemas.microsoft.com/office/drawing/2014/main" id="{DA4AB16A-877D-4B6F-96E4-5CF2F9C6A2BB}"/>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3">
            <a:extLst xmlns:a="http://schemas.openxmlformats.org/drawingml/2006/main">
              <a:ext uri="{FF2B5EF4-FFF2-40B4-BE49-F238E27FC236}">
                <a16:creationId xmlns:a16="http://schemas.microsoft.com/office/drawing/2014/main" id="{CC0E83F2-9BAD-48DD-80E2-9CAD950547D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03</a:t>
            </a:r>
          </a:p>
        </p:txBody>
      </p:sp>
    </p:spTree>
    <p:extLst>
      <p:ext uri="{BB962C8B-B14F-4D97-AF65-F5344CB8AC3E}">
        <p14:creationId xmlns:p14="http://schemas.microsoft.com/office/powerpoint/2010/main" val="740310197"/>
      </p:ext>
    </p:extLst>
  </p:cSld>
</p:sld>
</file>

<file path=ppt/slides/slide4.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3" name="eyebrow-The product">
            <a:extLst xmlns:a="http://schemas.openxmlformats.org/drawingml/2006/main">
              <a:ext uri="{FF2B5EF4-FFF2-40B4-BE49-F238E27FC236}">
                <a16:creationId xmlns:a16="http://schemas.microsoft.com/office/drawing/2014/main" id="{07A88F95-BFF8-48C4-862D-F9984BCFD9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PRODUCT</a:t>
            </a:r>
          </a:p>
        </p:txBody>
      </p:sp>
      <p:sp>
        <p:nvSpPr>
          <p:cNvPr id="2" name="title-Woven turns intent into a complete cart.">
            <a:extLst xmlns:a="http://schemas.openxmlformats.org/drawingml/2006/main">
              <a:ext uri="{FF2B5EF4-FFF2-40B4-BE49-F238E27FC236}">
                <a16:creationId xmlns:a16="http://schemas.microsoft.com/office/drawing/2014/main" id="{044C183A-E528-4271-8878-340DBD49AD32}"/>
              </a:ext>
            </a:extLst>
          </p:cNvPr>
          <p:cNvSpPr>
            <a:spLocks xmlns:a="http://schemas.openxmlformats.org/drawingml/2006/main" noGrp="1"/>
          </p:cNvSpPr>
          <p:nvPr/>
        </p:nvSpPr>
        <p:spPr>
          <a:xfrm xmlns:a="http://schemas.openxmlformats.org/drawingml/2006/main">
            <a:off x="838200" y="990600"/>
            <a:ext cx="1323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Woven turns intent into a complete cart.</a:t>
            </a:r>
          </a:p>
        </p:txBody>
      </p:sp>
      <p:sp>
        <p:nvSpPr>
          <p:cNvPr id="3" name="metric-value-0">
            <a:extLst xmlns:a="http://schemas.openxmlformats.org/drawingml/2006/main">
              <a:ext uri="{FF2B5EF4-FFF2-40B4-BE49-F238E27FC236}">
                <a16:creationId xmlns:a16="http://schemas.microsoft.com/office/drawing/2014/main" id="{E720D8B4-0DC5-4C28-87E9-44D51229EF85}"/>
              </a:ext>
            </a:extLst>
          </p:cNvPr>
          <p:cNvSpPr>
            <a:spLocks xmlns:a="http://schemas.openxmlformats.org/drawingml/2006/main" noGrp="1"/>
          </p:cNvSpPr>
          <p:nvPr/>
        </p:nvSpPr>
        <p:spPr>
          <a:xfrm xmlns:a="http://schemas.openxmlformats.org/drawingml/2006/main">
            <a:off x="838200" y="27813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3</a:t>
            </a:r>
          </a:p>
        </p:txBody>
      </p:sp>
      <p:sp>
        <p:nvSpPr>
          <p:cNvPr id="4" name="metric-label-0">
            <a:extLst xmlns:a="http://schemas.openxmlformats.org/drawingml/2006/main">
              <a:ext uri="{FF2B5EF4-FFF2-40B4-BE49-F238E27FC236}">
                <a16:creationId xmlns:a16="http://schemas.microsoft.com/office/drawing/2014/main" id="{94B9C37E-E44A-4911-823F-0818603B6764}"/>
              </a:ext>
            </a:extLst>
          </p:cNvPr>
          <p:cNvSpPr>
            <a:spLocks xmlns:a="http://schemas.openxmlformats.org/drawingml/2006/main" noGrp="1"/>
          </p:cNvSpPr>
          <p:nvPr/>
        </p:nvSpPr>
        <p:spPr>
          <a:xfrm xmlns:a="http://schemas.openxmlformats.org/drawingml/2006/main">
            <a:off x="838200" y="34671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ranked, complete carts</a:t>
            </a:r>
          </a:p>
        </p:txBody>
      </p:sp>
      <p:sp>
        <p:nvSpPr>
          <p:cNvPr id="5" name="metric-value-1">
            <a:extLst xmlns:a="http://schemas.openxmlformats.org/drawingml/2006/main">
              <a:ext uri="{FF2B5EF4-FFF2-40B4-BE49-F238E27FC236}">
                <a16:creationId xmlns:a16="http://schemas.microsoft.com/office/drawing/2014/main" id="{C9AA5B59-8D6D-4578-BE98-DA2CCD78BACE}"/>
              </a:ext>
            </a:extLst>
          </p:cNvPr>
          <p:cNvSpPr>
            <a:spLocks xmlns:a="http://schemas.openxmlformats.org/drawingml/2006/main" noGrp="1"/>
          </p:cNvSpPr>
          <p:nvPr/>
        </p:nvSpPr>
        <p:spPr>
          <a:xfrm xmlns:a="http://schemas.openxmlformats.org/drawingml/2006/main">
            <a:off x="838200" y="413385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1</a:t>
            </a:r>
          </a:p>
        </p:txBody>
      </p:sp>
      <p:sp>
        <p:nvSpPr>
          <p:cNvPr id="6" name="metric-label-1">
            <a:extLst xmlns:a="http://schemas.openxmlformats.org/drawingml/2006/main">
              <a:ext uri="{FF2B5EF4-FFF2-40B4-BE49-F238E27FC236}">
                <a16:creationId xmlns:a16="http://schemas.microsoft.com/office/drawing/2014/main" id="{D67D50E1-2330-405F-9814-8A977683F612}"/>
              </a:ext>
            </a:extLst>
          </p:cNvPr>
          <p:cNvSpPr>
            <a:spLocks xmlns:a="http://schemas.openxmlformats.org/drawingml/2006/main" noGrp="1"/>
          </p:cNvSpPr>
          <p:nvPr/>
        </p:nvSpPr>
        <p:spPr>
          <a:xfrm xmlns:a="http://schemas.openxmlformats.org/drawingml/2006/main">
            <a:off x="838200" y="481965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merchant location per cart</a:t>
            </a:r>
          </a:p>
        </p:txBody>
      </p:sp>
      <p:sp>
        <p:nvSpPr>
          <p:cNvPr id="7" name="metric-value-2">
            <a:extLst xmlns:a="http://schemas.openxmlformats.org/drawingml/2006/main">
              <a:ext uri="{FF2B5EF4-FFF2-40B4-BE49-F238E27FC236}">
                <a16:creationId xmlns:a16="http://schemas.microsoft.com/office/drawing/2014/main" id="{34A2351A-08FA-41EA-9E37-D15FDFEC6DD9}"/>
              </a:ext>
            </a:extLst>
          </p:cNvPr>
          <p:cNvSpPr>
            <a:spLocks xmlns:a="http://schemas.openxmlformats.org/drawingml/2006/main" noGrp="1"/>
          </p:cNvSpPr>
          <p:nvPr/>
        </p:nvSpPr>
        <p:spPr>
          <a:xfrm xmlns:a="http://schemas.openxmlformats.org/drawingml/2006/main">
            <a:off x="838200" y="54864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B64032"/>
                </a:solidFill>
                <a:latin typeface="Georgia"/>
                <a:ea typeface="Georgia"/>
                <a:cs typeface="Georgia"/>
              </a:defRPr>
            </a:pPr>
            <a:r>
              <a:rPr sz="4350" b="1">
                <a:solidFill>
                  <a:srgbClr val="B64032"/>
                </a:solidFill>
                <a:latin typeface="Georgia"/>
                <a:ea typeface="Georgia"/>
                <a:cs typeface="Georgia"/>
              </a:rPr>
              <a:t>S$133</a:t>
            </a:r>
          </a:p>
        </p:txBody>
      </p:sp>
      <p:sp>
        <p:nvSpPr>
          <p:cNvPr id="8" name="metric-label-2">
            <a:extLst xmlns:a="http://schemas.openxmlformats.org/drawingml/2006/main">
              <a:ext uri="{FF2B5EF4-FFF2-40B4-BE49-F238E27FC236}">
                <a16:creationId xmlns:a16="http://schemas.microsoft.com/office/drawing/2014/main" id="{E17DFFAD-5854-4414-BDBD-56E6D52F7CF6}"/>
              </a:ext>
            </a:extLst>
          </p:cNvPr>
          <p:cNvSpPr>
            <a:spLocks xmlns:a="http://schemas.openxmlformats.org/drawingml/2006/main" noGrp="1"/>
          </p:cNvSpPr>
          <p:nvPr/>
        </p:nvSpPr>
        <p:spPr>
          <a:xfrm xmlns:a="http://schemas.openxmlformats.org/drawingml/2006/main">
            <a:off x="838200" y="61722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top match in the demo</a:t>
            </a:r>
          </a:p>
        </p:txBody>
      </p:sp>
      <p:sp>
        <p:nvSpPr>
          <p:cNvPr id="9" name="Woven buyer view showing the mission and three complete carts-backplate">
            <a:extLst xmlns:a="http://schemas.openxmlformats.org/drawingml/2006/main">
              <a:ext uri="{FF2B5EF4-FFF2-40B4-BE49-F238E27FC236}">
                <a16:creationId xmlns:a16="http://schemas.microsoft.com/office/drawing/2014/main" id="{ABE8B1E6-CCF5-4ADE-BE71-0884CDDECEDA}"/>
              </a:ext>
            </a:extLst>
          </p:cNvPr>
          <p:cNvSpPr>
            <a:spLocks xmlns:a="http://schemas.openxmlformats.org/drawingml/2006/main" noGrp="1"/>
          </p:cNvSpPr>
          <p:nvPr/>
        </p:nvSpPr>
        <p:spPr>
          <a:xfrm xmlns:a="http://schemas.openxmlformats.org/drawingml/2006/main">
            <a:off x="4762500" y="238125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a3f835612ee409b"/>
          <a:stretch xmlns:a="http://schemas.openxmlformats.org/drawingml/2006/main"/>
        </p:blipFill>
        <p:spPr>
          <a:xfrm xmlns:a="http://schemas.openxmlformats.org/drawingml/2006/main" flipH="0" flipV="0">
            <a:off x="4859867" y="2476500"/>
            <a:ext cx="9330267" cy="5248275"/>
          </a:xfrm>
          <a:prstGeom xmlns:a="http://schemas.openxmlformats.org/drawingml/2006/main" prst="roundRect">
            <a:avLst/>
          </a:prstGeom>
        </p:spPr>
      </p:pic>
      <p:sp>
        <p:nvSpPr>
          <p:cNvPr id="11" name="footer-label-4">
            <a:extLst xmlns:a="http://schemas.openxmlformats.org/drawingml/2006/main">
              <a:ext uri="{FF2B5EF4-FFF2-40B4-BE49-F238E27FC236}">
                <a16:creationId xmlns:a16="http://schemas.microsoft.com/office/drawing/2014/main" id="{0BF00BD6-0EB2-48D5-B38D-D1AF7B5A15E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2" name="footer-number-4">
            <a:extLst xmlns:a="http://schemas.openxmlformats.org/drawingml/2006/main">
              <a:ext uri="{FF2B5EF4-FFF2-40B4-BE49-F238E27FC236}">
                <a16:creationId xmlns:a16="http://schemas.microsoft.com/office/drawing/2014/main" id="{3F952AB5-B91A-4BD1-8A1D-8B5E6278D833}"/>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04</a:t>
            </a:r>
          </a:p>
        </p:txBody>
      </p:sp>
    </p:spTree>
    <p:extLst>
      <p:ext uri="{BB962C8B-B14F-4D97-AF65-F5344CB8AC3E}">
        <p14:creationId xmlns:p14="http://schemas.microsoft.com/office/powerpoint/2010/main" val="51223351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a545504ff6c40b8"/>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6.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1" name="eyebrow-The live demo">
            <a:extLst xmlns:a="http://schemas.openxmlformats.org/drawingml/2006/main">
              <a:ext uri="{FF2B5EF4-FFF2-40B4-BE49-F238E27FC236}">
                <a16:creationId xmlns:a16="http://schemas.microsoft.com/office/drawing/2014/main" id="{46635EF8-3618-4994-81BA-2542F409376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LIVE DEMO</a:t>
            </a:r>
          </a:p>
        </p:txBody>
      </p:sp>
      <p:sp>
        <p:nvSpPr>
          <p:cNvPr id="2" name="title-The AI recommends. The user confirms the exact terms.">
            <a:extLst xmlns:a="http://schemas.openxmlformats.org/drawingml/2006/main">
              <a:ext uri="{FF2B5EF4-FFF2-40B4-BE49-F238E27FC236}">
                <a16:creationId xmlns:a16="http://schemas.microsoft.com/office/drawing/2014/main" id="{E6C7E214-CE49-432D-A6ED-84FB60003964}"/>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AI recommends. The user confirms the exact terms.</a:t>
            </a:r>
          </a:p>
        </p:txBody>
      </p:sp>
      <p:sp>
        <p:nvSpPr>
          <p:cNvPr id="3" name="boundary-statement">
            <a:extLst xmlns:a="http://schemas.openxmlformats.org/drawingml/2006/main">
              <a:ext uri="{FF2B5EF4-FFF2-40B4-BE49-F238E27FC236}">
                <a16:creationId xmlns:a16="http://schemas.microsoft.com/office/drawing/2014/main" id="{64039A6F-00FA-4C7A-8407-F1FA78BFDFA5}"/>
              </a:ext>
            </a:extLst>
          </p:cNvPr>
          <p:cNvSpPr>
            <a:spLocks xmlns:a="http://schemas.openxmlformats.org/drawingml/2006/main" noGrp="1"/>
          </p:cNvSpPr>
          <p:nvPr/>
        </p:nvSpPr>
        <p:spPr>
          <a:xfrm xmlns:a="http://schemas.openxmlformats.org/drawingml/2006/main">
            <a:off x="838200" y="2895600"/>
            <a:ext cx="41910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Recommendation is not</a:t>
            </a:r>
          </a:p>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authorization.</a:t>
            </a:r>
          </a:p>
        </p:txBody>
      </p:sp>
      <p:sp>
        <p:nvSpPr>
          <p:cNvPr id="4" name="simulated-label">
            <a:extLst xmlns:a="http://schemas.openxmlformats.org/drawingml/2006/main">
              <a:ext uri="{FF2B5EF4-FFF2-40B4-BE49-F238E27FC236}">
                <a16:creationId xmlns:a16="http://schemas.microsoft.com/office/drawing/2014/main" id="{906B7775-6C73-4936-919D-C949C0ED9DEE}"/>
              </a:ext>
            </a:extLst>
          </p:cNvPr>
          <p:cNvSpPr>
            <a:spLocks xmlns:a="http://schemas.openxmlformats.org/drawingml/2006/main" noGrp="1"/>
          </p:cNvSpPr>
          <p:nvPr/>
        </p:nvSpPr>
        <p:spPr>
          <a:xfrm xmlns:a="http://schemas.openxmlformats.org/drawingml/2006/main">
            <a:off x="838200" y="4724400"/>
            <a:ext cx="3143250" cy="514350"/>
          </a:xfrm>
          <a:prstGeom xmlns:a="http://schemas.openxmlformats.org/drawingml/2006/main" prst="roundRect">
            <a:avLst>
              <a:gd name="adj" fmla="val 50000"/>
            </a:avLst>
          </a:prstGeom>
          <a:solidFill xmlns:a="http://schemas.openxmlformats.org/drawingml/2006/main">
            <a:srgbClr val="1545E8"/>
          </a:solidFill>
          <a:ln xmlns:a="http://schemas.openxmlformats.org/drawingml/2006/main" w="0">
            <a:noFill/>
            <a:prstDash val="solid"/>
          </a:ln>
        </p:spPr>
      </p:sp>
      <p:sp>
        <p:nvSpPr>
          <p:cNvPr id="5" name="simulated-label-text">
            <a:extLst xmlns:a="http://schemas.openxmlformats.org/drawingml/2006/main">
              <a:ext uri="{FF2B5EF4-FFF2-40B4-BE49-F238E27FC236}">
                <a16:creationId xmlns:a16="http://schemas.microsoft.com/office/drawing/2014/main" id="{0DCF3A62-833F-4EDD-B0B4-4EEFB00BFC41}"/>
              </a:ext>
            </a:extLst>
          </p:cNvPr>
          <p:cNvSpPr>
            <a:spLocks xmlns:a="http://schemas.openxmlformats.org/drawingml/2006/main" noGrp="1"/>
          </p:cNvSpPr>
          <p:nvPr/>
        </p:nvSpPr>
        <p:spPr>
          <a:xfrm xmlns:a="http://schemas.openxmlformats.org/drawingml/2006/main">
            <a:off x="1028700" y="48768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75" b="1">
                <a:solidFill>
                  <a:srgbClr val="FFFFFF"/>
                </a:solidFill>
                <a:latin typeface="Menlo"/>
                <a:ea typeface="Menlo"/>
                <a:cs typeface="Menlo"/>
              </a:defRPr>
            </a:pPr>
            <a:r>
              <a:rPr sz="1275" b="1">
                <a:solidFill>
                  <a:srgbClr val="FFFFFF"/>
                </a:solidFill>
                <a:latin typeface="Menlo"/>
                <a:ea typeface="Menlo"/>
                <a:cs typeface="Menlo"/>
              </a:rPr>
              <a:t>VISA RAIL · SIMULATED</a:t>
            </a:r>
          </a:p>
        </p:txBody>
      </p:sp>
      <p:sp>
        <p:nvSpPr>
          <p:cNvPr id="6" name="exact-terms">
            <a:extLst xmlns:a="http://schemas.openxmlformats.org/drawingml/2006/main">
              <a:ext uri="{FF2B5EF4-FFF2-40B4-BE49-F238E27FC236}">
                <a16:creationId xmlns:a16="http://schemas.microsoft.com/office/drawing/2014/main" id="{24D4E798-F7E3-4205-9A3C-908586EEA799}"/>
              </a:ext>
            </a:extLst>
          </p:cNvPr>
          <p:cNvSpPr>
            <a:spLocks xmlns:a="http://schemas.openxmlformats.org/drawingml/2006/main" noGrp="1"/>
          </p:cNvSpPr>
          <p:nvPr/>
        </p:nvSpPr>
        <p:spPr>
          <a:xfrm xmlns:a="http://schemas.openxmlformats.org/drawingml/2006/main">
            <a:off x="838200" y="5638800"/>
            <a:ext cx="3810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Merchant · cart version · line items · S$133 total · 10-minute expiry</a:t>
            </a:r>
          </a:p>
        </p:txBody>
      </p:sp>
      <p:sp>
        <p:nvSpPr>
          <p:cNvPr id="7" name="Woven checkout mandate showing exact terms and explicit confirmation-backplate">
            <a:extLst xmlns:a="http://schemas.openxmlformats.org/drawingml/2006/main">
              <a:ext uri="{FF2B5EF4-FFF2-40B4-BE49-F238E27FC236}">
                <a16:creationId xmlns:a16="http://schemas.microsoft.com/office/drawing/2014/main" id="{8ADD3CA5-C1ED-4601-B88F-C6932A9AEDCB}"/>
              </a:ext>
            </a:extLst>
          </p:cNvPr>
          <p:cNvSpPr>
            <a:spLocks xmlns:a="http://schemas.openxmlformats.org/drawingml/2006/main" noGrp="1"/>
          </p:cNvSpPr>
          <p:nvPr/>
        </p:nvSpPr>
        <p:spPr>
          <a:xfrm xmlns:a="http://schemas.openxmlformats.org/drawingml/2006/main">
            <a:off x="5095875" y="2362200"/>
            <a:ext cx="9191625" cy="5257800"/>
          </a:xfrm>
          <a:prstGeom xmlns:a="http://schemas.openxmlformats.org/drawingml/2006/main" prst="roundRect">
            <a:avLst>
              <a:gd name="adj" fmla="val 4348"/>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3b74459dc7b44eb"/>
          <a:stretch xmlns:a="http://schemas.openxmlformats.org/drawingml/2006/main"/>
        </p:blipFill>
        <p:spPr>
          <a:xfrm xmlns:a="http://schemas.openxmlformats.org/drawingml/2006/main" flipH="0" flipV="0">
            <a:off x="5191125" y="2459534"/>
            <a:ext cx="9001125" cy="5063133"/>
          </a:xfrm>
          <a:prstGeom xmlns:a="http://schemas.openxmlformats.org/drawingml/2006/main" prst="roundRect">
            <a:avLst/>
          </a:prstGeom>
        </p:spPr>
      </p:pic>
      <p:sp>
        <p:nvSpPr>
          <p:cNvPr id="9" name="footer-label-6">
            <a:extLst xmlns:a="http://schemas.openxmlformats.org/drawingml/2006/main">
              <a:ext uri="{FF2B5EF4-FFF2-40B4-BE49-F238E27FC236}">
                <a16:creationId xmlns:a16="http://schemas.microsoft.com/office/drawing/2014/main" id="{180E82C5-4959-4CB6-9B7C-CA48FE5A4C5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0" name="footer-number-6">
            <a:extLst xmlns:a="http://schemas.openxmlformats.org/drawingml/2006/main">
              <a:ext uri="{FF2B5EF4-FFF2-40B4-BE49-F238E27FC236}">
                <a16:creationId xmlns:a16="http://schemas.microsoft.com/office/drawing/2014/main" id="{573541B3-83F3-4ADA-A401-90AC23E83D4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06</a:t>
            </a:r>
          </a:p>
        </p:txBody>
      </p:sp>
    </p:spTree>
    <p:extLst>
      <p:ext uri="{BB962C8B-B14F-4D97-AF65-F5344CB8AC3E}">
        <p14:creationId xmlns:p14="http://schemas.microsoft.com/office/powerpoint/2010/main" val="2091917452"/>
      </p:ext>
    </p:extLst>
  </p:cSld>
</p:sld>
</file>

<file path=ppt/slides/slide7.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rust you can test">
            <a:extLst xmlns:a="http://schemas.openxmlformats.org/drawingml/2006/main">
              <a:ext uri="{FF2B5EF4-FFF2-40B4-BE49-F238E27FC236}">
                <a16:creationId xmlns:a16="http://schemas.microsoft.com/office/drawing/2014/main" id="{3F058616-CF95-435A-9AE1-BD44D8B01497}"/>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TRUST YOU CAN TEST</a:t>
            </a:r>
          </a:p>
        </p:txBody>
      </p:sp>
      <p:sp>
        <p:nvSpPr>
          <p:cNvPr id="2" name="title-Autonomy stops where money starts.">
            <a:extLst xmlns:a="http://schemas.openxmlformats.org/drawingml/2006/main">
              <a:ext uri="{FF2B5EF4-FFF2-40B4-BE49-F238E27FC236}">
                <a16:creationId xmlns:a16="http://schemas.microsoft.com/office/drawing/2014/main" id="{DE43C5D3-4F36-4494-B929-E5ECC06287F1}"/>
              </a:ext>
            </a:extLst>
          </p:cNvPr>
          <p:cNvSpPr>
            <a:spLocks xmlns:a="http://schemas.openxmlformats.org/drawingml/2006/main" noGrp="1"/>
          </p:cNvSpPr>
          <p:nvPr/>
        </p:nvSpPr>
        <p:spPr>
          <a:xfrm xmlns:a="http://schemas.openxmlformats.org/drawingml/2006/main">
            <a:off x="838200" y="990600"/>
            <a:ext cx="1276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Autonomy stops where money starts.</a:t>
            </a:r>
          </a:p>
        </p:txBody>
      </p:sp>
      <p:sp>
        <p:nvSpPr>
          <p:cNvPr id="3" name="trust-label-0">
            <a:extLst xmlns:a="http://schemas.openxmlformats.org/drawingml/2006/main">
              <a:ext uri="{FF2B5EF4-FFF2-40B4-BE49-F238E27FC236}">
                <a16:creationId xmlns:a16="http://schemas.microsoft.com/office/drawing/2014/main" id="{D041F315-B888-4E6D-A7D1-CDA440438728}"/>
              </a:ext>
            </a:extLst>
          </p:cNvPr>
          <p:cNvSpPr>
            <a:spLocks xmlns:a="http://schemas.openxmlformats.org/drawingml/2006/main" noGrp="1"/>
          </p:cNvSpPr>
          <p:nvPr/>
        </p:nvSpPr>
        <p:spPr>
          <a:xfrm xmlns:a="http://schemas.openxmlformats.org/drawingml/2006/main">
            <a:off x="838200" y="26479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PRICE CHANGES</a:t>
            </a:r>
          </a:p>
        </p:txBody>
      </p:sp>
      <p:sp>
        <p:nvSpPr>
          <p:cNvPr id="4" name="trust-result-0">
            <a:extLst xmlns:a="http://schemas.openxmlformats.org/drawingml/2006/main">
              <a:ext uri="{FF2B5EF4-FFF2-40B4-BE49-F238E27FC236}">
                <a16:creationId xmlns:a16="http://schemas.microsoft.com/office/drawing/2014/main" id="{9DB51D62-485A-4145-954A-9CB3FA9EC1C1}"/>
              </a:ext>
            </a:extLst>
          </p:cNvPr>
          <p:cNvSpPr>
            <a:spLocks xmlns:a="http://schemas.openxmlformats.org/drawingml/2006/main" noGrp="1"/>
          </p:cNvSpPr>
          <p:nvPr/>
        </p:nvSpPr>
        <p:spPr>
          <a:xfrm xmlns:a="http://schemas.openxmlformats.org/drawingml/2006/main">
            <a:off x="838200" y="29432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Old preview is rejected</a:t>
            </a:r>
          </a:p>
        </p:txBody>
      </p:sp>
      <p:sp>
        <p:nvSpPr>
          <p:cNvPr id="5" name="trust-label-1">
            <a:extLst xmlns:a="http://schemas.openxmlformats.org/drawingml/2006/main">
              <a:ext uri="{FF2B5EF4-FFF2-40B4-BE49-F238E27FC236}">
                <a16:creationId xmlns:a16="http://schemas.microsoft.com/office/drawing/2014/main" id="{6273882A-17B1-47E9-B063-9AE6CDF7B15B}"/>
              </a:ext>
            </a:extLst>
          </p:cNvPr>
          <p:cNvSpPr>
            <a:spLocks xmlns:a="http://schemas.openxmlformats.org/drawingml/2006/main" noGrp="1"/>
          </p:cNvSpPr>
          <p:nvPr/>
        </p:nvSpPr>
        <p:spPr>
          <a:xfrm xmlns:a="http://schemas.openxmlformats.org/drawingml/2006/main">
            <a:off x="838200" y="36766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STOCKOUT</a:t>
            </a:r>
          </a:p>
        </p:txBody>
      </p:sp>
      <p:sp>
        <p:nvSpPr>
          <p:cNvPr id="6" name="trust-result-1">
            <a:extLst xmlns:a="http://schemas.openxmlformats.org/drawingml/2006/main">
              <a:ext uri="{FF2B5EF4-FFF2-40B4-BE49-F238E27FC236}">
                <a16:creationId xmlns:a16="http://schemas.microsoft.com/office/drawing/2014/main" id="{F162B87C-715A-459A-B00C-31141FB34338}"/>
              </a:ext>
            </a:extLst>
          </p:cNvPr>
          <p:cNvSpPr>
            <a:spLocks xmlns:a="http://schemas.openxmlformats.org/drawingml/2006/main" noGrp="1"/>
          </p:cNvSpPr>
          <p:nvPr/>
        </p:nvSpPr>
        <p:spPr>
          <a:xfrm xmlns:a="http://schemas.openxmlformats.org/drawingml/2006/main">
            <a:off x="838200" y="39719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No impossible order is created</a:t>
            </a:r>
          </a:p>
        </p:txBody>
      </p:sp>
      <p:sp>
        <p:nvSpPr>
          <p:cNvPr id="7" name="trust-label-2">
            <a:extLst xmlns:a="http://schemas.openxmlformats.org/drawingml/2006/main">
              <a:ext uri="{FF2B5EF4-FFF2-40B4-BE49-F238E27FC236}">
                <a16:creationId xmlns:a16="http://schemas.microsoft.com/office/drawing/2014/main" id="{C4B81856-03B7-4C6F-8BE0-20567A559FA6}"/>
              </a:ext>
            </a:extLst>
          </p:cNvPr>
          <p:cNvSpPr>
            <a:spLocks xmlns:a="http://schemas.openxmlformats.org/drawingml/2006/main" noGrp="1"/>
          </p:cNvSpPr>
          <p:nvPr/>
        </p:nvSpPr>
        <p:spPr>
          <a:xfrm xmlns:a="http://schemas.openxmlformats.org/drawingml/2006/main">
            <a:off x="838200" y="47053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AUTH DECLINE</a:t>
            </a:r>
          </a:p>
        </p:txBody>
      </p:sp>
      <p:sp>
        <p:nvSpPr>
          <p:cNvPr id="8" name="trust-result-2">
            <a:extLst xmlns:a="http://schemas.openxmlformats.org/drawingml/2006/main">
              <a:ext uri="{FF2B5EF4-FFF2-40B4-BE49-F238E27FC236}">
                <a16:creationId xmlns:a16="http://schemas.microsoft.com/office/drawing/2014/main" id="{4710E187-A73B-458B-9E26-75865D8C4963}"/>
              </a:ext>
            </a:extLst>
          </p:cNvPr>
          <p:cNvSpPr>
            <a:spLocks xmlns:a="http://schemas.openxmlformats.org/drawingml/2006/main" noGrp="1"/>
          </p:cNvSpPr>
          <p:nvPr/>
        </p:nvSpPr>
        <p:spPr>
          <a:xfrm xmlns:a="http://schemas.openxmlformats.org/drawingml/2006/main">
            <a:off x="838200" y="50006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No confirmed merchant order</a:t>
            </a:r>
          </a:p>
        </p:txBody>
      </p:sp>
      <p:sp>
        <p:nvSpPr>
          <p:cNvPr id="9" name="trust-label-3">
            <a:extLst xmlns:a="http://schemas.openxmlformats.org/drawingml/2006/main">
              <a:ext uri="{FF2B5EF4-FFF2-40B4-BE49-F238E27FC236}">
                <a16:creationId xmlns:a16="http://schemas.microsoft.com/office/drawing/2014/main" id="{8447503C-1BBD-48B3-8538-611E1FF67E77}"/>
              </a:ext>
            </a:extLst>
          </p:cNvPr>
          <p:cNvSpPr>
            <a:spLocks xmlns:a="http://schemas.openxmlformats.org/drawingml/2006/main" noGrp="1"/>
          </p:cNvSpPr>
          <p:nvPr/>
        </p:nvSpPr>
        <p:spPr>
          <a:xfrm xmlns:a="http://schemas.openxmlformats.org/drawingml/2006/main">
            <a:off x="838200" y="5734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ORDER FAILURE</a:t>
            </a:r>
          </a:p>
        </p:txBody>
      </p:sp>
      <p:sp>
        <p:nvSpPr>
          <p:cNvPr id="10" name="trust-result-3">
            <a:extLst xmlns:a="http://schemas.openxmlformats.org/drawingml/2006/main">
              <a:ext uri="{FF2B5EF4-FFF2-40B4-BE49-F238E27FC236}">
                <a16:creationId xmlns:a16="http://schemas.microsoft.com/office/drawing/2014/main" id="{8AB19497-155D-432D-8278-3D6F1A1EE437}"/>
              </a:ext>
            </a:extLst>
          </p:cNvPr>
          <p:cNvSpPr>
            <a:spLocks xmlns:a="http://schemas.openxmlformats.org/drawingml/2006/main" noGrp="1"/>
          </p:cNvSpPr>
          <p:nvPr/>
        </p:nvSpPr>
        <p:spPr>
          <a:xfrm xmlns:a="http://schemas.openxmlformats.org/drawingml/2006/main">
            <a:off x="838200" y="60293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Authorization enters reversal</a:t>
            </a:r>
          </a:p>
        </p:txBody>
      </p:sp>
      <p:sp>
        <p:nvSpPr>
          <p:cNvPr id="11" name="Woven merchant operations desk with inventory and failure scenarios-backplate">
            <a:extLst xmlns:a="http://schemas.openxmlformats.org/drawingml/2006/main">
              <a:ext uri="{FF2B5EF4-FFF2-40B4-BE49-F238E27FC236}">
                <a16:creationId xmlns:a16="http://schemas.microsoft.com/office/drawing/2014/main" id="{EF59AED9-65B8-4527-8126-6B9C87CB4BB9}"/>
              </a:ext>
            </a:extLst>
          </p:cNvPr>
          <p:cNvSpPr>
            <a:spLocks xmlns:a="http://schemas.openxmlformats.org/drawingml/2006/main" noGrp="1"/>
          </p:cNvSpPr>
          <p:nvPr/>
        </p:nvSpPr>
        <p:spPr>
          <a:xfrm xmlns:a="http://schemas.openxmlformats.org/drawingml/2006/main">
            <a:off x="4762500" y="224790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fa4a6fe333c46ff"/>
          <a:stretch xmlns:a="http://schemas.openxmlformats.org/drawingml/2006/main"/>
        </p:blipFill>
        <p:spPr>
          <a:xfrm xmlns:a="http://schemas.openxmlformats.org/drawingml/2006/main" flipH="0" flipV="0">
            <a:off x="4859867" y="2343150"/>
            <a:ext cx="9330267" cy="5248275"/>
          </a:xfrm>
          <a:prstGeom xmlns:a="http://schemas.openxmlformats.org/drawingml/2006/main" prst="roundRect">
            <a:avLst/>
          </a:prstGeom>
        </p:spPr>
      </p:pic>
      <p:sp>
        <p:nvSpPr>
          <p:cNvPr id="13" name="trust-footnote">
            <a:extLst xmlns:a="http://schemas.openxmlformats.org/drawingml/2006/main">
              <a:ext uri="{FF2B5EF4-FFF2-40B4-BE49-F238E27FC236}">
                <a16:creationId xmlns:a16="http://schemas.microsoft.com/office/drawing/2014/main" id="{DCBEF5DD-5567-4EF5-B8A2-D085501EF181}"/>
              </a:ext>
            </a:extLst>
          </p:cNvPr>
          <p:cNvSpPr>
            <a:spLocks xmlns:a="http://schemas.openxmlformats.org/drawingml/2006/main" noGrp="1"/>
          </p:cNvSpPr>
          <p:nvPr/>
        </p:nvSpPr>
        <p:spPr>
          <a:xfrm xmlns:a="http://schemas.openxmlformats.org/drawingml/2006/main">
            <a:off x="838200" y="708660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NO CARD DATA · SEEDED INVENTORY</a:t>
            </a:r>
          </a:p>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SIMULATED AUTHORIZATION · AUDIT TRAIL</a:t>
            </a:r>
          </a:p>
        </p:txBody>
      </p:sp>
      <p:sp>
        <p:nvSpPr>
          <p:cNvPr id="14" name="footer-label-7">
            <a:extLst xmlns:a="http://schemas.openxmlformats.org/drawingml/2006/main">
              <a:ext uri="{FF2B5EF4-FFF2-40B4-BE49-F238E27FC236}">
                <a16:creationId xmlns:a16="http://schemas.microsoft.com/office/drawing/2014/main" id="{D1CEC107-8456-466A-976F-F8A491F8F0D9}"/>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7">
            <a:extLst xmlns:a="http://schemas.openxmlformats.org/drawingml/2006/main">
              <a:ext uri="{FF2B5EF4-FFF2-40B4-BE49-F238E27FC236}">
                <a16:creationId xmlns:a16="http://schemas.microsoft.com/office/drawing/2014/main" id="{C71BD092-E5FA-4867-9F30-E72953CEA489}"/>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07</a:t>
            </a:r>
          </a:p>
        </p:txBody>
      </p:sp>
    </p:spTree>
    <p:extLst>
      <p:ext uri="{BB962C8B-B14F-4D97-AF65-F5344CB8AC3E}">
        <p14:creationId xmlns:p14="http://schemas.microsoft.com/office/powerpoint/2010/main" val="1014882248"/>
      </p:ext>
    </p:extLst>
  </p:cSld>
</p:sld>
</file>

<file path=ppt/slides/slide8.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MERCHANT ACCESS AND SCALE</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Merchants connect commerce once. Woven handles the conversation.</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Expose the catalogue</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Prototype: validated CSV updates for known offers. Next: merchant catalogue and stock APIs.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Apply category rules</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Today: charging-kit compatibility. Next: category-specific constraints and substitutions.</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Keep checkout exact</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The same expiring mandate, confirmation and audit boundary applies across merchants.</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Start where compatibility is hardest: electronics. Reuse the trust model for every mission-bound purchase.</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08</a:t>
            </a:r>
          </a:p>
        </p:txBody>
      </p:sp>
    </p:spTree>
    <p:extLst>
      <p:ext uri="{BB962C8B-B14F-4D97-AF65-F5344CB8AC3E}">
        <p14:creationId xmlns:p14="http://schemas.microsoft.com/office/powerpoint/2010/main" val="1578701116"/>
      </p:ext>
    </p:extLst>
  </p:cSld>
</p:sld>
</file>

<file path=ppt/slides/slide9.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THE TAKEAWAY</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Search finds products.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Woven completes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the mission.</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Everything works together.</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ChatGPT understands.</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Woven assembles.</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The user authorizes.</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63ab80ad15a43e0"/>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SIMULATED VISA RESULT · NO LIVE CHARGE</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09</a:t>
            </a:r>
          </a:p>
        </p:txBody>
      </p:sp>
    </p:spTree>
    <p:extLst>
      <p:ext uri="{BB962C8B-B14F-4D97-AF65-F5344CB8AC3E}">
        <p14:creationId xmlns:p14="http://schemas.microsoft.com/office/powerpoint/2010/main" val="10606895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2026-08-29T16:42:41.7740000Z</dcterms:created>
  <dcterms:modified xsi:type="dcterms:W3CDTF">2026-08-29T16:42:41.7740000Z</dcterms:modified>
</coreProperties>
</file>
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64c09601b194193" /><Relationship Type="http://schemas.openxmlformats.org/officeDocument/2006/relationships/extended-properties" Target="/docProps/app.xml" Id="R5e1d707c5c4745d4" /><Relationship Type="http://schemas.openxmlformats.org/officeDocument/2006/relationships/officeDocument" Target="/ppt/presentation.xml" Id="Rccaf0956d3ee49d5" /></Relationships>
</file>

<file path=ppt/presentation.xml><?xml version="1.0" encoding="utf-8"?>
<p:presentation xmlns:p="http://schemas.openxmlformats.org/presentationml/2006/main">
  <p:sldMasterIdLst>
    <p:sldMasterId xmlns:r="http://schemas.openxmlformats.org/officeDocument/2006/relationships" id="2147483648" r:id="R68a0510b5c074beb"/>
  </p:sldMasterIdLst>
  <p:notesMasterIdLst>
    <p:notesMasterId xmlns:r="http://schemas.openxmlformats.org/officeDocument/2006/relationships" r:id="Rf9928dd6c9a04bd2"/>
  </p:notesMasterIdLst>
  <p:sldIdLst>
    <p:sldId xmlns:r="http://schemas.openxmlformats.org/officeDocument/2006/relationships" id="256" r:id="R0decddf6a35947c4"/>
    <p:sldId xmlns:r="http://schemas.openxmlformats.org/officeDocument/2006/relationships" id="257" r:id="Rbb4c27554b7f424e"/>
    <p:sldId xmlns:r="http://schemas.openxmlformats.org/officeDocument/2006/relationships" id="258" r:id="R1cebdef5fc064b88"/>
    <p:sldId xmlns:r="http://schemas.openxmlformats.org/officeDocument/2006/relationships" id="259" r:id="R8ff12b12200d4eb7"/>
    <p:sldId xmlns:r="http://schemas.openxmlformats.org/officeDocument/2006/relationships" id="260" r:id="R054cc70841b14097"/>
    <p:sldId xmlns:r="http://schemas.openxmlformats.org/officeDocument/2006/relationships" id="261" r:id="Rabbf44ddb3734ac5"/>
    <p:sldId xmlns:r="http://schemas.openxmlformats.org/officeDocument/2006/relationships" id="262" r:id="R04c0a818d091424b"/>
    <p:sldId xmlns:r="http://schemas.openxmlformats.org/officeDocument/2006/relationships" id="263" r:id="R91f342426f8e4a28"/>
    <p:sldId xmlns:r="http://schemas.openxmlformats.org/officeDocument/2006/relationships" id="264" r:id="R4a1e1fa7c16e4f7a"/>
    <p:sldId xmlns:r="http://schemas.openxmlformats.org/officeDocument/2006/relationships" id="265" r:id="Rccf0164c366e467a"/>
    <p:sldId xmlns:r="http://schemas.openxmlformats.org/officeDocument/2006/relationships" id="266" r:id="R8afa91bf4bb64a53"/>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1da53cf9851422e" /><Relationship Type="http://schemas.openxmlformats.org/officeDocument/2006/relationships/slideMaster" Target="/ppt/slideMasters/slideMaster1.xml" Id="R68a0510b5c074beb" /><Relationship Type="http://schemas.openxmlformats.org/officeDocument/2006/relationships/notesMaster" Target="/ppt/notesMasters/notesMaster1.xml" Id="Rf9928dd6c9a04bd2" /><Relationship Type="http://schemas.openxmlformats.org/officeDocument/2006/relationships/presProps" Target="/ppt/presProps.xml" Id="Re5f9570a91e749a2" /><Relationship Type="http://schemas.openxmlformats.org/officeDocument/2006/relationships/tableStyles" Target="/ppt/tableStyles.xml" Id="Re436b7aa05864672" /><Relationship Type="http://schemas.openxmlformats.org/officeDocument/2006/relationships/slide" Target="/ppt/slides/slide1.xml" Id="R0decddf6a35947c4" /><Relationship Type="http://schemas.openxmlformats.org/officeDocument/2006/relationships/slide" Target="/ppt/slides/slide2.xml" Id="Rbb4c27554b7f424e" /><Relationship Type="http://schemas.openxmlformats.org/officeDocument/2006/relationships/slide" Target="/ppt/slides/slide3.xml" Id="R1cebdef5fc064b88" /><Relationship Type="http://schemas.openxmlformats.org/officeDocument/2006/relationships/slide" Target="/ppt/slides/slide4.xml" Id="R8ff12b12200d4eb7" /><Relationship Type="http://schemas.openxmlformats.org/officeDocument/2006/relationships/slide" Target="/ppt/slides/slide5.xml" Id="R054cc70841b14097" /><Relationship Type="http://schemas.openxmlformats.org/officeDocument/2006/relationships/slide" Target="/ppt/slides/slide6.xml" Id="Rabbf44ddb3734ac5" /><Relationship Type="http://schemas.openxmlformats.org/officeDocument/2006/relationships/slide" Target="/ppt/slides/slide7.xml" Id="R04c0a818d091424b" /><Relationship Type="http://schemas.openxmlformats.org/officeDocument/2006/relationships/slide" Target="/ppt/slides/slide8.xml" Id="R91f342426f8e4a28" /><Relationship Type="http://schemas.openxmlformats.org/officeDocument/2006/relationships/slide" Target="/ppt/slides/slide9.xml" Id="R4a1e1fa7c16e4f7a" /><Relationship Type="http://schemas.openxmlformats.org/officeDocument/2006/relationships/slide" Target="/ppt/slides/slide10.xml" Id="Rccf0164c366e467a" /><Relationship Type="http://schemas.openxmlformats.org/officeDocument/2006/relationships/slide" Target="/ppt/slides/slide11.xml" Id="R8afa91bf4bb64a5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0f924d8be042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ac04902fea947c1" /><Relationship Type="http://schemas.openxmlformats.org/officeDocument/2006/relationships/notesMaster" Target="/ppt/notesMasters/notesMaster1.xml" Id="R010ae48d401c434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ebf73133ea549f7" /><Relationship Type="http://schemas.openxmlformats.org/officeDocument/2006/relationships/notesMaster" Target="/ppt/notesMasters/notesMaster1.xml" Id="R1563a38ee70648a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0fac77548c64d66" /><Relationship Type="http://schemas.openxmlformats.org/officeDocument/2006/relationships/notesMaster" Target="/ppt/notesMasters/notesMaster1.xml" Id="R093a02faede94ce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188fa6d7774158" /><Relationship Type="http://schemas.openxmlformats.org/officeDocument/2006/relationships/notesMaster" Target="/ppt/notesMasters/notesMaster1.xml" Id="R846e5df8a98e4a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4762594f49341b2" /><Relationship Type="http://schemas.openxmlformats.org/officeDocument/2006/relationships/notesMaster" Target="/ppt/notesMasters/notesMaster1.xml" Id="R5facbc0187b14b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cac65a8690dd4253" /><Relationship Type="http://schemas.openxmlformats.org/officeDocument/2006/relationships/notesMaster" Target="/ppt/notesMasters/notesMaster1.xml" Id="R40a063e9671142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5cb0b6f8cfe84922" /><Relationship Type="http://schemas.openxmlformats.org/officeDocument/2006/relationships/notesMaster" Target="/ppt/notesMasters/notesMaster1.xml" Id="Ra1b774aaa47a41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e4c19d42ef51429d" /><Relationship Type="http://schemas.openxmlformats.org/officeDocument/2006/relationships/notesMaster" Target="/ppt/notesMasters/notesMaster1.xml" Id="R4af3144898e54a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80bf7839de34392" /><Relationship Type="http://schemas.openxmlformats.org/officeDocument/2006/relationships/notesMaster" Target="/ppt/notesMasters/notesMaster1.xml" Id="R66de8ccb66f24c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5ee3fb13164409" /><Relationship Type="http://schemas.openxmlformats.org/officeDocument/2006/relationships/notesMaster" Target="/ppt/notesMasters/notesMaster1.xml" Id="R706e2a6a4d39477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48cf15f7b8e445f" /><Relationship Type="http://schemas.openxmlformats.org/officeDocument/2006/relationships/notesMaster" Target="/ppt/notesMasters/notesMaster1.xml" Id="Rfa2ff3de79b0437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core idea: shopping should start and finish in the conversation where the need was expressed. Woven turns one request into a complete cart, then keeps the final purchase visibly human.</a:t>
            </a:r>
          </a:p>
          <a:p xmlns:a="http://schemas.openxmlformats.org/drawingml/2006/main">
            <a:r>
              <a:t/>
            </a:r>
          </a:p>
          <a:p xmlns:a="http://schemas.openxmlformats.org/drawingml/2006/main">
            <a:r>
              <a:t>[Sources]</a:t>
            </a:r>
          </a:p>
          <a:p xmlns:a="http://schemas.openxmlformats.org/drawingml/2006/main">
            <a:r>
              <a:t>- SCRIPT.md — Opening</a:t>
            </a:r>
          </a:p>
          <a:p xmlns:a="http://schemas.openxmlformats.org/drawingml/2006/main">
            <a:r>
              <a:t>- docs/assets/screenshots/buyer-overview.png</a:t>
            </a:r>
          </a:p>
          <a:p xmlns:a="http://schemas.openxmlformats.org/drawingml/2006/main">
            <a:r>
              <a:t>- docs/BRAND_GUIDE.md — Product voice and visual system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Search can discover products, but the buyer still has to compare tabs, verify compatibility, reconstruct a single-store cart, and re-enter the decision at checkout. The friction is not finding an item; it is completing the mission.</a:t>
            </a:r>
          </a:p>
          <a:p xmlns:a="http://schemas.openxmlformats.org/drawingml/2006/main">
            <a:r>
              <a:t/>
            </a:r>
          </a:p>
          <a:p xmlns:a="http://schemas.openxmlformats.org/drawingml/2006/main">
            <a:r>
              <a:t>[Sources]</a:t>
            </a:r>
          </a:p>
          <a:p xmlns:a="http://schemas.openxmlformats.org/drawingml/2006/main">
            <a:r>
              <a:t>- SCRIPT.md — The problem</a:t>
            </a:r>
          </a:p>
          <a:p xmlns:a="http://schemas.openxmlformats.org/drawingml/2006/main">
            <a:r>
              <a:t>- docs/PRD.md — Primary persona and canonical 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deliberately cart-level: one merchant and pickup point, four compatible components, S$133 total, and pickup today. Every item works with the others; the buyer does not have to rebuild the answer.</a:t>
            </a:r>
          </a:p>
          <a:p xmlns:a="http://schemas.openxmlformats.org/drawingml/2006/main">
            <a:r>
              <a:t/>
            </a:r>
          </a:p>
          <a:p xmlns:a="http://schemas.openxmlformats.org/drawingml/2006/main">
            <a:r>
              <a:t>[Sources]</a:t>
            </a:r>
          </a:p>
          <a:p xmlns:a="http://schemas.openxmlformats.org/drawingml/2006/main">
            <a:r>
              <a:t>- SCRIPT.md — Product reveal</a:t>
            </a:r>
          </a:p>
          <a:p xmlns:a="http://schemas.openxmlformats.org/drawingml/2006/main">
            <a:r>
              <a:t>- docs/assets/screenshots/buyer-overview.png</a:t>
            </a:r>
          </a:p>
          <a:p xmlns:a="http://schemas.openxmlformats.org/drawingml/2006/main">
            <a:r>
              <a:t>- docs/PRD.md — Cart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working app now. Use the canonical Tokyo request. Show the three complete carts, then open ByteRoute and point out the charger, cables, destination adapter, one pickup location, seeded demo stock, and S$133 total. Do not explain the ranking algorithm unless asked.</a:t>
            </a:r>
          </a:p>
          <a:p xmlns:a="http://schemas.openxmlformats.org/drawingml/2006/main">
            <a:r>
              <a:t/>
            </a:r>
          </a:p>
          <a:p xmlns:a="http://schemas.openxmlformats.org/drawingml/2006/main">
            <a:r>
              <a:t>[Sources]</a:t>
            </a:r>
          </a:p>
          <a:p xmlns:a="http://schemas.openxmlformats.org/drawingml/2006/main">
            <a:r>
              <a:t>- SCRIPT.md — Live demo, working checkout block</a:t>
            </a:r>
          </a:p>
          <a:p xmlns:a="http://schemas.openxmlformats.org/drawingml/2006/main">
            <a:r>
              <a:t>- docs/HANDOVER.md — Canonical demo path</a:t>
            </a:r>
          </a:p>
          <a:p xmlns:a="http://schemas.openxmlformats.org/drawingml/2006/main">
            <a:r>
              <a:t>- docs/PRD.md — Canonical story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the working checkout path only: preview the exact terms, show merchant, items, pickup, total and expiry, then use one direct human confirmation. The returned authorization is simulated. Identity verification is the next server-enforced integration and is not present in the live build. Never present a static identity screen as a working check.</a:t>
            </a:r>
          </a:p>
          <a:p xmlns:a="http://schemas.openxmlformats.org/drawingml/2006/main">
            <a:r>
              <a:t/>
            </a:r>
          </a:p>
          <a:p xmlns:a="http://schemas.openxmlformats.org/drawingml/2006/main">
            <a:r>
              <a:t>[Sources]</a:t>
            </a:r>
          </a:p>
          <a:p xmlns:a="http://schemas.openxmlformats.org/drawingml/2006/main">
            <a:r>
              <a:t>- SCRIPT.md — Working checkout block and target identity block</a:t>
            </a:r>
          </a:p>
          <a:p xmlns:a="http://schemas.openxmlformats.org/drawingml/2006/main">
            <a:r>
              <a:t>- docs/architecture.md — Confirmation boundary and mandate binding</a:t>
            </a:r>
          </a:p>
          <a:p xmlns:a="http://schemas.openxmlformats.org/drawingml/2006/main">
            <a:r>
              <a:t>- docs/PRD.md — Truth and safety constraints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Switch to the merchant desk. Show inventory and price edits, confirmed orders, the audit trail, and the decline and reversal demo scenarios. Clarify that inventory is seeded and authorization is simulated.</a:t>
            </a:r>
          </a:p>
          <a:p xmlns:a="http://schemas.openxmlformats.org/drawingml/2006/main">
            <a:r>
              <a:t/>
            </a:r>
          </a:p>
          <a:p xmlns:a="http://schemas.openxmlformats.org/drawingml/2006/main">
            <a:r>
              <a:t>[Sources]</a:t>
            </a:r>
          </a:p>
          <a:p xmlns:a="http://schemas.openxmlformats.org/drawingml/2006/main">
            <a:r>
              <a:t>- SCRIPT.md — Merchant operations</a:t>
            </a:r>
          </a:p>
          <a:p xmlns:a="http://schemas.openxmlformats.org/drawingml/2006/main">
            <a:r>
              <a:t>- docs/assets/screenshots/merchant-dashboard.png</a:t>
            </a:r>
          </a:p>
          <a:p xmlns:a="http://schemas.openxmlformats.org/drawingml/2006/main">
            <a:r>
              <a:t>- docs/architecture.md — Merchant state and failure paths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product thesis: the checkout belongs where the request begins. ChatGPT understands the mission, Woven builds the complete cart, and the user controls authorization. Ask once. Review once. Confirm once.</a:t>
            </a:r>
          </a:p>
          <a:p xmlns:a="http://schemas.openxmlformats.org/drawingml/2006/main">
            <a:r>
              <a:t/>
            </a:r>
          </a:p>
          <a:p xmlns:a="http://schemas.openxmlformats.org/drawingml/2006/main">
            <a:r>
              <a:t>[Sources]</a:t>
            </a:r>
          </a:p>
          <a:p xmlns:a="http://schemas.openxmlformats.org/drawingml/2006/main">
            <a:r>
              <a:t>- SCRIPT.md — Closing</a:t>
            </a:r>
          </a:p>
          <a:p xmlns:a="http://schemas.openxmlformats.org/drawingml/2006/main">
            <a:r>
              <a:t>- docs/assets/screenshots/order-success.png</a:t>
            </a:r>
          </a:p>
          <a:p xmlns:a="http://schemas.openxmlformats.org/drawingml/2006/main">
            <a:r>
              <a:t>- docs/DEVPOST_SUBMISSION.md — Pitch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only in Q&amp;A. The working prototype includes cart construction, MCP tools and UI, exact expiring checkout terms, direct confirmation, idempotency, merchant operations, failure scenarios, and an audit trail.</a:t>
            </a:r>
          </a:p>
          <a:p xmlns:a="http://schemas.openxmlformats.org/drawingml/2006/main">
            <a:r>
              <a:t/>
            </a:r>
          </a:p>
          <a:p xmlns:a="http://schemas.openxmlformats.org/drawingml/2006/main">
            <a:r>
              <a:t>[Sources]</a:t>
            </a:r>
          </a:p>
          <a:p xmlns:a="http://schemas.openxmlformats.org/drawingml/2006/main">
            <a:r>
              <a:t>- README.md — What is implemented</a:t>
            </a:r>
          </a:p>
          <a:p xmlns:a="http://schemas.openxmlformats.org/drawingml/2006/main">
            <a:r>
              <a:t>- docs/PRD.md — Acceptance criteria</a:t>
            </a:r>
          </a:p>
          <a:p xmlns:a="http://schemas.openxmlformats.org/drawingml/2006/main">
            <a:r>
              <a:t>- docs/architecture.md — State machine and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when judges ask what is simulated. Inventory and pickup are seeded. Identity is a product direction, not a live feature. Visa approval, decline and reversal are simulated. The prototype accepts no card data and makes no Visa partnership claim.</a:t>
            </a:r>
          </a:p>
          <a:p xmlns:a="http://schemas.openxmlformats.org/drawingml/2006/main">
            <a:r>
              <a:t/>
            </a:r>
          </a:p>
          <a:p xmlns:a="http://schemas.openxmlformats.org/drawingml/2006/main">
            <a:r>
              <a:t>[Sources]</a:t>
            </a:r>
          </a:p>
          <a:p xmlns:a="http://schemas.openxmlformats.org/drawingml/2006/main">
            <a:r>
              <a:t>- README.md — Prototype boundary</a:t>
            </a:r>
          </a:p>
          <a:p xmlns:a="http://schemas.openxmlformats.org/drawingml/2006/main">
            <a:r>
              <a:t>- SCRIPT.md — Truth guardrails</a:t>
            </a:r>
          </a:p>
          <a:p xmlns:a="http://schemas.openxmlformats.org/drawingml/2006/main">
            <a:r>
              <a:t>- docs/PRD.md — Non-goals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in technical Q&amp;A. The ChatGPT or Codex host invokes Woven's MCP tools. The one-service backend owns cart construction, mandate binding, confirmation, order state and the simulated authorization adapter. The browser demo is a second transport over the same backend.</a:t>
            </a:r>
          </a:p>
          <a:p xmlns:a="http://schemas.openxmlformats.org/drawingml/2006/main">
            <a:r>
              <a:t/>
            </a:r>
          </a:p>
          <a:p xmlns:a="http://schemas.openxmlformats.org/drawingml/2006/main">
            <a:r>
              <a:t>[Sources]</a:t>
            </a:r>
          </a:p>
          <a:p xmlns:a="http://schemas.openxmlformats.org/drawingml/2006/main">
            <a:r>
              <a:t>- docs/assets/devpost/woven-architecture.png</a:t>
            </a:r>
          </a:p>
          <a:p xmlns:a="http://schemas.openxmlformats.org/drawingml/2006/main">
            <a:r>
              <a:t>- docs/architecture.md — System architecture and trust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in trust and safety Q&amp;A. Current controls bind merchant, cart version, amount, expiry, nonce and idempotency key; recheck price and stock; keep the confirmation nonce outside model-visible tool arguments; and simulate reversals on downstream order failure. Identity is a planned pre-checkout control and is not implemented.</a:t>
            </a:r>
          </a:p>
          <a:p xmlns:a="http://schemas.openxmlformats.org/drawingml/2006/main">
            <a:r>
              <a:t/>
            </a:r>
          </a:p>
          <a:p xmlns:a="http://schemas.openxmlformats.org/drawingml/2006/main">
            <a:r>
              <a:t>[Sources]</a:t>
            </a:r>
          </a:p>
          <a:p xmlns:a="http://schemas.openxmlformats.org/drawingml/2006/main">
            <a:r>
              <a:t>- docs/assets/devpost/woven-trust-boundary.png</a:t>
            </a:r>
          </a:p>
          <a:p xmlns:a="http://schemas.openxmlformats.org/drawingml/2006/main">
            <a:r>
              <a:t>- docs/architecture.md — Mandate, confirmation and failure state machine</a:t>
            </a:r>
          </a:p>
          <a:p xmlns:a="http://schemas.openxmlformats.org/drawingml/2006/main">
            <a:r>
              <a:t>- docs/PRD.md — Trust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ce198b07a1b46f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d15c2121a244054" /><Relationship Type="http://schemas.openxmlformats.org/officeDocument/2006/relationships/slideLayout" Target="/ppt/slideLayouts/slideLayout1.xml" Id="Rf952ab71b157485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52ab71b157485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38c506461474920" /><Relationship Type="http://schemas.openxmlformats.org/officeDocument/2006/relationships/image" Target="/ppt/media/image.png" Id="R6927022f668944f0" /><Relationship Type="http://schemas.openxmlformats.org/officeDocument/2006/relationships/image" Target="/ppt/media/image2.png" Id="Rd1d0da75597c4e87" /><Relationship Type="http://schemas.openxmlformats.org/officeDocument/2006/relationships/notesSlide" Target="/ppt/notesSlides/notesSlide1.xml" Id="Rf6bf25c7ef964c4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ae932ec6fc047d6" /><Relationship Type="http://schemas.openxmlformats.org/officeDocument/2006/relationships/notesSlide" Target="/ppt/notesSlides/notesSlide2.xml" Id="R440641a137c8424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778000c09e44346" /><Relationship Type="http://schemas.openxmlformats.org/officeDocument/2006/relationships/image" Target="/ppt/media/image3.png" Id="R32925bf3c169406a" /><Relationship Type="http://schemas.openxmlformats.org/officeDocument/2006/relationships/notesSlide" Target="/ppt/notesSlides/notesSlide3.xml" Id="Ra1e1aed32c5b4c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da84ebede364407" /><Relationship Type="http://schemas.openxmlformats.org/officeDocument/2006/relationships/notesSlide" Target="/ppt/notesSlides/notesSlide4.xml" Id="R2f9273891dcb4f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3329cba61694cd6" /><Relationship Type="http://schemas.openxmlformats.org/officeDocument/2006/relationships/notesSlide" Target="/ppt/notesSlides/notesSlide5.xml" Id="R1e5177bbf5e443a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0dafd7b010f4010" /><Relationship Type="http://schemas.openxmlformats.org/officeDocument/2006/relationships/image" Target="/ppt/media/image4.png" Id="Ra2ccd8e92fed4c21" /><Relationship Type="http://schemas.openxmlformats.org/officeDocument/2006/relationships/notesSlide" Target="/ppt/notesSlides/notesSlide6.xml" Id="R13a109209e7947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170592398d647e7" /><Relationship Type="http://schemas.openxmlformats.org/officeDocument/2006/relationships/image" Target="/ppt/media/image.png" Id="Re4b6b5bc752e42e0" /><Relationship Type="http://schemas.openxmlformats.org/officeDocument/2006/relationships/notesSlide" Target="/ppt/notesSlides/notesSlide7.xml" Id="R11073ab9230f4ad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5b7d5212525402e" /><Relationship Type="http://schemas.openxmlformats.org/officeDocument/2006/relationships/notesSlide" Target="/ppt/notesSlides/notesSlide8.xml" Id="Ra9703668a0d24e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c61779774f64795" /><Relationship Type="http://schemas.openxmlformats.org/officeDocument/2006/relationships/notesSlide" Target="/ppt/notesSlides/notesSlide9.xml" Id="R718f232896f14b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e8aa551c66a4969" /><Relationship Type="http://schemas.openxmlformats.org/officeDocument/2006/relationships/image" Target="/ppt/media/image5.png" Id="R9909b5a239234798" /><Relationship Type="http://schemas.openxmlformats.org/officeDocument/2006/relationships/notesSlide" Target="/ppt/notesSlides/notesSlide10.xml" Id="Re92032f6f681421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9657773fbca4b6b" /><Relationship Type="http://schemas.openxmlformats.org/officeDocument/2006/relationships/image" Target="/ppt/media/image6.png" Id="R0ec13a034f654de9" /><Relationship Type="http://schemas.openxmlformats.org/officeDocument/2006/relationships/notesSlide" Target="/ppt/notesSlides/notesSlide11.xml" Id="Rf7ca8a8181d54a75" /></Relationships>
</file>

<file path=ppt/slides/slide1.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WOVEN / CHATGPT SHOPPING APP</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Shopping should start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and finish with</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one request.</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Everything works together.</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Ask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Review once.</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Confirm once.</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927022f668944f0"/>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WORKING MCP APP · SEEDED DEMO DATA</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01</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1d0da75597c4e87"/>
          <a:srcRect xmlns:a="http://schemas.openxmlformats.org/drawingml/2006/main" l="0" t="0" r="0" b="0"/>
          <a:stretch xmlns:a="http://schemas.openxmlformats.org/drawingml/2006/main">
            <a:fillRect l="0" t="0" r="0" b="0"/>
          </a:stretch>
        </p:blipFill>
        <p:spPr>
          <a:xfrm xmlns:a="http://schemas.openxmlformats.org/drawingml/2006/main">
            <a:off x="7715250" y="2477691"/>
            <a:ext cx="6667500" cy="3750469"/>
          </a:xfrm>
          <a:prstGeom xmlns:a="http://schemas.openxmlformats.org/drawingml/2006/main" prst="roundRect">
            <a:avLst/>
          </a:prstGeom>
        </p:spPr>
      </p:pic>
    </p:spTree>
    <p:extLst>
      <p:ext uri="{BB962C8B-B14F-4D97-AF65-F5344CB8AC3E}">
        <p14:creationId xmlns:p14="http://schemas.microsoft.com/office/powerpoint/2010/main" val="1060689594"/>
      </p:ext>
    </p:extLst>
  </p:cSld>
</p:sld>
</file>

<file path=ppt/slides/slide2.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FRICTION</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Search gives you links. Buying still takes work.</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Rebuild the cart
at checkout.</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Compare products</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You still open tabs and evaluate individual options.</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Check compatibility</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One wrong cable or adapter breaks the whole kit.</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Find one store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Everything must be available today at one pickup location.</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02</a:t>
            </a:r>
          </a:p>
        </p:txBody>
      </p:sp>
    </p:spTree>
    <p:extLst>
      <p:ext uri="{BB962C8B-B14F-4D97-AF65-F5344CB8AC3E}">
        <p14:creationId xmlns:p14="http://schemas.microsoft.com/office/powerpoint/2010/main" val="619982641"/>
      </p:ext>
    </p:extLst>
  </p:cSld>
</p:sld>
</file>

<file path=ppt/slides/slide3.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3" name="eyebrow-The product">
            <a:extLst xmlns:a="http://schemas.openxmlformats.org/drawingml/2006/main">
              <a:ext uri="{FF2B5EF4-FFF2-40B4-BE49-F238E27FC236}">
                <a16:creationId xmlns:a16="http://schemas.microsoft.com/office/drawing/2014/main" id="{07A88F95-BFF8-48C4-862D-F9984BCFD9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COMPLETE CART</a:t>
            </a:r>
          </a:p>
        </p:txBody>
      </p:sp>
      <p:sp>
        <p:nvSpPr>
          <p:cNvPr id="2" name="title-Woven turns intent into a complete cart.">
            <a:extLst xmlns:a="http://schemas.openxmlformats.org/drawingml/2006/main">
              <a:ext uri="{FF2B5EF4-FFF2-40B4-BE49-F238E27FC236}">
                <a16:creationId xmlns:a16="http://schemas.microsoft.com/office/drawing/2014/main" id="{044C183A-E528-4271-8878-340DBD49AD32}"/>
              </a:ext>
            </a:extLst>
          </p:cNvPr>
          <p:cNvSpPr>
            <a:spLocks xmlns:a="http://schemas.openxmlformats.org/drawingml/2006/main" noGrp="1"/>
          </p:cNvSpPr>
          <p:nvPr/>
        </p:nvSpPr>
        <p:spPr>
          <a:xfrm xmlns:a="http://schemas.openxmlformats.org/drawingml/2006/main">
            <a:off x="838200" y="990600"/>
            <a:ext cx="13239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Woven returns a complete cart—not another list.</a:t>
            </a:r>
          </a:p>
        </p:txBody>
      </p:sp>
      <p:sp>
        <p:nvSpPr>
          <p:cNvPr id="3" name="metric-value-0">
            <a:extLst xmlns:a="http://schemas.openxmlformats.org/drawingml/2006/main">
              <a:ext uri="{FF2B5EF4-FFF2-40B4-BE49-F238E27FC236}">
                <a16:creationId xmlns:a16="http://schemas.microsoft.com/office/drawing/2014/main" id="{E720D8B4-0DC5-4C28-87E9-44D51229EF85}"/>
              </a:ext>
            </a:extLst>
          </p:cNvPr>
          <p:cNvSpPr>
            <a:spLocks xmlns:a="http://schemas.openxmlformats.org/drawingml/2006/main" noGrp="1"/>
          </p:cNvSpPr>
          <p:nvPr/>
        </p:nvSpPr>
        <p:spPr>
          <a:xfrm xmlns:a="http://schemas.openxmlformats.org/drawingml/2006/main">
            <a:off x="838200" y="27813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1</a:t>
            </a:r>
          </a:p>
        </p:txBody>
      </p:sp>
      <p:sp>
        <p:nvSpPr>
          <p:cNvPr id="4" name="metric-label-0">
            <a:extLst xmlns:a="http://schemas.openxmlformats.org/drawingml/2006/main">
              <a:ext uri="{FF2B5EF4-FFF2-40B4-BE49-F238E27FC236}">
                <a16:creationId xmlns:a16="http://schemas.microsoft.com/office/drawing/2014/main" id="{94B9C37E-E44A-4911-823F-0818603B6764}"/>
              </a:ext>
            </a:extLst>
          </p:cNvPr>
          <p:cNvSpPr>
            <a:spLocks xmlns:a="http://schemas.openxmlformats.org/drawingml/2006/main" noGrp="1"/>
          </p:cNvSpPr>
          <p:nvPr/>
        </p:nvSpPr>
        <p:spPr>
          <a:xfrm xmlns:a="http://schemas.openxmlformats.org/drawingml/2006/main">
            <a:off x="838200" y="34671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merchant and pickup point</a:t>
            </a:r>
          </a:p>
        </p:txBody>
      </p:sp>
      <p:sp>
        <p:nvSpPr>
          <p:cNvPr id="5" name="metric-value-1">
            <a:extLst xmlns:a="http://schemas.openxmlformats.org/drawingml/2006/main">
              <a:ext uri="{FF2B5EF4-FFF2-40B4-BE49-F238E27FC236}">
                <a16:creationId xmlns:a16="http://schemas.microsoft.com/office/drawing/2014/main" id="{C9AA5B59-8D6D-4578-BE98-DA2CCD78BACE}"/>
              </a:ext>
            </a:extLst>
          </p:cNvPr>
          <p:cNvSpPr>
            <a:spLocks xmlns:a="http://schemas.openxmlformats.org/drawingml/2006/main" noGrp="1"/>
          </p:cNvSpPr>
          <p:nvPr/>
        </p:nvSpPr>
        <p:spPr>
          <a:xfrm xmlns:a="http://schemas.openxmlformats.org/drawingml/2006/main">
            <a:off x="838200" y="413385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0E4B3B"/>
                </a:solidFill>
                <a:latin typeface="Georgia"/>
                <a:ea typeface="Georgia"/>
                <a:cs typeface="Georgia"/>
              </a:defRPr>
            </a:pPr>
            <a:r>
              <a:rPr sz="4350" b="1">
                <a:solidFill>
                  <a:srgbClr val="0E4B3B"/>
                </a:solidFill>
                <a:latin typeface="Georgia"/>
                <a:ea typeface="Georgia"/>
                <a:cs typeface="Georgia"/>
              </a:rPr>
              <a:t>4</a:t>
            </a:r>
          </a:p>
        </p:txBody>
      </p:sp>
      <p:sp>
        <p:nvSpPr>
          <p:cNvPr id="6" name="metric-label-1">
            <a:extLst xmlns:a="http://schemas.openxmlformats.org/drawingml/2006/main">
              <a:ext uri="{FF2B5EF4-FFF2-40B4-BE49-F238E27FC236}">
                <a16:creationId xmlns:a16="http://schemas.microsoft.com/office/drawing/2014/main" id="{D67D50E1-2330-405F-9814-8A977683F612}"/>
              </a:ext>
            </a:extLst>
          </p:cNvPr>
          <p:cNvSpPr>
            <a:spLocks xmlns:a="http://schemas.openxmlformats.org/drawingml/2006/main" noGrp="1"/>
          </p:cNvSpPr>
          <p:nvPr/>
        </p:nvSpPr>
        <p:spPr>
          <a:xfrm xmlns:a="http://schemas.openxmlformats.org/drawingml/2006/main">
            <a:off x="838200" y="481965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compatible components</a:t>
            </a:r>
          </a:p>
        </p:txBody>
      </p:sp>
      <p:sp>
        <p:nvSpPr>
          <p:cNvPr id="7" name="metric-value-2">
            <a:extLst xmlns:a="http://schemas.openxmlformats.org/drawingml/2006/main">
              <a:ext uri="{FF2B5EF4-FFF2-40B4-BE49-F238E27FC236}">
                <a16:creationId xmlns:a16="http://schemas.microsoft.com/office/drawing/2014/main" id="{34A2351A-08FA-41EA-9E37-D15FDFEC6DD9}"/>
              </a:ext>
            </a:extLst>
          </p:cNvPr>
          <p:cNvSpPr>
            <a:spLocks xmlns:a="http://schemas.openxmlformats.org/drawingml/2006/main" noGrp="1"/>
          </p:cNvSpPr>
          <p:nvPr/>
        </p:nvSpPr>
        <p:spPr>
          <a:xfrm xmlns:a="http://schemas.openxmlformats.org/drawingml/2006/main">
            <a:off x="838200" y="5486400"/>
            <a:ext cx="28575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4350" b="1">
                <a:solidFill>
                  <a:srgbClr val="B64032"/>
                </a:solidFill>
                <a:latin typeface="Georgia"/>
                <a:ea typeface="Georgia"/>
                <a:cs typeface="Georgia"/>
              </a:defRPr>
            </a:pPr>
            <a:r>
              <a:rPr sz="4350" b="1">
                <a:solidFill>
                  <a:srgbClr val="B64032"/>
                </a:solidFill>
                <a:latin typeface="Georgia"/>
                <a:ea typeface="Georgia"/>
                <a:cs typeface="Georgia"/>
              </a:rPr>
              <a:t>S$133</a:t>
            </a:r>
          </a:p>
        </p:txBody>
      </p:sp>
      <p:sp>
        <p:nvSpPr>
          <p:cNvPr id="8" name="metric-label-2">
            <a:extLst xmlns:a="http://schemas.openxmlformats.org/drawingml/2006/main">
              <a:ext uri="{FF2B5EF4-FFF2-40B4-BE49-F238E27FC236}">
                <a16:creationId xmlns:a16="http://schemas.microsoft.com/office/drawing/2014/main" id="{E17DFFAD-5854-4414-BDBD-56E6D52F7CF6}"/>
              </a:ext>
            </a:extLst>
          </p:cNvPr>
          <p:cNvSpPr>
            <a:spLocks xmlns:a="http://schemas.openxmlformats.org/drawingml/2006/main" noGrp="1"/>
          </p:cNvSpPr>
          <p:nvPr/>
        </p:nvSpPr>
        <p:spPr>
          <a:xfrm xmlns:a="http://schemas.openxmlformats.org/drawingml/2006/main">
            <a:off x="838200" y="6172200"/>
            <a:ext cx="347662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under budget · pickup today</a:t>
            </a:r>
          </a:p>
        </p:txBody>
      </p:sp>
      <p:sp>
        <p:nvSpPr>
          <p:cNvPr id="9" name="Woven buyer view showing the mission and three complete carts-backplate">
            <a:extLst xmlns:a="http://schemas.openxmlformats.org/drawingml/2006/main">
              <a:ext uri="{FF2B5EF4-FFF2-40B4-BE49-F238E27FC236}">
                <a16:creationId xmlns:a16="http://schemas.microsoft.com/office/drawing/2014/main" id="{ABE8B1E6-CCF5-4ADE-BE71-0884CDDECEDA}"/>
              </a:ext>
            </a:extLst>
          </p:cNvPr>
          <p:cNvSpPr>
            <a:spLocks xmlns:a="http://schemas.openxmlformats.org/drawingml/2006/main" noGrp="1"/>
          </p:cNvSpPr>
          <p:nvPr/>
        </p:nvSpPr>
        <p:spPr>
          <a:xfrm xmlns:a="http://schemas.openxmlformats.org/drawingml/2006/main">
            <a:off x="4762500" y="238125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2925bf3c169406a"/>
          <a:stretch xmlns:a="http://schemas.openxmlformats.org/drawingml/2006/main"/>
        </p:blipFill>
        <p:spPr>
          <a:xfrm xmlns:a="http://schemas.openxmlformats.org/drawingml/2006/main" flipH="0" flipV="0">
            <a:off x="4859867" y="2476500"/>
            <a:ext cx="9330267" cy="5248275"/>
          </a:xfrm>
          <a:prstGeom xmlns:a="http://schemas.openxmlformats.org/drawingml/2006/main" prst="roundRect">
            <a:avLst/>
          </a:prstGeom>
        </p:spPr>
      </p:pic>
      <p:sp>
        <p:nvSpPr>
          <p:cNvPr id="11" name="footer-label-4">
            <a:extLst xmlns:a="http://schemas.openxmlformats.org/drawingml/2006/main">
              <a:ext uri="{FF2B5EF4-FFF2-40B4-BE49-F238E27FC236}">
                <a16:creationId xmlns:a16="http://schemas.microsoft.com/office/drawing/2014/main" id="{0BF00BD6-0EB2-48D5-B38D-D1AF7B5A15E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2" name="footer-number-4">
            <a:extLst xmlns:a="http://schemas.openxmlformats.org/drawingml/2006/main">
              <a:ext uri="{FF2B5EF4-FFF2-40B4-BE49-F238E27FC236}">
                <a16:creationId xmlns:a16="http://schemas.microsoft.com/office/drawing/2014/main" id="{3F952AB5-B91A-4BD1-8A1D-8B5E6278D833}"/>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03</a:t>
            </a:r>
          </a:p>
        </p:txBody>
      </p:sp>
    </p:spTree>
    <p:extLst>
      <p:ext uri="{BB962C8B-B14F-4D97-AF65-F5344CB8AC3E}">
        <p14:creationId xmlns:p14="http://schemas.microsoft.com/office/powerpoint/2010/main" val="512233516"/>
      </p:ext>
    </p:extLst>
  </p:cSld>
</p:sld>
</file>

<file path=ppt/slides/slide4.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he insight">
            <a:extLst xmlns:a="http://schemas.openxmlformats.org/drawingml/2006/main">
              <a:ext uri="{FF2B5EF4-FFF2-40B4-BE49-F238E27FC236}">
                <a16:creationId xmlns:a16="http://schemas.microsoft.com/office/drawing/2014/main" id="{0E9A20C0-1257-4684-8F68-81D3C29EF240}"/>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LIVE DEMONSTRATION</a:t>
            </a:r>
          </a:p>
        </p:txBody>
      </p:sp>
      <p:sp>
        <p:nvSpPr>
          <p:cNvPr id="2" name="title-The next storefront is the conversation.">
            <a:extLst xmlns:a="http://schemas.openxmlformats.org/drawingml/2006/main">
              <a:ext uri="{FF2B5EF4-FFF2-40B4-BE49-F238E27FC236}">
                <a16:creationId xmlns:a16="http://schemas.microsoft.com/office/drawing/2014/main" id="{969BE9F7-A93F-4601-A652-3DE21C19653C}"/>
              </a:ext>
            </a:extLst>
          </p:cNvPr>
          <p:cNvSpPr>
            <a:spLocks xmlns:a="http://schemas.openxmlformats.org/drawingml/2006/main" noGrp="1"/>
          </p:cNvSpPr>
          <p:nvPr/>
        </p:nvSpPr>
        <p:spPr>
          <a:xfrm xmlns:a="http://schemas.openxmlformats.org/drawingml/2006/main">
            <a:off x="838200" y="990600"/>
            <a:ext cx="125730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Ask once. Let the result prove the value.</a:t>
            </a:r>
          </a:p>
        </p:txBody>
      </p:sp>
      <p:sp>
        <p:nvSpPr>
          <p:cNvPr id="3" name="mission-quote">
            <a:extLst xmlns:a="http://schemas.openxmlformats.org/drawingml/2006/main">
              <a:ext uri="{FF2B5EF4-FFF2-40B4-BE49-F238E27FC236}">
                <a16:creationId xmlns:a16="http://schemas.microsoft.com/office/drawing/2014/main" id="{2EFDEF0A-10CB-4EF5-B352-9F246A44681A}"/>
              </a:ext>
            </a:extLst>
          </p:cNvPr>
          <p:cNvSpPr>
            <a:spLocks xmlns:a="http://schemas.openxmlformats.org/drawingml/2006/main" noGrp="1"/>
          </p:cNvSpPr>
          <p:nvPr/>
        </p:nvSpPr>
        <p:spPr>
          <a:xfrm xmlns:a="http://schemas.openxmlformats.org/drawingml/2006/main">
            <a:off x="838200" y="2571750"/>
            <a:ext cx="962025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4000"/>
              </a:lnSpc>
              <a:buNone/>
              <a:defRPr sz="3900">
                <a:solidFill>
                  <a:srgbClr val="FFFFFF"/>
                </a:solidFill>
                <a:latin typeface="Georgia"/>
                <a:ea typeface="Georgia"/>
                <a:cs typeface="Georgia"/>
              </a:defRPr>
            </a:pPr>
            <a:r>
              <a:rPr sz="3900">
                <a:solidFill>
                  <a:srgbClr val="FFFFFF"/>
                </a:solidFill>
                <a:latin typeface="Georgia"/>
                <a:ea typeface="Georgia"/>
                <a:cs typeface="Georgia"/>
              </a:rPr>
              <a:t>“I fly to Tokyo tonight. Build a charging kit for my MacBook Air, iPhone and AirPods </a:t>
            </a:r>
            <a:r>
              <a:rPr sz="3900" b="1">
                <a:solidFill>
                  <a:srgbClr val="FFFFFF"/>
                </a:solidFill>
                <a:latin typeface="Georgia"/>
                <a:ea typeface="Georgia"/>
                <a:cs typeface="Georgia"/>
              </a:rPr>
              <a:t>under S$150</a:t>
            </a:r>
            <a:r>
              <a:rPr sz="3900">
                <a:solidFill>
                  <a:srgbClr val="FFFFFF"/>
                </a:solidFill>
                <a:latin typeface="Georgia"/>
                <a:ea typeface="Georgia"/>
                <a:cs typeface="Georgia"/>
              </a:rPr>
              <a:t>, with pickup today.”</a:t>
            </a:r>
          </a:p>
        </p:txBody>
      </p:sp>
      <p:sp>
        <p:nvSpPr>
          <p:cNvPr id="4" name="constraint-rail">
            <a:extLst xmlns:a="http://schemas.openxmlformats.org/drawingml/2006/main">
              <a:ext uri="{FF2B5EF4-FFF2-40B4-BE49-F238E27FC236}">
                <a16:creationId xmlns:a16="http://schemas.microsoft.com/office/drawing/2014/main" id="{C7427611-62AF-49F3-96D4-D2F722F44F43}"/>
              </a:ext>
            </a:extLst>
          </p:cNvPr>
          <p:cNvSpPr>
            <a:spLocks xmlns:a="http://schemas.openxmlformats.org/drawingml/2006/main" noGrp="1"/>
          </p:cNvSpPr>
          <p:nvPr/>
        </p:nvSpPr>
        <p:spPr>
          <a:xfrm xmlns:a="http://schemas.openxmlformats.org/drawingml/2006/main">
            <a:off x="11239500" y="2571750"/>
            <a:ext cx="57150" cy="3476625"/>
          </a:xfrm>
          <a:prstGeom xmlns:a="http://schemas.openxmlformats.org/drawingml/2006/main" prst="rect">
            <a:avLst/>
          </a:prstGeom>
          <a:solidFill xmlns:a="http://schemas.openxmlformats.org/drawingml/2006/main">
            <a:srgbClr val="B7F522"/>
          </a:solidFill>
          <a:ln xmlns:a="http://schemas.openxmlformats.org/drawingml/2006/main" w="0">
            <a:noFill/>
            <a:prstDash val="solid"/>
          </a:ln>
        </p:spPr>
      </p:sp>
      <p:sp>
        <p:nvSpPr>
          <p:cNvPr id="5" name="constraint-label-0">
            <a:extLst xmlns:a="http://schemas.openxmlformats.org/drawingml/2006/main">
              <a:ext uri="{FF2B5EF4-FFF2-40B4-BE49-F238E27FC236}">
                <a16:creationId xmlns:a16="http://schemas.microsoft.com/office/drawing/2014/main" id="{7AA39BE2-FA59-4EFF-91F8-6C0E2FD0DD98}"/>
              </a:ext>
            </a:extLst>
          </p:cNvPr>
          <p:cNvSpPr>
            <a:spLocks xmlns:a="http://schemas.openxmlformats.org/drawingml/2006/main" noGrp="1"/>
          </p:cNvSpPr>
          <p:nvPr/>
        </p:nvSpPr>
        <p:spPr>
          <a:xfrm xmlns:a="http://schemas.openxmlformats.org/drawingml/2006/main">
            <a:off x="11668125" y="26479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DESTINATION</a:t>
            </a:r>
          </a:p>
        </p:txBody>
      </p:sp>
      <p:sp>
        <p:nvSpPr>
          <p:cNvPr id="6" name="constraint-value-0">
            <a:extLst xmlns:a="http://schemas.openxmlformats.org/drawingml/2006/main">
              <a:ext uri="{FF2B5EF4-FFF2-40B4-BE49-F238E27FC236}">
                <a16:creationId xmlns:a16="http://schemas.microsoft.com/office/drawing/2014/main" id="{DC158097-6463-4A7F-95C3-AE1BAEB9BC75}"/>
              </a:ext>
            </a:extLst>
          </p:cNvPr>
          <p:cNvSpPr>
            <a:spLocks xmlns:a="http://schemas.openxmlformats.org/drawingml/2006/main" noGrp="1"/>
          </p:cNvSpPr>
          <p:nvPr/>
        </p:nvSpPr>
        <p:spPr>
          <a:xfrm xmlns:a="http://schemas.openxmlformats.org/drawingml/2006/main">
            <a:off x="11668125" y="29241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Tokyo</a:t>
            </a:r>
          </a:p>
        </p:txBody>
      </p:sp>
      <p:sp>
        <p:nvSpPr>
          <p:cNvPr id="7" name="constraint-label-1">
            <a:extLst xmlns:a="http://schemas.openxmlformats.org/drawingml/2006/main">
              <a:ext uri="{FF2B5EF4-FFF2-40B4-BE49-F238E27FC236}">
                <a16:creationId xmlns:a16="http://schemas.microsoft.com/office/drawing/2014/main" id="{3A9CCD6B-D9ED-4458-B40A-4A9942E747D6}"/>
              </a:ext>
            </a:extLst>
          </p:cNvPr>
          <p:cNvSpPr>
            <a:spLocks xmlns:a="http://schemas.openxmlformats.org/drawingml/2006/main" noGrp="1"/>
          </p:cNvSpPr>
          <p:nvPr/>
        </p:nvSpPr>
        <p:spPr>
          <a:xfrm xmlns:a="http://schemas.openxmlformats.org/drawingml/2006/main">
            <a:off x="11668125" y="34861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DEVICES</a:t>
            </a:r>
          </a:p>
        </p:txBody>
      </p:sp>
      <p:sp>
        <p:nvSpPr>
          <p:cNvPr id="8" name="constraint-value-1">
            <a:extLst xmlns:a="http://schemas.openxmlformats.org/drawingml/2006/main">
              <a:ext uri="{FF2B5EF4-FFF2-40B4-BE49-F238E27FC236}">
                <a16:creationId xmlns:a16="http://schemas.microsoft.com/office/drawing/2014/main" id="{9C92FC46-5FC9-460B-9B88-20B0C150CD90}"/>
              </a:ext>
            </a:extLst>
          </p:cNvPr>
          <p:cNvSpPr>
            <a:spLocks xmlns:a="http://schemas.openxmlformats.org/drawingml/2006/main" noGrp="1"/>
          </p:cNvSpPr>
          <p:nvPr/>
        </p:nvSpPr>
        <p:spPr>
          <a:xfrm xmlns:a="http://schemas.openxmlformats.org/drawingml/2006/main">
            <a:off x="11668125" y="37623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MacBook · iPhone · AirPods</a:t>
            </a:r>
          </a:p>
        </p:txBody>
      </p:sp>
      <p:sp>
        <p:nvSpPr>
          <p:cNvPr id="9" name="constraint-label-2">
            <a:extLst xmlns:a="http://schemas.openxmlformats.org/drawingml/2006/main">
              <a:ext uri="{FF2B5EF4-FFF2-40B4-BE49-F238E27FC236}">
                <a16:creationId xmlns:a16="http://schemas.microsoft.com/office/drawing/2014/main" id="{08595B41-1CA9-4968-A357-7F0F4F054E80}"/>
              </a:ext>
            </a:extLst>
          </p:cNvPr>
          <p:cNvSpPr>
            <a:spLocks xmlns:a="http://schemas.openxmlformats.org/drawingml/2006/main" noGrp="1"/>
          </p:cNvSpPr>
          <p:nvPr/>
        </p:nvSpPr>
        <p:spPr>
          <a:xfrm xmlns:a="http://schemas.openxmlformats.org/drawingml/2006/main">
            <a:off x="11668125" y="43243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BUDGET</a:t>
            </a:r>
          </a:p>
        </p:txBody>
      </p:sp>
      <p:sp>
        <p:nvSpPr>
          <p:cNvPr id="10" name="constraint-value-2">
            <a:extLst xmlns:a="http://schemas.openxmlformats.org/drawingml/2006/main">
              <a:ext uri="{FF2B5EF4-FFF2-40B4-BE49-F238E27FC236}">
                <a16:creationId xmlns:a16="http://schemas.microsoft.com/office/drawing/2014/main" id="{DA463453-F3EC-4FC9-ADA5-A68745001B79}"/>
              </a:ext>
            </a:extLst>
          </p:cNvPr>
          <p:cNvSpPr>
            <a:spLocks xmlns:a="http://schemas.openxmlformats.org/drawingml/2006/main" noGrp="1"/>
          </p:cNvSpPr>
          <p:nvPr/>
        </p:nvSpPr>
        <p:spPr>
          <a:xfrm xmlns:a="http://schemas.openxmlformats.org/drawingml/2006/main">
            <a:off x="11668125" y="46005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S$150 hard cap</a:t>
            </a:r>
          </a:p>
        </p:txBody>
      </p:sp>
      <p:sp>
        <p:nvSpPr>
          <p:cNvPr id="11" name="constraint-label-3">
            <a:extLst xmlns:a="http://schemas.openxmlformats.org/drawingml/2006/main">
              <a:ext uri="{FF2B5EF4-FFF2-40B4-BE49-F238E27FC236}">
                <a16:creationId xmlns:a16="http://schemas.microsoft.com/office/drawing/2014/main" id="{8A77585B-BD13-4C6C-A109-3B4EFDB67C55}"/>
              </a:ext>
            </a:extLst>
          </p:cNvPr>
          <p:cNvSpPr>
            <a:spLocks xmlns:a="http://schemas.openxmlformats.org/drawingml/2006/main" noGrp="1"/>
          </p:cNvSpPr>
          <p:nvPr/>
        </p:nvSpPr>
        <p:spPr>
          <a:xfrm xmlns:a="http://schemas.openxmlformats.org/drawingml/2006/main">
            <a:off x="11668125" y="5162550"/>
            <a:ext cx="2762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DCECE5"/>
                </a:solidFill>
                <a:latin typeface="Menlo"/>
                <a:ea typeface="Menlo"/>
                <a:cs typeface="Menlo"/>
              </a:defRPr>
            </a:pPr>
            <a:r>
              <a:rPr sz="1125" b="1">
                <a:solidFill>
                  <a:srgbClr val="DCECE5"/>
                </a:solidFill>
                <a:latin typeface="Menlo"/>
                <a:ea typeface="Menlo"/>
                <a:cs typeface="Menlo"/>
              </a:rPr>
              <a:t>DEADLINE</a:t>
            </a:r>
          </a:p>
        </p:txBody>
      </p:sp>
      <p:sp>
        <p:nvSpPr>
          <p:cNvPr id="12" name="constraint-value-3">
            <a:extLst xmlns:a="http://schemas.openxmlformats.org/drawingml/2006/main">
              <a:ext uri="{FF2B5EF4-FFF2-40B4-BE49-F238E27FC236}">
                <a16:creationId xmlns:a16="http://schemas.microsoft.com/office/drawing/2014/main" id="{F23B21D7-5C5A-4190-8CAC-D7BC67758A37}"/>
              </a:ext>
            </a:extLst>
          </p:cNvPr>
          <p:cNvSpPr>
            <a:spLocks xmlns:a="http://schemas.openxmlformats.org/drawingml/2006/main" noGrp="1"/>
          </p:cNvSpPr>
          <p:nvPr/>
        </p:nvSpPr>
        <p:spPr>
          <a:xfrm xmlns:a="http://schemas.openxmlformats.org/drawingml/2006/main">
            <a:off x="11668125" y="54387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75" b="1">
                <a:solidFill>
                  <a:srgbClr val="FFFFFF"/>
                </a:solidFill>
                <a:latin typeface="Avenir Next"/>
                <a:ea typeface="Avenir Next"/>
                <a:cs typeface="Avenir Next"/>
              </a:defRPr>
            </a:pPr>
            <a:r>
              <a:rPr sz="1875" b="1">
                <a:solidFill>
                  <a:srgbClr val="FFFFFF"/>
                </a:solidFill>
                <a:latin typeface="Avenir Next"/>
                <a:ea typeface="Avenir Next"/>
                <a:cs typeface="Avenir Next"/>
              </a:rPr>
              <a:t>Pickup today</a:t>
            </a:r>
          </a:p>
        </p:txBody>
      </p:sp>
      <p:sp>
        <p:nvSpPr>
          <p:cNvPr id="13" name="constraint-summary">
            <a:extLst xmlns:a="http://schemas.openxmlformats.org/drawingml/2006/main">
              <a:ext uri="{FF2B5EF4-FFF2-40B4-BE49-F238E27FC236}">
                <a16:creationId xmlns:a16="http://schemas.microsoft.com/office/drawing/2014/main" id="{4A3F781E-6DB6-4EF9-B02D-DAB3997EC1E5}"/>
              </a:ext>
            </a:extLst>
          </p:cNvPr>
          <p:cNvSpPr>
            <a:spLocks xmlns:a="http://schemas.openxmlformats.org/drawingml/2006/main" noGrp="1"/>
          </p:cNvSpPr>
          <p:nvPr/>
        </p:nvSpPr>
        <p:spPr>
          <a:xfrm xmlns:a="http://schemas.openxmlformats.org/drawingml/2006/main">
            <a:off x="838200" y="657225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100" b="1">
                <a:solidFill>
                  <a:srgbClr val="B7F522"/>
                </a:solidFill>
                <a:latin typeface="Menlo"/>
                <a:ea typeface="Menlo"/>
                <a:cs typeface="Menlo"/>
              </a:defRPr>
            </a:pPr>
            <a:r>
              <a:rPr sz="2100" b="1">
                <a:solidFill>
                  <a:srgbClr val="B7F522"/>
                </a:solidFill>
                <a:latin typeface="Menlo"/>
                <a:ea typeface="Menlo"/>
                <a:cs typeface="Menlo"/>
              </a:rPr>
              <a:t>3 complete carts. 1 natural sentence.</a:t>
            </a:r>
          </a:p>
        </p:txBody>
      </p:sp>
      <p:sp>
        <p:nvSpPr>
          <p:cNvPr id="14" name="footer-label-3">
            <a:extLst xmlns:a="http://schemas.openxmlformats.org/drawingml/2006/main">
              <a:ext uri="{FF2B5EF4-FFF2-40B4-BE49-F238E27FC236}">
                <a16:creationId xmlns:a16="http://schemas.microsoft.com/office/drawing/2014/main" id="{DA4AB16A-877D-4B6F-96E4-5CF2F9C6A2BB}"/>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3">
            <a:extLst xmlns:a="http://schemas.openxmlformats.org/drawingml/2006/main">
              <a:ext uri="{FF2B5EF4-FFF2-40B4-BE49-F238E27FC236}">
                <a16:creationId xmlns:a16="http://schemas.microsoft.com/office/drawing/2014/main" id="{CC0E83F2-9BAD-48DD-80E2-9CAD950547D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04</a:t>
            </a:r>
          </a:p>
        </p:txBody>
      </p:sp>
    </p:spTree>
    <p:extLst>
      <p:ext uri="{BB962C8B-B14F-4D97-AF65-F5344CB8AC3E}">
        <p14:creationId xmlns:p14="http://schemas.microsoft.com/office/powerpoint/2010/main" val="740310197"/>
      </p:ext>
    </p:extLst>
  </p:cSld>
</p:sld>
</file>

<file path=ppt/slides/slide5.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8" name="eyebrow-The problem">
            <a:extLst xmlns:a="http://schemas.openxmlformats.org/drawingml/2006/main">
              <a:ext uri="{FF2B5EF4-FFF2-40B4-BE49-F238E27FC236}">
                <a16:creationId xmlns:a16="http://schemas.microsoft.com/office/drawing/2014/main" id="{44E2CD68-0B5C-4392-A350-CCF598C308C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THE TRUST BOUNDARY</a:t>
            </a:r>
          </a:p>
        </p:txBody>
      </p:sp>
      <p:sp>
        <p:nvSpPr>
          <p:cNvPr id="2" name="title-Search finds products. People need complete outcomes.">
            <a:extLst xmlns:a="http://schemas.openxmlformats.org/drawingml/2006/main">
              <a:ext uri="{FF2B5EF4-FFF2-40B4-BE49-F238E27FC236}">
                <a16:creationId xmlns:a16="http://schemas.microsoft.com/office/drawing/2014/main" id="{68D09165-98E1-4BBB-8261-E28C47B97877}"/>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AI recommends. The user authorizes.</a:t>
            </a:r>
          </a:p>
        </p:txBody>
      </p:sp>
      <p:sp>
        <p:nvSpPr>
          <p:cNvPr id="3" name="problem-big-claim">
            <a:extLst xmlns:a="http://schemas.openxmlformats.org/drawingml/2006/main">
              <a:ext uri="{FF2B5EF4-FFF2-40B4-BE49-F238E27FC236}">
                <a16:creationId xmlns:a16="http://schemas.microsoft.com/office/drawing/2014/main" id="{859D58A8-50A8-4A2E-A3EB-F5B97876071B}"/>
              </a:ext>
            </a:extLst>
          </p:cNvPr>
          <p:cNvSpPr>
            <a:spLocks xmlns:a="http://schemas.openxmlformats.org/drawingml/2006/main" noGrp="1"/>
          </p:cNvSpPr>
          <p:nvPr/>
        </p:nvSpPr>
        <p:spPr>
          <a:xfrm xmlns:a="http://schemas.openxmlformats.org/drawingml/2006/main">
            <a:off x="838200" y="2628900"/>
            <a:ext cx="54292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6000"/>
              </a:lnSpc>
              <a:buNone/>
              <a:defRPr sz="3600" b="1">
                <a:solidFill>
                  <a:srgbClr val="B64032"/>
                </a:solidFill>
                <a:latin typeface="Georgia"/>
                <a:ea typeface="Georgia"/>
                <a:cs typeface="Georgia"/>
              </a:defRPr>
            </a:pPr>
            <a:r>
              <a:rPr sz="3600" b="1">
                <a:solidFill>
                  <a:srgbClr val="B64032"/>
                </a:solidFill>
                <a:latin typeface="Georgia"/>
                <a:ea typeface="Georgia"/>
                <a:cs typeface="Georgia"/>
              </a:rPr>
              <a:t>Identity is the
next integration.</a:t>
            </a:r>
          </a:p>
        </p:txBody>
      </p:sp>
      <p:sp>
        <p:nvSpPr>
          <p:cNvPr id="4" name="problem-line-0">
            <a:extLst xmlns:a="http://schemas.openxmlformats.org/drawingml/2006/main">
              <a:ext uri="{FF2B5EF4-FFF2-40B4-BE49-F238E27FC236}">
                <a16:creationId xmlns:a16="http://schemas.microsoft.com/office/drawing/2014/main" id="{F6EFC167-1810-4F7B-8BCB-F004476B0D78}"/>
              </a:ext>
            </a:extLst>
          </p:cNvPr>
          <p:cNvSpPr>
            <a:spLocks xmlns:a="http://schemas.openxmlformats.org/drawingml/2006/main" noGrp="1"/>
          </p:cNvSpPr>
          <p:nvPr/>
        </p:nvSpPr>
        <p:spPr>
          <a:xfrm xmlns:a="http://schemas.openxmlformats.org/drawingml/2006/main">
            <a:off x="7029450" y="2495550"/>
            <a:ext cx="7239000" cy="0"/>
          </a:xfrm>
          <a:prstGeom xmlns:a="http://schemas.openxmlformats.org/drawingml/2006/main" prst="line">
            <a:avLst/>
          </a:prstGeom>
          <a:noFill xmlns:a="http://schemas.openxmlformats.org/drawingml/2006/main"/>
          <a:ln xmlns:a="http://schemas.openxmlformats.org/drawingml/2006/main" w="47625">
            <a:solidFill>
              <a:srgbClr val="B7F522"/>
            </a:solidFill>
            <a:prstDash val="solid"/>
          </a:ln>
        </p:spPr>
      </p:sp>
      <p:sp>
        <p:nvSpPr>
          <p:cNvPr id="5" name="problem-num-0">
            <a:extLst xmlns:a="http://schemas.openxmlformats.org/drawingml/2006/main">
              <a:ext uri="{FF2B5EF4-FFF2-40B4-BE49-F238E27FC236}">
                <a16:creationId xmlns:a16="http://schemas.microsoft.com/office/drawing/2014/main" id="{49F19DE5-0CDD-49DA-B021-0FD522A3AA82}"/>
              </a:ext>
            </a:extLst>
          </p:cNvPr>
          <p:cNvSpPr>
            <a:spLocks xmlns:a="http://schemas.openxmlformats.org/drawingml/2006/main" noGrp="1"/>
          </p:cNvSpPr>
          <p:nvPr/>
        </p:nvSpPr>
        <p:spPr>
          <a:xfrm xmlns:a="http://schemas.openxmlformats.org/drawingml/2006/main">
            <a:off x="7029450" y="26955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01</a:t>
            </a:r>
          </a:p>
        </p:txBody>
      </p:sp>
      <p:sp>
        <p:nvSpPr>
          <p:cNvPr id="6" name="problem-heading-0">
            <a:extLst xmlns:a="http://schemas.openxmlformats.org/drawingml/2006/main">
              <a:ext uri="{FF2B5EF4-FFF2-40B4-BE49-F238E27FC236}">
                <a16:creationId xmlns:a16="http://schemas.microsoft.com/office/drawing/2014/main" id="{CE772126-66DC-4086-BD1B-464082B7C4AB}"/>
              </a:ext>
            </a:extLst>
          </p:cNvPr>
          <p:cNvSpPr>
            <a:spLocks xmlns:a="http://schemas.openxmlformats.org/drawingml/2006/main" noGrp="1"/>
          </p:cNvSpPr>
          <p:nvPr/>
        </p:nvSpPr>
        <p:spPr>
          <a:xfrm xmlns:a="http://schemas.openxmlformats.org/drawingml/2006/main">
            <a:off x="7905750" y="26670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Verify identity</a:t>
            </a:r>
          </a:p>
        </p:txBody>
      </p:sp>
      <p:sp>
        <p:nvSpPr>
          <p:cNvPr id="7" name="problem-body-0">
            <a:extLst xmlns:a="http://schemas.openxmlformats.org/drawingml/2006/main">
              <a:ext uri="{FF2B5EF4-FFF2-40B4-BE49-F238E27FC236}">
                <a16:creationId xmlns:a16="http://schemas.microsoft.com/office/drawing/2014/main" id="{0B2C2F14-6ADC-4106-8ED7-26997B86B0E4}"/>
              </a:ext>
            </a:extLst>
          </p:cNvPr>
          <p:cNvSpPr>
            <a:spLocks xmlns:a="http://schemas.openxmlformats.org/drawingml/2006/main" noGrp="1"/>
          </p:cNvSpPr>
          <p:nvPr/>
        </p:nvSpPr>
        <p:spPr>
          <a:xfrm xmlns:a="http://schemas.openxmlformats.org/drawingml/2006/main">
            <a:off x="7905750" y="31337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PLANNED — server-enforced before checkout; not in the live demo.</a:t>
            </a:r>
          </a:p>
        </p:txBody>
      </p:sp>
      <p:sp>
        <p:nvSpPr>
          <p:cNvPr id="8" name="problem-line-1">
            <a:extLst xmlns:a="http://schemas.openxmlformats.org/drawingml/2006/main">
              <a:ext uri="{FF2B5EF4-FFF2-40B4-BE49-F238E27FC236}">
                <a16:creationId xmlns:a16="http://schemas.microsoft.com/office/drawing/2014/main" id="{6AFC7403-25EE-4D0D-9379-D3185F74FF6C}"/>
              </a:ext>
            </a:extLst>
          </p:cNvPr>
          <p:cNvSpPr>
            <a:spLocks xmlns:a="http://schemas.openxmlformats.org/drawingml/2006/main" noGrp="1"/>
          </p:cNvSpPr>
          <p:nvPr/>
        </p:nvSpPr>
        <p:spPr>
          <a:xfrm xmlns:a="http://schemas.openxmlformats.org/drawingml/2006/main">
            <a:off x="7029450" y="384810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problem-num-1">
            <a:extLst xmlns:a="http://schemas.openxmlformats.org/drawingml/2006/main">
              <a:ext uri="{FF2B5EF4-FFF2-40B4-BE49-F238E27FC236}">
                <a16:creationId xmlns:a16="http://schemas.microsoft.com/office/drawing/2014/main" id="{CD09E3EF-D7BF-45D7-93B8-4B0261FFB98C}"/>
              </a:ext>
            </a:extLst>
          </p:cNvPr>
          <p:cNvSpPr>
            <a:spLocks xmlns:a="http://schemas.openxmlformats.org/drawingml/2006/main" noGrp="1"/>
          </p:cNvSpPr>
          <p:nvPr/>
        </p:nvSpPr>
        <p:spPr>
          <a:xfrm xmlns:a="http://schemas.openxmlformats.org/drawingml/2006/main">
            <a:off x="7029450" y="404812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02</a:t>
            </a:r>
          </a:p>
        </p:txBody>
      </p:sp>
      <p:sp>
        <p:nvSpPr>
          <p:cNvPr id="10" name="problem-heading-1">
            <a:extLst xmlns:a="http://schemas.openxmlformats.org/drawingml/2006/main">
              <a:ext uri="{FF2B5EF4-FFF2-40B4-BE49-F238E27FC236}">
                <a16:creationId xmlns:a16="http://schemas.microsoft.com/office/drawing/2014/main" id="{52462AF3-882B-4600-9871-095535CD92EF}"/>
              </a:ext>
            </a:extLst>
          </p:cNvPr>
          <p:cNvSpPr>
            <a:spLocks xmlns:a="http://schemas.openxmlformats.org/drawingml/2006/main" noGrp="1"/>
          </p:cNvSpPr>
          <p:nvPr/>
        </p:nvSpPr>
        <p:spPr>
          <a:xfrm xmlns:a="http://schemas.openxmlformats.org/drawingml/2006/main">
            <a:off x="7905750" y="401955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Review exact terms</a:t>
            </a:r>
          </a:p>
        </p:txBody>
      </p:sp>
      <p:sp>
        <p:nvSpPr>
          <p:cNvPr id="11" name="problem-body-1">
            <a:extLst xmlns:a="http://schemas.openxmlformats.org/drawingml/2006/main">
              <a:ext uri="{FF2B5EF4-FFF2-40B4-BE49-F238E27FC236}">
                <a16:creationId xmlns:a16="http://schemas.microsoft.com/office/drawing/2014/main" id="{6431976A-9D94-46B7-9EE9-6E234B727F82}"/>
              </a:ext>
            </a:extLst>
          </p:cNvPr>
          <p:cNvSpPr>
            <a:spLocks xmlns:a="http://schemas.openxmlformats.org/drawingml/2006/main" noGrp="1"/>
          </p:cNvSpPr>
          <p:nvPr/>
        </p:nvSpPr>
        <p:spPr>
          <a:xfrm xmlns:a="http://schemas.openxmlformats.org/drawingml/2006/main">
            <a:off x="7905750" y="448627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merchant, items, pickup, total and expiry.</a:t>
            </a:r>
          </a:p>
        </p:txBody>
      </p:sp>
      <p:sp>
        <p:nvSpPr>
          <p:cNvPr id="12" name="problem-line-2">
            <a:extLst xmlns:a="http://schemas.openxmlformats.org/drawingml/2006/main">
              <a:ext uri="{FF2B5EF4-FFF2-40B4-BE49-F238E27FC236}">
                <a16:creationId xmlns:a16="http://schemas.microsoft.com/office/drawing/2014/main" id="{5101FF83-153A-4FDA-AF88-2D2B9204F4AA}"/>
              </a:ext>
            </a:extLst>
          </p:cNvPr>
          <p:cNvSpPr>
            <a:spLocks xmlns:a="http://schemas.openxmlformats.org/drawingml/2006/main" noGrp="1"/>
          </p:cNvSpPr>
          <p:nvPr/>
        </p:nvSpPr>
        <p:spPr>
          <a:xfrm xmlns:a="http://schemas.openxmlformats.org/drawingml/2006/main">
            <a:off x="7029450" y="5200650"/>
            <a:ext cx="72390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problem-num-2">
            <a:extLst xmlns:a="http://schemas.openxmlformats.org/drawingml/2006/main">
              <a:ext uri="{FF2B5EF4-FFF2-40B4-BE49-F238E27FC236}">
                <a16:creationId xmlns:a16="http://schemas.microsoft.com/office/drawing/2014/main" id="{ECDCB99E-A360-423B-A36F-EB5A299BE325}"/>
              </a:ext>
            </a:extLst>
          </p:cNvPr>
          <p:cNvSpPr>
            <a:spLocks xmlns:a="http://schemas.openxmlformats.org/drawingml/2006/main" noGrp="1"/>
          </p:cNvSpPr>
          <p:nvPr/>
        </p:nvSpPr>
        <p:spPr>
          <a:xfrm xmlns:a="http://schemas.openxmlformats.org/drawingml/2006/main">
            <a:off x="7029450" y="5400675"/>
            <a:ext cx="685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650" b="1">
                <a:solidFill>
                  <a:srgbClr val="6D7974"/>
                </a:solidFill>
                <a:latin typeface="Menlo"/>
                <a:ea typeface="Menlo"/>
                <a:cs typeface="Menlo"/>
              </a:defRPr>
            </a:pPr>
            <a:r>
              <a:rPr sz="1650" b="1">
                <a:solidFill>
                  <a:srgbClr val="6D7974"/>
                </a:solidFill>
                <a:latin typeface="Menlo"/>
                <a:ea typeface="Menlo"/>
                <a:cs typeface="Menlo"/>
              </a:rPr>
              <a:t>03</a:t>
            </a:r>
          </a:p>
        </p:txBody>
      </p:sp>
      <p:sp>
        <p:nvSpPr>
          <p:cNvPr id="14" name="problem-heading-2">
            <a:extLst xmlns:a="http://schemas.openxmlformats.org/drawingml/2006/main">
              <a:ext uri="{FF2B5EF4-FFF2-40B4-BE49-F238E27FC236}">
                <a16:creationId xmlns:a16="http://schemas.microsoft.com/office/drawing/2014/main" id="{65A5D0AE-23F4-44CE-AAA0-004FA07BB143}"/>
              </a:ext>
            </a:extLst>
          </p:cNvPr>
          <p:cNvSpPr>
            <a:spLocks xmlns:a="http://schemas.openxmlformats.org/drawingml/2006/main" noGrp="1"/>
          </p:cNvSpPr>
          <p:nvPr/>
        </p:nvSpPr>
        <p:spPr>
          <a:xfrm xmlns:a="http://schemas.openxmlformats.org/drawingml/2006/main">
            <a:off x="7905750" y="53721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250" b="1">
                <a:solidFill>
                  <a:srgbClr val="0E4B3B"/>
                </a:solidFill>
                <a:latin typeface="Avenir Next"/>
                <a:ea typeface="Avenir Next"/>
                <a:cs typeface="Avenir Next"/>
              </a:defRPr>
            </a:pPr>
            <a:r>
              <a:rPr sz="2250" b="1">
                <a:solidFill>
                  <a:srgbClr val="0E4B3B"/>
                </a:solidFill>
                <a:latin typeface="Avenir Next"/>
                <a:ea typeface="Avenir Next"/>
                <a:cs typeface="Avenir Next"/>
              </a:rPr>
              <a:t>Confirm once</a:t>
            </a:r>
          </a:p>
        </p:txBody>
      </p:sp>
      <p:sp>
        <p:nvSpPr>
          <p:cNvPr id="15" name="problem-body-2">
            <a:extLst xmlns:a="http://schemas.openxmlformats.org/drawingml/2006/main">
              <a:ext uri="{FF2B5EF4-FFF2-40B4-BE49-F238E27FC236}">
                <a16:creationId xmlns:a16="http://schemas.microsoft.com/office/drawing/2014/main" id="{AFFD3B42-B59D-49D8-984E-64CB04792A63}"/>
              </a:ext>
            </a:extLst>
          </p:cNvPr>
          <p:cNvSpPr>
            <a:spLocks xmlns:a="http://schemas.openxmlformats.org/drawingml/2006/main" noGrp="1"/>
          </p:cNvSpPr>
          <p:nvPr/>
        </p:nvSpPr>
        <p:spPr>
          <a:xfrm xmlns:a="http://schemas.openxmlformats.org/drawingml/2006/main">
            <a:off x="7905750" y="5838825"/>
            <a:ext cx="6191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WORKING — one human click, then a simulated Visa result.</a:t>
            </a:r>
          </a:p>
        </p:txBody>
      </p:sp>
      <p:sp>
        <p:nvSpPr>
          <p:cNvPr id="16" name="footer-label-2">
            <a:extLst xmlns:a="http://schemas.openxmlformats.org/drawingml/2006/main">
              <a:ext uri="{FF2B5EF4-FFF2-40B4-BE49-F238E27FC236}">
                <a16:creationId xmlns:a16="http://schemas.microsoft.com/office/drawing/2014/main" id="{6611CBBE-57D8-4F17-ACC1-D8FE5180BE3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7" name="footer-number-2">
            <a:extLst xmlns:a="http://schemas.openxmlformats.org/drawingml/2006/main">
              <a:ext uri="{FF2B5EF4-FFF2-40B4-BE49-F238E27FC236}">
                <a16:creationId xmlns:a16="http://schemas.microsoft.com/office/drawing/2014/main" id="{2AA90FA9-EF01-40BA-9259-56908DEFC5B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05</a:t>
            </a:r>
          </a:p>
        </p:txBody>
      </p:sp>
    </p:spTree>
    <p:extLst>
      <p:ext uri="{BB962C8B-B14F-4D97-AF65-F5344CB8AC3E}">
        <p14:creationId xmlns:p14="http://schemas.microsoft.com/office/powerpoint/2010/main" val="619982641"/>
      </p:ext>
    </p:extLst>
  </p:cSld>
</p:sld>
</file>

<file path=ppt/slides/slide6.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6" name="eyebrow-Trust you can test">
            <a:extLst xmlns:a="http://schemas.openxmlformats.org/drawingml/2006/main">
              <a:ext uri="{FF2B5EF4-FFF2-40B4-BE49-F238E27FC236}">
                <a16:creationId xmlns:a16="http://schemas.microsoft.com/office/drawing/2014/main" id="{3F058616-CF95-435A-9AE1-BD44D8B01497}"/>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MERCHANT CONTROL</a:t>
            </a:r>
          </a:p>
        </p:txBody>
      </p:sp>
      <p:sp>
        <p:nvSpPr>
          <p:cNvPr id="2" name="title-Autonomy stops where money starts.">
            <a:extLst xmlns:a="http://schemas.openxmlformats.org/drawingml/2006/main">
              <a:ext uri="{FF2B5EF4-FFF2-40B4-BE49-F238E27FC236}">
                <a16:creationId xmlns:a16="http://schemas.microsoft.com/office/drawing/2014/main" id="{DE43C5D3-4F36-4494-B929-E5ECC06287F1}"/>
              </a:ext>
            </a:extLst>
          </p:cNvPr>
          <p:cNvSpPr>
            <a:spLocks xmlns:a="http://schemas.openxmlformats.org/drawingml/2006/main" noGrp="1"/>
          </p:cNvSpPr>
          <p:nvPr/>
        </p:nvSpPr>
        <p:spPr>
          <a:xfrm xmlns:a="http://schemas.openxmlformats.org/drawingml/2006/main">
            <a:off x="838200" y="990600"/>
            <a:ext cx="12763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FFFFFF"/>
                </a:solidFill>
                <a:latin typeface="Georgia"/>
                <a:ea typeface="Georgia"/>
                <a:cs typeface="Georgia"/>
              </a:defRPr>
            </a:pPr>
            <a:r>
              <a:rPr sz="4650" b="1">
                <a:solidFill>
                  <a:srgbClr val="FFFFFF"/>
                </a:solidFill>
                <a:latin typeface="Georgia"/>
                <a:ea typeface="Georgia"/>
                <a:cs typeface="Georgia"/>
              </a:rPr>
              <a:t>Merchants control what the AI can sell.</a:t>
            </a:r>
          </a:p>
        </p:txBody>
      </p:sp>
      <p:sp>
        <p:nvSpPr>
          <p:cNvPr id="3" name="trust-label-0">
            <a:extLst xmlns:a="http://schemas.openxmlformats.org/drawingml/2006/main">
              <a:ext uri="{FF2B5EF4-FFF2-40B4-BE49-F238E27FC236}">
                <a16:creationId xmlns:a16="http://schemas.microsoft.com/office/drawing/2014/main" id="{D041F315-B888-4E6D-A7D1-CDA440438728}"/>
              </a:ext>
            </a:extLst>
          </p:cNvPr>
          <p:cNvSpPr>
            <a:spLocks xmlns:a="http://schemas.openxmlformats.org/drawingml/2006/main" noGrp="1"/>
          </p:cNvSpPr>
          <p:nvPr/>
        </p:nvSpPr>
        <p:spPr>
          <a:xfrm xmlns:a="http://schemas.openxmlformats.org/drawingml/2006/main">
            <a:off x="838200" y="26479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CATALOGUE</a:t>
            </a:r>
          </a:p>
        </p:txBody>
      </p:sp>
      <p:sp>
        <p:nvSpPr>
          <p:cNvPr id="4" name="trust-result-0">
            <a:extLst xmlns:a="http://schemas.openxmlformats.org/drawingml/2006/main">
              <a:ext uri="{FF2B5EF4-FFF2-40B4-BE49-F238E27FC236}">
                <a16:creationId xmlns:a16="http://schemas.microsoft.com/office/drawing/2014/main" id="{9DB51D62-485A-4145-954A-9CB3FA9EC1C1}"/>
              </a:ext>
            </a:extLst>
          </p:cNvPr>
          <p:cNvSpPr>
            <a:spLocks xmlns:a="http://schemas.openxmlformats.org/drawingml/2006/main" noGrp="1"/>
          </p:cNvSpPr>
          <p:nvPr/>
        </p:nvSpPr>
        <p:spPr>
          <a:xfrm xmlns:a="http://schemas.openxmlformats.org/drawingml/2006/main">
            <a:off x="838200" y="29432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Import validated inventory</a:t>
            </a:r>
          </a:p>
        </p:txBody>
      </p:sp>
      <p:sp>
        <p:nvSpPr>
          <p:cNvPr id="5" name="trust-label-1">
            <a:extLst xmlns:a="http://schemas.openxmlformats.org/drawingml/2006/main">
              <a:ext uri="{FF2B5EF4-FFF2-40B4-BE49-F238E27FC236}">
                <a16:creationId xmlns:a16="http://schemas.microsoft.com/office/drawing/2014/main" id="{6273882A-17B1-47E9-B063-9AE6CDF7B15B}"/>
              </a:ext>
            </a:extLst>
          </p:cNvPr>
          <p:cNvSpPr>
            <a:spLocks xmlns:a="http://schemas.openxmlformats.org/drawingml/2006/main" noGrp="1"/>
          </p:cNvSpPr>
          <p:nvPr/>
        </p:nvSpPr>
        <p:spPr>
          <a:xfrm xmlns:a="http://schemas.openxmlformats.org/drawingml/2006/main">
            <a:off x="838200" y="36766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PRICE + STOCK</a:t>
            </a:r>
          </a:p>
        </p:txBody>
      </p:sp>
      <p:sp>
        <p:nvSpPr>
          <p:cNvPr id="6" name="trust-result-1">
            <a:extLst xmlns:a="http://schemas.openxmlformats.org/drawingml/2006/main">
              <a:ext uri="{FF2B5EF4-FFF2-40B4-BE49-F238E27FC236}">
                <a16:creationId xmlns:a16="http://schemas.microsoft.com/office/drawing/2014/main" id="{F162B87C-715A-459A-B00C-31141FB34338}"/>
              </a:ext>
            </a:extLst>
          </p:cNvPr>
          <p:cNvSpPr>
            <a:spLocks xmlns:a="http://schemas.openxmlformats.org/drawingml/2006/main" noGrp="1"/>
          </p:cNvSpPr>
          <p:nvPr/>
        </p:nvSpPr>
        <p:spPr>
          <a:xfrm xmlns:a="http://schemas.openxmlformats.org/drawingml/2006/main">
            <a:off x="838200" y="39719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Update availability in seconds</a:t>
            </a:r>
          </a:p>
        </p:txBody>
      </p:sp>
      <p:sp>
        <p:nvSpPr>
          <p:cNvPr id="7" name="trust-label-2">
            <a:extLst xmlns:a="http://schemas.openxmlformats.org/drawingml/2006/main">
              <a:ext uri="{FF2B5EF4-FFF2-40B4-BE49-F238E27FC236}">
                <a16:creationId xmlns:a16="http://schemas.microsoft.com/office/drawing/2014/main" id="{C4B81856-03B7-4C6F-8BE0-20567A559FA6}"/>
              </a:ext>
            </a:extLst>
          </p:cNvPr>
          <p:cNvSpPr>
            <a:spLocks xmlns:a="http://schemas.openxmlformats.org/drawingml/2006/main" noGrp="1"/>
          </p:cNvSpPr>
          <p:nvPr/>
        </p:nvSpPr>
        <p:spPr>
          <a:xfrm xmlns:a="http://schemas.openxmlformats.org/drawingml/2006/main">
            <a:off x="838200" y="47053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ORDERS</a:t>
            </a:r>
          </a:p>
        </p:txBody>
      </p:sp>
      <p:sp>
        <p:nvSpPr>
          <p:cNvPr id="8" name="trust-result-2">
            <a:extLst xmlns:a="http://schemas.openxmlformats.org/drawingml/2006/main">
              <a:ext uri="{FF2B5EF4-FFF2-40B4-BE49-F238E27FC236}">
                <a16:creationId xmlns:a16="http://schemas.microsoft.com/office/drawing/2014/main" id="{4710E187-A73B-458B-9E26-75865D8C4963}"/>
              </a:ext>
            </a:extLst>
          </p:cNvPr>
          <p:cNvSpPr>
            <a:spLocks xmlns:a="http://schemas.openxmlformats.org/drawingml/2006/main" noGrp="1"/>
          </p:cNvSpPr>
          <p:nvPr/>
        </p:nvSpPr>
        <p:spPr>
          <a:xfrm xmlns:a="http://schemas.openxmlformats.org/drawingml/2006/main">
            <a:off x="838200" y="50006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Receive exact confirmed orders</a:t>
            </a:r>
          </a:p>
        </p:txBody>
      </p:sp>
      <p:sp>
        <p:nvSpPr>
          <p:cNvPr id="9" name="trust-label-3">
            <a:extLst xmlns:a="http://schemas.openxmlformats.org/drawingml/2006/main">
              <a:ext uri="{FF2B5EF4-FFF2-40B4-BE49-F238E27FC236}">
                <a16:creationId xmlns:a16="http://schemas.microsoft.com/office/drawing/2014/main" id="{8447503C-1BBD-48B3-8538-611E1FF67E77}"/>
              </a:ext>
            </a:extLst>
          </p:cNvPr>
          <p:cNvSpPr>
            <a:spLocks xmlns:a="http://schemas.openxmlformats.org/drawingml/2006/main" noGrp="1"/>
          </p:cNvSpPr>
          <p:nvPr/>
        </p:nvSpPr>
        <p:spPr>
          <a:xfrm xmlns:a="http://schemas.openxmlformats.org/drawingml/2006/main">
            <a:off x="838200" y="5734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125" b="1">
                <a:solidFill>
                  <a:srgbClr val="B7F522"/>
                </a:solidFill>
                <a:latin typeface="Menlo"/>
                <a:ea typeface="Menlo"/>
                <a:cs typeface="Menlo"/>
              </a:defRPr>
            </a:pPr>
            <a:r>
              <a:rPr sz="1125" b="1">
                <a:solidFill>
                  <a:srgbClr val="B7F522"/>
                </a:solidFill>
                <a:latin typeface="Menlo"/>
                <a:ea typeface="Menlo"/>
                <a:cs typeface="Menlo"/>
              </a:rPr>
              <a:t>AUDIT</a:t>
            </a:r>
          </a:p>
        </p:txBody>
      </p:sp>
      <p:sp>
        <p:nvSpPr>
          <p:cNvPr id="10" name="trust-result-3">
            <a:extLst xmlns:a="http://schemas.openxmlformats.org/drawingml/2006/main">
              <a:ext uri="{FF2B5EF4-FFF2-40B4-BE49-F238E27FC236}">
                <a16:creationId xmlns:a16="http://schemas.microsoft.com/office/drawing/2014/main" id="{8AB19497-155D-432D-8278-3D6F1A1EE437}"/>
              </a:ext>
            </a:extLst>
          </p:cNvPr>
          <p:cNvSpPr>
            <a:spLocks xmlns:a="http://schemas.openxmlformats.org/drawingml/2006/main" noGrp="1"/>
          </p:cNvSpPr>
          <p:nvPr/>
        </p:nvSpPr>
        <p:spPr>
          <a:xfrm xmlns:a="http://schemas.openxmlformats.org/drawingml/2006/main">
            <a:off x="838200" y="6029325"/>
            <a:ext cx="3524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2025" b="1">
                <a:solidFill>
                  <a:srgbClr val="FFFFFF"/>
                </a:solidFill>
                <a:latin typeface="Avenir Next"/>
                <a:ea typeface="Avenir Next"/>
                <a:cs typeface="Avenir Next"/>
              </a:defRPr>
            </a:pPr>
            <a:r>
              <a:rPr sz="2025" b="1">
                <a:solidFill>
                  <a:srgbClr val="FFFFFF"/>
                </a:solidFill>
                <a:latin typeface="Avenir Next"/>
                <a:ea typeface="Avenir Next"/>
                <a:cs typeface="Avenir Next"/>
              </a:rPr>
              <a:t>Inspect every action</a:t>
            </a:r>
          </a:p>
        </p:txBody>
      </p:sp>
      <p:sp>
        <p:nvSpPr>
          <p:cNvPr id="11" name="Woven merchant operations desk with inventory and failure scenarios-backplate">
            <a:extLst xmlns:a="http://schemas.openxmlformats.org/drawingml/2006/main">
              <a:ext uri="{FF2B5EF4-FFF2-40B4-BE49-F238E27FC236}">
                <a16:creationId xmlns:a16="http://schemas.microsoft.com/office/drawing/2014/main" id="{EF59AED9-65B8-4527-8126-6B9C87CB4BB9}"/>
              </a:ext>
            </a:extLst>
          </p:cNvPr>
          <p:cNvSpPr>
            <a:spLocks xmlns:a="http://schemas.openxmlformats.org/drawingml/2006/main" noGrp="1"/>
          </p:cNvSpPr>
          <p:nvPr/>
        </p:nvSpPr>
        <p:spPr>
          <a:xfrm xmlns:a="http://schemas.openxmlformats.org/drawingml/2006/main">
            <a:off x="4762500" y="2247900"/>
            <a:ext cx="9525000" cy="5438775"/>
          </a:xfrm>
          <a:prstGeom xmlns:a="http://schemas.openxmlformats.org/drawingml/2006/main" prst="roundRect">
            <a:avLst>
              <a:gd name="adj" fmla="val 4203"/>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a2ccd8e92fed4c21"/>
          <a:stretch xmlns:a="http://schemas.openxmlformats.org/drawingml/2006/main"/>
        </p:blipFill>
        <p:spPr>
          <a:xfrm xmlns:a="http://schemas.openxmlformats.org/drawingml/2006/main" flipH="0" flipV="0">
            <a:off x="4859867" y="2343150"/>
            <a:ext cx="9330267" cy="5248275"/>
          </a:xfrm>
          <a:prstGeom xmlns:a="http://schemas.openxmlformats.org/drawingml/2006/main" prst="roundRect">
            <a:avLst/>
          </a:prstGeom>
        </p:spPr>
      </p:pic>
      <p:sp>
        <p:nvSpPr>
          <p:cNvPr id="13" name="trust-footnote">
            <a:extLst xmlns:a="http://schemas.openxmlformats.org/drawingml/2006/main">
              <a:ext uri="{FF2B5EF4-FFF2-40B4-BE49-F238E27FC236}">
                <a16:creationId xmlns:a16="http://schemas.microsoft.com/office/drawing/2014/main" id="{DCBEF5DD-5567-4EF5-B8A2-D085501EF181}"/>
              </a:ext>
            </a:extLst>
          </p:cNvPr>
          <p:cNvSpPr>
            <a:spLocks xmlns:a="http://schemas.openxmlformats.org/drawingml/2006/main" noGrp="1"/>
          </p:cNvSpPr>
          <p:nvPr/>
        </p:nvSpPr>
        <p:spPr>
          <a:xfrm xmlns:a="http://schemas.openxmlformats.org/drawingml/2006/main">
            <a:off x="838200" y="7086600"/>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SEEDED DEMO DATA · WORKING CONTROL DESK</a:t>
            </a:r>
          </a:p>
          <a:p xmlns:a="http://schemas.openxmlformats.org/drawingml/2006/main">
            <a:pPr>
              <a:lnSpc>
                <a:spcPct val="115000"/>
              </a:lnSpc>
              <a:buNone/>
              <a:defRPr sz="1050" b="1">
                <a:solidFill>
                  <a:srgbClr val="DCECE5"/>
                </a:solidFill>
                <a:latin typeface="Menlo"/>
                <a:ea typeface="Menlo"/>
                <a:cs typeface="Menlo"/>
              </a:defRPr>
            </a:pPr>
            <a:r>
              <a:rPr sz="1050" b="1">
                <a:solidFill>
                  <a:srgbClr val="DCECE5"/>
                </a:solidFill>
                <a:latin typeface="Menlo"/>
                <a:ea typeface="Menlo"/>
                <a:cs typeface="Menlo"/>
              </a:rPr>
              <a:t>DECLINE + REVERSAL SCENARIOS · NO LIVE RAIL</a:t>
            </a:r>
          </a:p>
        </p:txBody>
      </p:sp>
      <p:sp>
        <p:nvSpPr>
          <p:cNvPr id="14" name="footer-label-7">
            <a:extLst xmlns:a="http://schemas.openxmlformats.org/drawingml/2006/main">
              <a:ext uri="{FF2B5EF4-FFF2-40B4-BE49-F238E27FC236}">
                <a16:creationId xmlns:a16="http://schemas.microsoft.com/office/drawing/2014/main" id="{D1CEC107-8456-466A-976F-F8A491F8F0D9}"/>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15" name="footer-number-7">
            <a:extLst xmlns:a="http://schemas.openxmlformats.org/drawingml/2006/main">
              <a:ext uri="{FF2B5EF4-FFF2-40B4-BE49-F238E27FC236}">
                <a16:creationId xmlns:a16="http://schemas.microsoft.com/office/drawing/2014/main" id="{C71BD092-E5FA-4867-9F30-E72953CEA489}"/>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06</a:t>
            </a:r>
          </a:p>
        </p:txBody>
      </p:sp>
    </p:spTree>
    <p:extLst>
      <p:ext uri="{BB962C8B-B14F-4D97-AF65-F5344CB8AC3E}">
        <p14:creationId xmlns:p14="http://schemas.microsoft.com/office/powerpoint/2010/main" val="1014882248"/>
      </p:ext>
    </p:extLst>
  </p:cSld>
</p:sld>
</file>

<file path=ppt/slides/slide7.xml><?xml version="1.0" encoding="utf-8"?>
<p:sld xmlns:p="http://schemas.openxmlformats.org/presentationml/2006/main">
  <p:cSld>
    <p:bg>
      <p:bgPr>
        <a:solidFill xmlns:a="http://schemas.openxmlformats.org/drawingml/2006/main">
          <a:srgbClr val="0E4B3B"/>
        </a:solidFill>
      </p:bgPr>
    </p:bg>
    <p:spTree>
      <p:nvGrpSpPr>
        <p:cNvPr id="1" name=""/>
        <p:cNvGrpSpPr/>
        <p:nvPr/>
      </p:nvGrpSpPr>
      <p:grpSpPr>
        <a:xfrm xmlns:a="http://schemas.openxmlformats.org/drawingml/2006/main"/>
      </p:grpSpPr>
      <p:sp>
        <p:nvSpPr>
          <p:cNvPr id="10" name="eyebrow-The takeaway">
            <a:extLst xmlns:a="http://schemas.openxmlformats.org/drawingml/2006/main">
              <a:ext uri="{FF2B5EF4-FFF2-40B4-BE49-F238E27FC236}">
                <a16:creationId xmlns:a16="http://schemas.microsoft.com/office/drawing/2014/main" id="{127A4371-AA64-41B4-BB82-2074B9A226A8}"/>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B7F522"/>
                </a:solidFill>
                <a:latin typeface="Menlo"/>
                <a:ea typeface="Menlo"/>
                <a:cs typeface="Menlo"/>
              </a:defRPr>
            </a:pPr>
            <a:r>
              <a:rPr sz="1350" b="1">
                <a:solidFill>
                  <a:srgbClr val="B7F522"/>
                </a:solidFill>
                <a:latin typeface="Menlo"/>
                <a:ea typeface="Menlo"/>
                <a:cs typeface="Menlo"/>
              </a:rPr>
              <a:t>THE TAKEAWAY</a:t>
            </a:r>
          </a:p>
        </p:txBody>
      </p:sp>
      <p:sp>
        <p:nvSpPr>
          <p:cNvPr id="2" name="closing-title">
            <a:extLst xmlns:a="http://schemas.openxmlformats.org/drawingml/2006/main">
              <a:ext uri="{FF2B5EF4-FFF2-40B4-BE49-F238E27FC236}">
                <a16:creationId xmlns:a16="http://schemas.microsoft.com/office/drawing/2014/main" id="{96611E61-644B-4FDB-B197-448F38D56EC2}"/>
              </a:ext>
            </a:extLst>
          </p:cNvPr>
          <p:cNvSpPr>
            <a:spLocks xmlns:a="http://schemas.openxmlformats.org/drawingml/2006/main" noGrp="1"/>
          </p:cNvSpPr>
          <p:nvPr/>
        </p:nvSpPr>
        <p:spPr>
          <a:xfrm xmlns:a="http://schemas.openxmlformats.org/drawingml/2006/main">
            <a:off x="838200" y="1314450"/>
            <a:ext cx="6572250" cy="2533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The checkout belongs</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where the request</a:t>
            </a:r>
          </a:p>
          <a:p xmlns:a="http://schemas.openxmlformats.org/drawingml/2006/main">
            <a:pPr>
              <a:lnSpc>
                <a:spcPct val="94000"/>
              </a:lnSpc>
              <a:buNone/>
              <a:defRPr sz="4200" b="1">
                <a:solidFill>
                  <a:srgbClr val="FFFFFF"/>
                </a:solidFill>
                <a:latin typeface="Georgia"/>
                <a:ea typeface="Georgia"/>
                <a:cs typeface="Georgia"/>
              </a:defRPr>
            </a:pPr>
            <a:r>
              <a:rPr sz="4200" b="1">
                <a:solidFill>
                  <a:srgbClr val="FFFFFF"/>
                </a:solidFill>
                <a:latin typeface="Georgia"/>
                <a:ea typeface="Georgia"/>
                <a:cs typeface="Georgia"/>
              </a:rPr>
              <a:t>begins.</a:t>
            </a:r>
          </a:p>
        </p:txBody>
      </p:sp>
      <p:sp>
        <p:nvSpPr>
          <p:cNvPr id="3" name="closing-tagline">
            <a:extLst xmlns:a="http://schemas.openxmlformats.org/drawingml/2006/main">
              <a:ext uri="{FF2B5EF4-FFF2-40B4-BE49-F238E27FC236}">
                <a16:creationId xmlns:a16="http://schemas.microsoft.com/office/drawing/2014/main" id="{6EC2DC6F-0A7B-4F6E-BD30-C7C0CF8409EC}"/>
              </a:ext>
            </a:extLst>
          </p:cNvPr>
          <p:cNvSpPr>
            <a:spLocks xmlns:a="http://schemas.openxmlformats.org/drawingml/2006/main" noGrp="1"/>
          </p:cNvSpPr>
          <p:nvPr/>
        </p:nvSpPr>
        <p:spPr>
          <a:xfrm xmlns:a="http://schemas.openxmlformats.org/drawingml/2006/main">
            <a:off x="838200" y="4438650"/>
            <a:ext cx="6572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08000"/>
              </a:lnSpc>
              <a:buNone/>
              <a:defRPr sz="2100" b="1">
                <a:solidFill>
                  <a:srgbClr val="B7F522"/>
                </a:solidFill>
                <a:latin typeface="Avenir Next"/>
                <a:ea typeface="Avenir Next"/>
                <a:cs typeface="Avenir Next"/>
              </a:defRPr>
            </a:pPr>
            <a:r>
              <a:rPr sz="2100" b="1">
                <a:solidFill>
                  <a:srgbClr val="B7F522"/>
                </a:solidFill>
                <a:latin typeface="Avenir Next"/>
                <a:ea typeface="Avenir Next"/>
                <a:cs typeface="Avenir Next"/>
              </a:rPr>
              <a:t>Ask once. Review once. Confirm once.</a:t>
            </a:r>
          </a:p>
        </p:txBody>
      </p:sp>
      <p:sp>
        <p:nvSpPr>
          <p:cNvPr id="4" name="closing-triad">
            <a:extLst xmlns:a="http://schemas.openxmlformats.org/drawingml/2006/main">
              <a:ext uri="{FF2B5EF4-FFF2-40B4-BE49-F238E27FC236}">
                <a16:creationId xmlns:a16="http://schemas.microsoft.com/office/drawing/2014/main" id="{72F89658-D2BF-4658-B511-4AA10AF9E935}"/>
              </a:ext>
            </a:extLst>
          </p:cNvPr>
          <p:cNvSpPr>
            <a:spLocks xmlns:a="http://schemas.openxmlformats.org/drawingml/2006/main" noGrp="1"/>
          </p:cNvSpPr>
          <p:nvPr/>
        </p:nvSpPr>
        <p:spPr>
          <a:xfrm xmlns:a="http://schemas.openxmlformats.org/drawingml/2006/main">
            <a:off x="838200" y="5810250"/>
            <a:ext cx="5334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ChatGPT understands.</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Woven builds the right cart.</a:t>
            </a:r>
          </a:p>
          <a:p xmlns:a="http://schemas.openxmlformats.org/drawingml/2006/main">
            <a:pPr>
              <a:lnSpc>
                <a:spcPct val="118000"/>
              </a:lnSpc>
              <a:buNone/>
              <a:defRPr sz="2025" b="1">
                <a:solidFill>
                  <a:srgbClr val="DCECE5"/>
                </a:solidFill>
                <a:latin typeface="Menlo"/>
                <a:ea typeface="Menlo"/>
                <a:cs typeface="Menlo"/>
              </a:defRPr>
            </a:pPr>
            <a:r>
              <a:rPr sz="2025" b="1">
                <a:solidFill>
                  <a:srgbClr val="DCECE5"/>
                </a:solidFill>
                <a:latin typeface="Menlo"/>
                <a:ea typeface="Menlo"/>
                <a:cs typeface="Menlo"/>
              </a:rPr>
              <a:t>The user controls authorization.</a:t>
            </a:r>
          </a:p>
        </p:txBody>
      </p:sp>
      <p:sp>
        <p:nvSpPr>
          <p:cNvPr id="5" name="Woven simulated authorization result and pickup receipt-backplate">
            <a:extLst xmlns:a="http://schemas.openxmlformats.org/drawingml/2006/main">
              <a:ext uri="{FF2B5EF4-FFF2-40B4-BE49-F238E27FC236}">
                <a16:creationId xmlns:a16="http://schemas.microsoft.com/office/drawing/2014/main" id="{6657EEA8-CC04-4F82-BABF-52A8AB7EB24E}"/>
              </a:ext>
            </a:extLst>
          </p:cNvPr>
          <p:cNvSpPr>
            <a:spLocks xmlns:a="http://schemas.openxmlformats.org/drawingml/2006/main" noGrp="1"/>
          </p:cNvSpPr>
          <p:nvPr/>
        </p:nvSpPr>
        <p:spPr>
          <a:xfrm xmlns:a="http://schemas.openxmlformats.org/drawingml/2006/main">
            <a:off x="7620000" y="2381250"/>
            <a:ext cx="6858000" cy="3943350"/>
          </a:xfrm>
          <a:prstGeom xmlns:a="http://schemas.openxmlformats.org/drawingml/2006/main" prst="roundRect">
            <a:avLst>
              <a:gd name="adj" fmla="val 5797"/>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4b6b5bc752e42e0"/>
          <a:stretch xmlns:a="http://schemas.openxmlformats.org/drawingml/2006/main"/>
        </p:blipFill>
        <p:spPr>
          <a:xfrm xmlns:a="http://schemas.openxmlformats.org/drawingml/2006/main" flipH="0" flipV="0">
            <a:off x="7715250" y="2477691"/>
            <a:ext cx="6667500" cy="3750469"/>
          </a:xfrm>
          <a:prstGeom xmlns:a="http://schemas.openxmlformats.org/drawingml/2006/main" prst="roundRect">
            <a:avLst/>
          </a:prstGeom>
        </p:spPr>
      </p:pic>
      <p:sp>
        <p:nvSpPr>
          <p:cNvPr id="7" name="closing-boundary">
            <a:extLst xmlns:a="http://schemas.openxmlformats.org/drawingml/2006/main">
              <a:ext uri="{FF2B5EF4-FFF2-40B4-BE49-F238E27FC236}">
                <a16:creationId xmlns:a16="http://schemas.microsoft.com/office/drawing/2014/main" id="{F366E3E1-58EC-4B9E-85AC-84B9FDF83536}"/>
              </a:ext>
            </a:extLst>
          </p:cNvPr>
          <p:cNvSpPr>
            <a:spLocks xmlns:a="http://schemas.openxmlformats.org/drawingml/2006/main" noGrp="1"/>
          </p:cNvSpPr>
          <p:nvPr/>
        </p:nvSpPr>
        <p:spPr>
          <a:xfrm xmlns:a="http://schemas.openxmlformats.org/drawingml/2006/main">
            <a:off x="8401050" y="6572250"/>
            <a:ext cx="533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00" b="1">
                <a:solidFill>
                  <a:srgbClr val="B7F522"/>
                </a:solidFill>
                <a:latin typeface="Menlo"/>
                <a:ea typeface="Menlo"/>
                <a:cs typeface="Menlo"/>
              </a:defRPr>
            </a:pPr>
            <a:r>
              <a:rPr sz="1200" b="1">
                <a:solidFill>
                  <a:srgbClr val="B7F522"/>
                </a:solidFill>
                <a:latin typeface="Menlo"/>
                <a:ea typeface="Menlo"/>
                <a:cs typeface="Menlo"/>
              </a:rPr>
              <a:t>IDENTITY DIRECTION + VISA RESULT · CLEARLY SIMULATED</a:t>
            </a:r>
          </a:p>
        </p:txBody>
      </p:sp>
      <p:sp>
        <p:nvSpPr>
          <p:cNvPr id="8" name="footer-label-9">
            <a:extLst xmlns:a="http://schemas.openxmlformats.org/drawingml/2006/main">
              <a:ext uri="{FF2B5EF4-FFF2-40B4-BE49-F238E27FC236}">
                <a16:creationId xmlns:a16="http://schemas.microsoft.com/office/drawing/2014/main" id="{D2647B79-80DB-4F8E-8A2F-05922DDDED74}"/>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DCECE5"/>
                </a:solidFill>
                <a:latin typeface="Menlo"/>
                <a:ea typeface="Menlo"/>
                <a:cs typeface="Menlo"/>
              </a:defRPr>
            </a:pPr>
            <a:r>
              <a:rPr sz="1200" b="1">
                <a:solidFill>
                  <a:srgbClr val="DCECE5"/>
                </a:solidFill>
                <a:latin typeface="Menlo"/>
                <a:ea typeface="Menlo"/>
                <a:cs typeface="Menlo"/>
              </a:rPr>
              <a:t>WOVEN  /  LIFEHACK 2026</a:t>
            </a:r>
          </a:p>
        </p:txBody>
      </p:sp>
      <p:sp>
        <p:nvSpPr>
          <p:cNvPr id="9" name="footer-number-9">
            <a:extLst xmlns:a="http://schemas.openxmlformats.org/drawingml/2006/main">
              <a:ext uri="{FF2B5EF4-FFF2-40B4-BE49-F238E27FC236}">
                <a16:creationId xmlns:a16="http://schemas.microsoft.com/office/drawing/2014/main" id="{62445167-1406-4B61-A1CF-80F49583F03F}"/>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DCECE5"/>
                </a:solidFill>
                <a:latin typeface="Menlo"/>
                <a:ea typeface="Menlo"/>
                <a:cs typeface="Menlo"/>
              </a:defRPr>
            </a:pPr>
            <a:r>
              <a:rPr sz="1350" b="1">
                <a:solidFill>
                  <a:srgbClr val="DCECE5"/>
                </a:solidFill>
                <a:latin typeface="Menlo"/>
                <a:ea typeface="Menlo"/>
                <a:cs typeface="Menlo"/>
              </a:rPr>
              <a:t>07</a:t>
            </a:r>
          </a:p>
        </p:txBody>
      </p:sp>
    </p:spTree>
    <p:extLst>
      <p:ext uri="{BB962C8B-B14F-4D97-AF65-F5344CB8AC3E}">
        <p14:creationId xmlns:p14="http://schemas.microsoft.com/office/powerpoint/2010/main" val="1060689594"/>
      </p:ext>
    </p:extLst>
  </p:cSld>
</p:sld>
</file>

<file path=ppt/slides/slide8.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REAL</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working prototype already completes the core journey.</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Cart engine</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Complete one-merchant carts.
Compatibility · budget · pickup.</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Checkout control</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Expiring exact terms.
Direct confirmation · idempotency.</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Merchant operations</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Inventory · scenarios · orders.
Audit trail.</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MCP APP + REACT UI · SEEDED DATA · SIMULATED PAYMENT</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08</a:t>
            </a:r>
          </a:p>
        </p:txBody>
      </p:sp>
    </p:spTree>
    <p:extLst>
      <p:ext uri="{BB962C8B-B14F-4D97-AF65-F5344CB8AC3E}">
        <p14:creationId xmlns:p14="http://schemas.microsoft.com/office/powerpoint/2010/main" val="1578701116"/>
      </p:ext>
    </p:extLst>
  </p:cSld>
</p:sld>
</file>

<file path=ppt/slides/slide9.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9" name="eyebrow-Merchant access and scale">
            <a:extLst xmlns:a="http://schemas.openxmlformats.org/drawingml/2006/main">
              <a:ext uri="{FF2B5EF4-FFF2-40B4-BE49-F238E27FC236}">
                <a16:creationId xmlns:a16="http://schemas.microsoft.com/office/drawing/2014/main" id="{45608E1F-4AAA-4FB7-BC67-CDD26807E062}"/>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WHAT IS SIMULATED</a:t>
            </a:r>
          </a:p>
        </p:txBody>
      </p:sp>
      <p:sp>
        <p:nvSpPr>
          <p:cNvPr id="2" name="title-Merchants connect commerce once. Woven handles the conversation.">
            <a:extLst xmlns:a="http://schemas.openxmlformats.org/drawingml/2006/main">
              <a:ext uri="{FF2B5EF4-FFF2-40B4-BE49-F238E27FC236}">
                <a16:creationId xmlns:a16="http://schemas.microsoft.com/office/drawing/2014/main" id="{092C5D01-8197-4D10-8BE3-3B03DD3DF7BC}"/>
              </a:ext>
            </a:extLst>
          </p:cNvPr>
          <p:cNvSpPr>
            <a:spLocks xmlns:a="http://schemas.openxmlformats.org/drawingml/2006/main" noGrp="1"/>
          </p:cNvSpPr>
          <p:nvPr/>
        </p:nvSpPr>
        <p:spPr>
          <a:xfrm xmlns:a="http://schemas.openxmlformats.org/drawingml/2006/main">
            <a:off x="838200" y="990600"/>
            <a:ext cx="1362075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The prototype never claims live identity, inventory or payments.</a:t>
            </a:r>
          </a:p>
        </p:txBody>
      </p:sp>
      <p:sp>
        <p:nvSpPr>
          <p:cNvPr id="3" name="scale-number-0">
            <a:extLst xmlns:a="http://schemas.openxmlformats.org/drawingml/2006/main">
              <a:ext uri="{FF2B5EF4-FFF2-40B4-BE49-F238E27FC236}">
                <a16:creationId xmlns:a16="http://schemas.microsoft.com/office/drawing/2014/main" id="{BD9CC34B-FE98-411F-90C6-63673C207103}"/>
              </a:ext>
            </a:extLst>
          </p:cNvPr>
          <p:cNvSpPr>
            <a:spLocks xmlns:a="http://schemas.openxmlformats.org/drawingml/2006/main" noGrp="1"/>
          </p:cNvSpPr>
          <p:nvPr/>
        </p:nvSpPr>
        <p:spPr>
          <a:xfrm xmlns:a="http://schemas.openxmlformats.org/drawingml/2006/main">
            <a:off x="838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01</a:t>
            </a:r>
          </a:p>
        </p:txBody>
      </p:sp>
      <p:sp>
        <p:nvSpPr>
          <p:cNvPr id="4" name="scale-line-0">
            <a:extLst xmlns:a="http://schemas.openxmlformats.org/drawingml/2006/main">
              <a:ext uri="{FF2B5EF4-FFF2-40B4-BE49-F238E27FC236}">
                <a16:creationId xmlns:a16="http://schemas.microsoft.com/office/drawing/2014/main" id="{8020E27B-8543-4CD1-842D-6418530300E7}"/>
              </a:ext>
            </a:extLst>
          </p:cNvPr>
          <p:cNvSpPr>
            <a:spLocks xmlns:a="http://schemas.openxmlformats.org/drawingml/2006/main" noGrp="1"/>
          </p:cNvSpPr>
          <p:nvPr/>
        </p:nvSpPr>
        <p:spPr>
          <a:xfrm xmlns:a="http://schemas.openxmlformats.org/drawingml/2006/main">
            <a:off x="838200" y="3600450"/>
            <a:ext cx="4000500" cy="0"/>
          </a:xfrm>
          <a:prstGeom xmlns:a="http://schemas.openxmlformats.org/drawingml/2006/main" prst="line">
            <a:avLst/>
          </a:prstGeom>
          <a:noFill xmlns:a="http://schemas.openxmlformats.org/drawingml/2006/main"/>
          <a:ln xmlns:a="http://schemas.openxmlformats.org/drawingml/2006/main" w="57150">
            <a:solidFill>
              <a:srgbClr val="B7F522"/>
            </a:solidFill>
            <a:prstDash val="solid"/>
          </a:ln>
        </p:spPr>
      </p:sp>
      <p:sp>
        <p:nvSpPr>
          <p:cNvPr id="5" name="scale-heading-0">
            <a:extLst xmlns:a="http://schemas.openxmlformats.org/drawingml/2006/main">
              <a:ext uri="{FF2B5EF4-FFF2-40B4-BE49-F238E27FC236}">
                <a16:creationId xmlns:a16="http://schemas.microsoft.com/office/drawing/2014/main" id="{8F92E23D-A432-42BD-9333-22DC4085330E}"/>
              </a:ext>
            </a:extLst>
          </p:cNvPr>
          <p:cNvSpPr>
            <a:spLocks xmlns:a="http://schemas.openxmlformats.org/drawingml/2006/main" noGrp="1"/>
          </p:cNvSpPr>
          <p:nvPr/>
        </p:nvSpPr>
        <p:spPr>
          <a:xfrm xmlns:a="http://schemas.openxmlformats.org/drawingml/2006/main">
            <a:off x="838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Demo data</a:t>
            </a:r>
          </a:p>
        </p:txBody>
      </p:sp>
      <p:sp>
        <p:nvSpPr>
          <p:cNvPr id="6" name="scale-body-0">
            <a:extLst xmlns:a="http://schemas.openxmlformats.org/drawingml/2006/main">
              <a:ext uri="{FF2B5EF4-FFF2-40B4-BE49-F238E27FC236}">
                <a16:creationId xmlns:a16="http://schemas.microsoft.com/office/drawing/2014/main" id="{7804FC9D-8D9A-4950-BAE7-1823E6AE21F0}"/>
              </a:ext>
            </a:extLst>
          </p:cNvPr>
          <p:cNvSpPr>
            <a:spLocks xmlns:a="http://schemas.openxmlformats.org/drawingml/2006/main" noGrp="1"/>
          </p:cNvSpPr>
          <p:nvPr/>
        </p:nvSpPr>
        <p:spPr>
          <a:xfrm xmlns:a="http://schemas.openxmlformats.org/drawingml/2006/main">
            <a:off x="838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Seeded merchant inventory
and pickup estimates.</a:t>
            </a:r>
          </a:p>
        </p:txBody>
      </p:sp>
      <p:sp>
        <p:nvSpPr>
          <p:cNvPr id="7" name="scale-number-1">
            <a:extLst xmlns:a="http://schemas.openxmlformats.org/drawingml/2006/main">
              <a:ext uri="{FF2B5EF4-FFF2-40B4-BE49-F238E27FC236}">
                <a16:creationId xmlns:a16="http://schemas.microsoft.com/office/drawing/2014/main" id="{CDAA3358-24A7-437B-9A64-77A5253F42A9}"/>
              </a:ext>
            </a:extLst>
          </p:cNvPr>
          <p:cNvSpPr>
            <a:spLocks xmlns:a="http://schemas.openxmlformats.org/drawingml/2006/main" noGrp="1"/>
          </p:cNvSpPr>
          <p:nvPr/>
        </p:nvSpPr>
        <p:spPr>
          <a:xfrm xmlns:a="http://schemas.openxmlformats.org/drawingml/2006/main">
            <a:off x="56007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6D7974"/>
                </a:solidFill>
                <a:latin typeface="Menlo"/>
                <a:ea typeface="Menlo"/>
                <a:cs typeface="Menlo"/>
              </a:defRPr>
            </a:pPr>
            <a:r>
              <a:rPr sz="1800" b="1">
                <a:solidFill>
                  <a:srgbClr val="6D7974"/>
                </a:solidFill>
                <a:latin typeface="Menlo"/>
                <a:ea typeface="Menlo"/>
                <a:cs typeface="Menlo"/>
              </a:rPr>
              <a:t>02</a:t>
            </a:r>
          </a:p>
        </p:txBody>
      </p:sp>
      <p:sp>
        <p:nvSpPr>
          <p:cNvPr id="8" name="scale-line-1">
            <a:extLst xmlns:a="http://schemas.openxmlformats.org/drawingml/2006/main">
              <a:ext uri="{FF2B5EF4-FFF2-40B4-BE49-F238E27FC236}">
                <a16:creationId xmlns:a16="http://schemas.microsoft.com/office/drawing/2014/main" id="{F984DF2F-AB5D-47C4-916F-75204267A738}"/>
              </a:ext>
            </a:extLst>
          </p:cNvPr>
          <p:cNvSpPr>
            <a:spLocks xmlns:a="http://schemas.openxmlformats.org/drawingml/2006/main" noGrp="1"/>
          </p:cNvSpPr>
          <p:nvPr/>
        </p:nvSpPr>
        <p:spPr>
          <a:xfrm xmlns:a="http://schemas.openxmlformats.org/drawingml/2006/main">
            <a:off x="56007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9" name="scale-heading-1">
            <a:extLst xmlns:a="http://schemas.openxmlformats.org/drawingml/2006/main">
              <a:ext uri="{FF2B5EF4-FFF2-40B4-BE49-F238E27FC236}">
                <a16:creationId xmlns:a16="http://schemas.microsoft.com/office/drawing/2014/main" id="{7E87D58D-B04D-4C2A-B726-635DDE240DB6}"/>
              </a:ext>
            </a:extLst>
          </p:cNvPr>
          <p:cNvSpPr>
            <a:spLocks xmlns:a="http://schemas.openxmlformats.org/drawingml/2006/main" noGrp="1"/>
          </p:cNvSpPr>
          <p:nvPr/>
        </p:nvSpPr>
        <p:spPr>
          <a:xfrm xmlns:a="http://schemas.openxmlformats.org/drawingml/2006/main">
            <a:off x="56007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Identity direction</a:t>
            </a:r>
          </a:p>
        </p:txBody>
      </p:sp>
      <p:sp>
        <p:nvSpPr>
          <p:cNvPr id="10" name="scale-body-1">
            <a:extLst xmlns:a="http://schemas.openxmlformats.org/drawingml/2006/main">
              <a:ext uri="{FF2B5EF4-FFF2-40B4-BE49-F238E27FC236}">
                <a16:creationId xmlns:a16="http://schemas.microsoft.com/office/drawing/2014/main" id="{16E18AA4-AE39-4AEC-9985-ED711ED0D766}"/>
              </a:ext>
            </a:extLst>
          </p:cNvPr>
          <p:cNvSpPr>
            <a:spLocks xmlns:a="http://schemas.openxmlformats.org/drawingml/2006/main" noGrp="1"/>
          </p:cNvSpPr>
          <p:nvPr/>
        </p:nvSpPr>
        <p:spPr>
          <a:xfrm xmlns:a="http://schemas.openxmlformats.org/drawingml/2006/main">
            <a:off x="56007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Connector-style check is planned
and not in the live demo.</a:t>
            </a:r>
          </a:p>
        </p:txBody>
      </p:sp>
      <p:sp>
        <p:nvSpPr>
          <p:cNvPr id="11" name="scale-number-2">
            <a:extLst xmlns:a="http://schemas.openxmlformats.org/drawingml/2006/main">
              <a:ext uri="{FF2B5EF4-FFF2-40B4-BE49-F238E27FC236}">
                <a16:creationId xmlns:a16="http://schemas.microsoft.com/office/drawing/2014/main" id="{EA2A17C8-CFB5-4E9D-ABFA-E6E8D2B7F253}"/>
              </a:ext>
            </a:extLst>
          </p:cNvPr>
          <p:cNvSpPr>
            <a:spLocks xmlns:a="http://schemas.openxmlformats.org/drawingml/2006/main" noGrp="1"/>
          </p:cNvSpPr>
          <p:nvPr/>
        </p:nvSpPr>
        <p:spPr>
          <a:xfrm xmlns:a="http://schemas.openxmlformats.org/drawingml/2006/main">
            <a:off x="10363200" y="2952750"/>
            <a:ext cx="95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800" b="1">
                <a:solidFill>
                  <a:srgbClr val="B7F522"/>
                </a:solidFill>
                <a:latin typeface="Menlo"/>
                <a:ea typeface="Menlo"/>
                <a:cs typeface="Menlo"/>
              </a:defRPr>
            </a:pPr>
            <a:r>
              <a:rPr sz="1800" b="1">
                <a:solidFill>
                  <a:srgbClr val="B7F522"/>
                </a:solidFill>
                <a:latin typeface="Menlo"/>
                <a:ea typeface="Menlo"/>
                <a:cs typeface="Menlo"/>
              </a:rPr>
              <a:t>03</a:t>
            </a:r>
          </a:p>
        </p:txBody>
      </p:sp>
      <p:sp>
        <p:nvSpPr>
          <p:cNvPr id="12" name="scale-line-2">
            <a:extLst xmlns:a="http://schemas.openxmlformats.org/drawingml/2006/main">
              <a:ext uri="{FF2B5EF4-FFF2-40B4-BE49-F238E27FC236}">
                <a16:creationId xmlns:a16="http://schemas.microsoft.com/office/drawing/2014/main" id="{BDE99F7F-19DB-4BD7-AD70-CD6275150621}"/>
              </a:ext>
            </a:extLst>
          </p:cNvPr>
          <p:cNvSpPr>
            <a:spLocks xmlns:a="http://schemas.openxmlformats.org/drawingml/2006/main" noGrp="1"/>
          </p:cNvSpPr>
          <p:nvPr/>
        </p:nvSpPr>
        <p:spPr>
          <a:xfrm xmlns:a="http://schemas.openxmlformats.org/drawingml/2006/main">
            <a:off x="10363200" y="3600450"/>
            <a:ext cx="4000500" cy="0"/>
          </a:xfrm>
          <a:prstGeom xmlns:a="http://schemas.openxmlformats.org/drawingml/2006/main" prst="line">
            <a:avLst/>
          </a:prstGeom>
          <a:noFill xmlns:a="http://schemas.openxmlformats.org/drawingml/2006/main"/>
          <a:ln xmlns:a="http://schemas.openxmlformats.org/drawingml/2006/main" w="19050">
            <a:solidFill>
              <a:srgbClr val="D8D0C4"/>
            </a:solidFill>
            <a:prstDash val="solid"/>
          </a:ln>
        </p:spPr>
      </p:sp>
      <p:sp>
        <p:nvSpPr>
          <p:cNvPr id="13" name="scale-heading-2">
            <a:extLst xmlns:a="http://schemas.openxmlformats.org/drawingml/2006/main">
              <a:ext uri="{FF2B5EF4-FFF2-40B4-BE49-F238E27FC236}">
                <a16:creationId xmlns:a16="http://schemas.microsoft.com/office/drawing/2014/main" id="{5AB63753-F0D5-4803-98BD-F4BF46F889B7}"/>
              </a:ext>
            </a:extLst>
          </p:cNvPr>
          <p:cNvSpPr>
            <a:spLocks xmlns:a="http://schemas.openxmlformats.org/drawingml/2006/main" noGrp="1"/>
          </p:cNvSpPr>
          <p:nvPr/>
        </p:nvSpPr>
        <p:spPr>
          <a:xfrm xmlns:a="http://schemas.openxmlformats.org/drawingml/2006/main">
            <a:off x="10363200" y="3905250"/>
            <a:ext cx="3905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7000"/>
              </a:lnSpc>
              <a:buNone/>
              <a:defRPr sz="2550" b="1">
                <a:solidFill>
                  <a:srgbClr val="0E4B3B"/>
                </a:solidFill>
                <a:latin typeface="Georgia"/>
                <a:ea typeface="Georgia"/>
                <a:cs typeface="Georgia"/>
              </a:defRPr>
            </a:pPr>
            <a:r>
              <a:rPr sz="2550" b="1">
                <a:solidFill>
                  <a:srgbClr val="0E4B3B"/>
                </a:solidFill>
                <a:latin typeface="Georgia"/>
                <a:ea typeface="Georgia"/>
                <a:cs typeface="Georgia"/>
              </a:rPr>
              <a:t>Visa response</a:t>
            </a:r>
          </a:p>
        </p:txBody>
      </p:sp>
      <p:sp>
        <p:nvSpPr>
          <p:cNvPr id="14" name="scale-body-2">
            <a:extLst xmlns:a="http://schemas.openxmlformats.org/drawingml/2006/main">
              <a:ext uri="{FF2B5EF4-FFF2-40B4-BE49-F238E27FC236}">
                <a16:creationId xmlns:a16="http://schemas.microsoft.com/office/drawing/2014/main" id="{E7963198-1A16-48D2-952D-7AD01966B27A}"/>
              </a:ext>
            </a:extLst>
          </p:cNvPr>
          <p:cNvSpPr>
            <a:spLocks xmlns:a="http://schemas.openxmlformats.org/drawingml/2006/main" noGrp="1"/>
          </p:cNvSpPr>
          <p:nvPr/>
        </p:nvSpPr>
        <p:spPr>
          <a:xfrm xmlns:a="http://schemas.openxmlformats.org/drawingml/2006/main">
            <a:off x="10363200" y="4838700"/>
            <a:ext cx="3905250"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Simulated approval, decline
and reversal · no live charge.</a:t>
            </a:r>
          </a:p>
        </p:txBody>
      </p:sp>
      <p:sp>
        <p:nvSpPr>
          <p:cNvPr id="15" name="scale-bottom-band">
            <a:extLst xmlns:a="http://schemas.openxmlformats.org/drawingml/2006/main">
              <a:ext uri="{FF2B5EF4-FFF2-40B4-BE49-F238E27FC236}">
                <a16:creationId xmlns:a16="http://schemas.microsoft.com/office/drawing/2014/main" id="{F6065CF4-96C7-491E-BA9B-6F2C83818CF1}"/>
              </a:ext>
            </a:extLst>
          </p:cNvPr>
          <p:cNvSpPr>
            <a:spLocks xmlns:a="http://schemas.openxmlformats.org/drawingml/2006/main" noGrp="1"/>
          </p:cNvSpPr>
          <p:nvPr/>
        </p:nvSpPr>
        <p:spPr>
          <a:xfrm xmlns:a="http://schemas.openxmlformats.org/drawingml/2006/main">
            <a:off x="838200" y="6781800"/>
            <a:ext cx="13544550" cy="742950"/>
          </a:xfrm>
          <a:prstGeom xmlns:a="http://schemas.openxmlformats.org/drawingml/2006/main" prst="roundRect">
            <a:avLst>
              <a:gd name="adj" fmla="val 25641"/>
            </a:avLst>
          </a:prstGeom>
          <a:solidFill xmlns:a="http://schemas.openxmlformats.org/drawingml/2006/main">
            <a:srgbClr val="DFF1EB"/>
          </a:solidFill>
          <a:ln xmlns:a="http://schemas.openxmlformats.org/drawingml/2006/main" w="0">
            <a:noFill/>
            <a:prstDash val="solid"/>
          </a:ln>
        </p:spPr>
      </p:sp>
      <p:sp>
        <p:nvSpPr>
          <p:cNvPr id="16" name="scale-bottom-text">
            <a:extLst xmlns:a="http://schemas.openxmlformats.org/drawingml/2006/main">
              <a:ext uri="{FF2B5EF4-FFF2-40B4-BE49-F238E27FC236}">
                <a16:creationId xmlns:a16="http://schemas.microsoft.com/office/drawing/2014/main" id="{D6B78FC7-412E-4A33-887B-13E37937B350}"/>
              </a:ext>
            </a:extLst>
          </p:cNvPr>
          <p:cNvSpPr>
            <a:spLocks xmlns:a="http://schemas.openxmlformats.org/drawingml/2006/main" noGrp="1"/>
          </p:cNvSpPr>
          <p:nvPr/>
        </p:nvSpPr>
        <p:spPr>
          <a:xfrm xmlns:a="http://schemas.openxmlformats.org/drawingml/2006/main">
            <a:off x="1181100" y="7010400"/>
            <a:ext cx="12858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950" b="1">
                <a:solidFill>
                  <a:srgbClr val="0E4B3B"/>
                </a:solidFill>
                <a:latin typeface="Avenir Next"/>
                <a:ea typeface="Avenir Next"/>
                <a:cs typeface="Avenir Next"/>
              </a:defRPr>
            </a:pPr>
            <a:r>
              <a:rPr sz="1950" b="1">
                <a:solidFill>
                  <a:srgbClr val="0E4B3B"/>
                </a:solidFill>
                <a:latin typeface="Avenir Next"/>
                <a:ea typeface="Avenir Next"/>
                <a:cs typeface="Avenir Next"/>
              </a:rPr>
              <a:t>NO VISA ACCOUNT · NO PAYMENT CREDENTIALS · NO PARTNERSHIP CLAIM</a:t>
            </a:r>
          </a:p>
        </p:txBody>
      </p:sp>
      <p:sp>
        <p:nvSpPr>
          <p:cNvPr id="17" name="footer-label-8">
            <a:extLst xmlns:a="http://schemas.openxmlformats.org/drawingml/2006/main">
              <a:ext uri="{FF2B5EF4-FFF2-40B4-BE49-F238E27FC236}">
                <a16:creationId xmlns:a16="http://schemas.microsoft.com/office/drawing/2014/main" id="{9082A8B2-54A2-4FFA-BF7F-CAF73884DF6D}"/>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8" name="footer-number-8">
            <a:extLst xmlns:a="http://schemas.openxmlformats.org/drawingml/2006/main">
              <a:ext uri="{FF2B5EF4-FFF2-40B4-BE49-F238E27FC236}">
                <a16:creationId xmlns:a16="http://schemas.microsoft.com/office/drawing/2014/main" id="{A05B45A2-0753-4E4D-906E-D80A40A98AC8}"/>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09</a:t>
            </a:r>
          </a:p>
        </p:txBody>
      </p:sp>
    </p:spTree>
    <p:extLst>
      <p:ext uri="{BB962C8B-B14F-4D97-AF65-F5344CB8AC3E}">
        <p14:creationId xmlns:p14="http://schemas.microsoft.com/office/powerpoint/2010/main" val="1578701116"/>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909b5a239234798"/>
          <a:srcRect xmlns:a="http://schemas.openxmlformats.org/drawingml/2006/main" l="0" t="0" r="0" b="0"/>
          <a:stretch xmlns:a="http://schemas.openxmlformats.org/drawingml/2006/main">
            <a:fillRect l="0" t="0" r="0" b="0"/>
          </a:stretch>
        </p:blipFill>
        <p:spPr>
          <a:xfrm xmlns:a="http://schemas.openxmlformats.org/drawingml/2006/main" flipH="0" flipV="0">
            <a:off x="0" y="0"/>
            <a:ext cx="15240000" cy="8572500"/>
          </a:xfrm>
          <a:prstGeom xmlns:a="http://schemas.openxmlformats.org/drawingml/2006/main" prst="rect">
            <a:avLst/>
          </a:prstGeom>
        </p:spPr>
      </p:pic>
    </p:spTree>
    <p:extLst>
      <p:ext uri="{BB962C8B-B14F-4D97-AF65-F5344CB8AC3E}">
        <p14:creationId xmlns:p14="http://schemas.microsoft.com/office/powerpoint/2010/main" val="614777387"/>
      </p:ext>
    </p:extLst>
  </p:cSld>
</p:sld>
</file>

<file path=ppt/slides/slide11.xml><?xml version="1.0" encoding="utf-8"?>
<p:sld xmlns:p="http://schemas.openxmlformats.org/presentationml/2006/main">
  <p:cSld>
    <p:bg>
      <p:bgPr>
        <a:solidFill xmlns:a="http://schemas.openxmlformats.org/drawingml/2006/main">
          <a:srgbClr val="F4EEE4"/>
        </a:solidFill>
      </p:bgPr>
    </p:bg>
    <p:spTree>
      <p:nvGrpSpPr>
        <p:cNvPr id="1" name=""/>
        <p:cNvGrpSpPr/>
        <p:nvPr/>
      </p:nvGrpSpPr>
      <p:grpSpPr>
        <a:xfrm xmlns:a="http://schemas.openxmlformats.org/drawingml/2006/main"/>
      </p:grpSpPr>
      <p:sp>
        <p:nvSpPr>
          <p:cNvPr id="11" name="eyebrow-The live demo">
            <a:extLst xmlns:a="http://schemas.openxmlformats.org/drawingml/2006/main">
              <a:ext uri="{FF2B5EF4-FFF2-40B4-BE49-F238E27FC236}">
                <a16:creationId xmlns:a16="http://schemas.microsoft.com/office/drawing/2014/main" id="{46635EF8-3618-4994-81BA-2542F409376A}"/>
              </a:ext>
            </a:extLst>
          </p:cNvPr>
          <p:cNvSpPr>
            <a:spLocks xmlns:a="http://schemas.openxmlformats.org/drawingml/2006/main" noGrp="1"/>
          </p:cNvSpPr>
          <p:nvPr/>
        </p:nvSpPr>
        <p:spPr>
          <a:xfrm xmlns:a="http://schemas.openxmlformats.org/drawingml/2006/main">
            <a:off x="838200" y="590550"/>
            <a:ext cx="8572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350" b="1">
                <a:solidFill>
                  <a:srgbClr val="6D7974"/>
                </a:solidFill>
                <a:latin typeface="Menlo"/>
                <a:ea typeface="Menlo"/>
                <a:cs typeface="Menlo"/>
              </a:defRPr>
            </a:pPr>
            <a:r>
              <a:rPr sz="1350" b="1">
                <a:solidFill>
                  <a:srgbClr val="6D7974"/>
                </a:solidFill>
                <a:latin typeface="Menlo"/>
                <a:ea typeface="Menlo"/>
                <a:cs typeface="Menlo"/>
              </a:rPr>
              <a:t>BACKUP · TRUST CONTROLS</a:t>
            </a:r>
          </a:p>
        </p:txBody>
      </p:sp>
      <p:sp>
        <p:nvSpPr>
          <p:cNvPr id="2" name="title-The AI recommends. The user confirms the exact terms.">
            <a:extLst xmlns:a="http://schemas.openxmlformats.org/drawingml/2006/main">
              <a:ext uri="{FF2B5EF4-FFF2-40B4-BE49-F238E27FC236}">
                <a16:creationId xmlns:a16="http://schemas.microsoft.com/office/drawing/2014/main" id="{E6C7E214-CE49-432D-A6ED-84FB60003964}"/>
              </a:ext>
            </a:extLst>
          </p:cNvPr>
          <p:cNvSpPr>
            <a:spLocks xmlns:a="http://schemas.openxmlformats.org/drawingml/2006/main" noGrp="1"/>
          </p:cNvSpPr>
          <p:nvPr/>
        </p:nvSpPr>
        <p:spPr>
          <a:xfrm xmlns:a="http://schemas.openxmlformats.org/drawingml/2006/main">
            <a:off x="838200" y="990600"/>
            <a:ext cx="13525500" cy="1028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4650" b="1">
                <a:solidFill>
                  <a:srgbClr val="0E4B3B"/>
                </a:solidFill>
                <a:latin typeface="Georgia"/>
                <a:ea typeface="Georgia"/>
                <a:cs typeface="Georgia"/>
              </a:defRPr>
            </a:pPr>
            <a:r>
              <a:rPr sz="4650" b="1">
                <a:solidFill>
                  <a:srgbClr val="0E4B3B"/>
                </a:solidFill>
                <a:latin typeface="Georgia"/>
                <a:ea typeface="Georgia"/>
                <a:cs typeface="Georgia"/>
              </a:rPr>
              <a:t>Trust is enforced at the purchase boundary.</a:t>
            </a:r>
          </a:p>
        </p:txBody>
      </p:sp>
      <p:sp>
        <p:nvSpPr>
          <p:cNvPr id="3" name="boundary-statement">
            <a:extLst xmlns:a="http://schemas.openxmlformats.org/drawingml/2006/main">
              <a:ext uri="{FF2B5EF4-FFF2-40B4-BE49-F238E27FC236}">
                <a16:creationId xmlns:a16="http://schemas.microsoft.com/office/drawing/2014/main" id="{64039A6F-00FA-4C7A-8407-F1FA78BFDFA5}"/>
              </a:ext>
            </a:extLst>
          </p:cNvPr>
          <p:cNvSpPr>
            <a:spLocks xmlns:a="http://schemas.openxmlformats.org/drawingml/2006/main" noGrp="1"/>
          </p:cNvSpPr>
          <p:nvPr/>
        </p:nvSpPr>
        <p:spPr>
          <a:xfrm xmlns:a="http://schemas.openxmlformats.org/drawingml/2006/main">
            <a:off x="838200" y="2895600"/>
            <a:ext cx="419100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Exact terms are bound.</a:t>
            </a:r>
          </a:p>
          <a:p xmlns:a="http://schemas.openxmlformats.org/drawingml/2006/main">
            <a:pPr>
              <a:lnSpc>
                <a:spcPct val="95000"/>
              </a:lnSpc>
              <a:buNone/>
              <a:defRPr sz="3150" b="1">
                <a:solidFill>
                  <a:srgbClr val="0E4B3B"/>
                </a:solidFill>
                <a:latin typeface="Georgia"/>
                <a:ea typeface="Georgia"/>
                <a:cs typeface="Georgia"/>
              </a:defRPr>
            </a:pPr>
            <a:r>
              <a:rPr sz="3150" b="1">
                <a:solidFill>
                  <a:srgbClr val="0E4B3B"/>
                </a:solidFill>
                <a:latin typeface="Georgia"/>
                <a:ea typeface="Georgia"/>
                <a:cs typeface="Georgia"/>
              </a:rPr>
              <a:t>Only the user confirms.</a:t>
            </a:r>
          </a:p>
        </p:txBody>
      </p:sp>
      <p:sp>
        <p:nvSpPr>
          <p:cNvPr id="4" name="simulated-label">
            <a:extLst xmlns:a="http://schemas.openxmlformats.org/drawingml/2006/main">
              <a:ext uri="{FF2B5EF4-FFF2-40B4-BE49-F238E27FC236}">
                <a16:creationId xmlns:a16="http://schemas.microsoft.com/office/drawing/2014/main" id="{906B7775-6C73-4936-919D-C949C0ED9DEE}"/>
              </a:ext>
            </a:extLst>
          </p:cNvPr>
          <p:cNvSpPr>
            <a:spLocks xmlns:a="http://schemas.openxmlformats.org/drawingml/2006/main" noGrp="1"/>
          </p:cNvSpPr>
          <p:nvPr/>
        </p:nvSpPr>
        <p:spPr>
          <a:xfrm xmlns:a="http://schemas.openxmlformats.org/drawingml/2006/main">
            <a:off x="838200" y="4724400"/>
            <a:ext cx="3143250" cy="514350"/>
          </a:xfrm>
          <a:prstGeom xmlns:a="http://schemas.openxmlformats.org/drawingml/2006/main" prst="roundRect">
            <a:avLst>
              <a:gd name="adj" fmla="val 50000"/>
            </a:avLst>
          </a:prstGeom>
          <a:solidFill xmlns:a="http://schemas.openxmlformats.org/drawingml/2006/main">
            <a:srgbClr val="1545E8"/>
          </a:solidFill>
          <a:ln xmlns:a="http://schemas.openxmlformats.org/drawingml/2006/main" w="0">
            <a:noFill/>
            <a:prstDash val="solid"/>
          </a:ln>
        </p:spPr>
      </p:sp>
      <p:sp>
        <p:nvSpPr>
          <p:cNvPr id="5" name="simulated-label-text">
            <a:extLst xmlns:a="http://schemas.openxmlformats.org/drawingml/2006/main">
              <a:ext uri="{FF2B5EF4-FFF2-40B4-BE49-F238E27FC236}">
                <a16:creationId xmlns:a16="http://schemas.microsoft.com/office/drawing/2014/main" id="{0DCF3A62-833F-4EDD-B0B4-4EEFB00BFC41}"/>
              </a:ext>
            </a:extLst>
          </p:cNvPr>
          <p:cNvSpPr>
            <a:spLocks xmlns:a="http://schemas.openxmlformats.org/drawingml/2006/main" noGrp="1"/>
          </p:cNvSpPr>
          <p:nvPr/>
        </p:nvSpPr>
        <p:spPr>
          <a:xfrm xmlns:a="http://schemas.openxmlformats.org/drawingml/2006/main">
            <a:off x="1028700" y="48768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ctr">
              <a:buNone/>
              <a:defRPr sz="1275" b="1">
                <a:solidFill>
                  <a:srgbClr val="FFFFFF"/>
                </a:solidFill>
                <a:latin typeface="Menlo"/>
                <a:ea typeface="Menlo"/>
                <a:cs typeface="Menlo"/>
              </a:defRPr>
            </a:pPr>
            <a:r>
              <a:rPr sz="1275" b="1">
                <a:solidFill>
                  <a:srgbClr val="FFFFFF"/>
                </a:solidFill>
                <a:latin typeface="Menlo"/>
                <a:ea typeface="Menlo"/>
                <a:cs typeface="Menlo"/>
              </a:rPr>
              <a:t>IDENTITY · PLANNED / NOT LIVE</a:t>
            </a:r>
          </a:p>
        </p:txBody>
      </p:sp>
      <p:sp>
        <p:nvSpPr>
          <p:cNvPr id="6" name="exact-terms">
            <a:extLst xmlns:a="http://schemas.openxmlformats.org/drawingml/2006/main">
              <a:ext uri="{FF2B5EF4-FFF2-40B4-BE49-F238E27FC236}">
                <a16:creationId xmlns:a16="http://schemas.microsoft.com/office/drawing/2014/main" id="{24D4E798-F7E3-4205-9A3C-908586EEA799}"/>
              </a:ext>
            </a:extLst>
          </p:cNvPr>
          <p:cNvSpPr>
            <a:spLocks xmlns:a="http://schemas.openxmlformats.org/drawingml/2006/main" noGrp="1"/>
          </p:cNvSpPr>
          <p:nvPr/>
        </p:nvSpPr>
        <p:spPr>
          <a:xfrm xmlns:a="http://schemas.openxmlformats.org/drawingml/2006/main">
            <a:off x="838200" y="5638800"/>
            <a:ext cx="3810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nSpc>
                <a:spcPct val="118000"/>
              </a:lnSpc>
              <a:buNone/>
              <a:defRPr sz="1800">
                <a:solidFill>
                  <a:srgbClr val="6D7974"/>
                </a:solidFill>
                <a:latin typeface="Avenir Next"/>
                <a:ea typeface="Avenir Next"/>
                <a:cs typeface="Avenir Next"/>
              </a:defRPr>
            </a:pPr>
            <a:r>
              <a:rPr sz="1800">
                <a:solidFill>
                  <a:srgbClr val="6D7974"/>
                </a:solidFill>
                <a:latin typeface="Avenir Next"/>
                <a:ea typeface="Avenir Next"/>
                <a:cs typeface="Avenir Next"/>
              </a:rPr>
              <a:t>Price + stock rechecked · mandate expires · private nonce
Idempotent order · simulated reversal</a:t>
            </a:r>
          </a:p>
        </p:txBody>
      </p:sp>
      <p:sp>
        <p:nvSpPr>
          <p:cNvPr id="7" name="Woven checkout mandate showing exact terms and explicit confirmation-backplate">
            <a:extLst xmlns:a="http://schemas.openxmlformats.org/drawingml/2006/main">
              <a:ext uri="{FF2B5EF4-FFF2-40B4-BE49-F238E27FC236}">
                <a16:creationId xmlns:a16="http://schemas.microsoft.com/office/drawing/2014/main" id="{8ADD3CA5-C1ED-4601-B88F-C6932A9AEDCB}"/>
              </a:ext>
            </a:extLst>
          </p:cNvPr>
          <p:cNvSpPr>
            <a:spLocks xmlns:a="http://schemas.openxmlformats.org/drawingml/2006/main" noGrp="1"/>
          </p:cNvSpPr>
          <p:nvPr/>
        </p:nvSpPr>
        <p:spPr>
          <a:xfrm xmlns:a="http://schemas.openxmlformats.org/drawingml/2006/main">
            <a:off x="5095875" y="2362200"/>
            <a:ext cx="9191625" cy="5257800"/>
          </a:xfrm>
          <a:prstGeom xmlns:a="http://schemas.openxmlformats.org/drawingml/2006/main" prst="roundRect">
            <a:avLst>
              <a:gd name="adj" fmla="val 4348"/>
            </a:avLst>
          </a:prstGeom>
          <a:solidFill xmlns:a="http://schemas.openxmlformats.org/drawingml/2006/main">
            <a:srgbClr val="FFFFFF"/>
          </a:solidFill>
          <a:ln xmlns:a="http://schemas.openxmlformats.org/drawingml/2006/main" w="0">
            <a:no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ec13a034f654de9"/>
          <a:stretch xmlns:a="http://schemas.openxmlformats.org/drawingml/2006/main"/>
        </p:blipFill>
        <p:spPr>
          <a:xfrm xmlns:a="http://schemas.openxmlformats.org/drawingml/2006/main" flipH="0" flipV="0">
            <a:off x="5191125" y="2459534"/>
            <a:ext cx="9001125" cy="5063133"/>
          </a:xfrm>
          <a:prstGeom xmlns:a="http://schemas.openxmlformats.org/drawingml/2006/main" prst="roundRect">
            <a:avLst/>
          </a:prstGeom>
        </p:spPr>
      </p:pic>
      <p:sp>
        <p:nvSpPr>
          <p:cNvPr id="9" name="footer-label-6">
            <a:extLst xmlns:a="http://schemas.openxmlformats.org/drawingml/2006/main">
              <a:ext uri="{FF2B5EF4-FFF2-40B4-BE49-F238E27FC236}">
                <a16:creationId xmlns:a16="http://schemas.microsoft.com/office/drawing/2014/main" id="{180E82C5-4959-4CB6-9B7C-CA48FE5A4C58}"/>
              </a:ext>
            </a:extLst>
          </p:cNvPr>
          <p:cNvSpPr>
            <a:spLocks xmlns:a="http://schemas.openxmlformats.org/drawingml/2006/main" noGrp="1"/>
          </p:cNvSpPr>
          <p:nvPr/>
        </p:nvSpPr>
        <p:spPr>
          <a:xfrm xmlns:a="http://schemas.openxmlformats.org/drawingml/2006/main">
            <a:off x="838200" y="8020050"/>
            <a:ext cx="533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buNone/>
              <a:defRPr sz="1200" b="1">
                <a:solidFill>
                  <a:srgbClr val="6D7974"/>
                </a:solidFill>
                <a:latin typeface="Menlo"/>
                <a:ea typeface="Menlo"/>
                <a:cs typeface="Menlo"/>
              </a:defRPr>
            </a:pPr>
            <a:r>
              <a:rPr sz="1200" b="1">
                <a:solidFill>
                  <a:srgbClr val="6D7974"/>
                </a:solidFill>
                <a:latin typeface="Menlo"/>
                <a:ea typeface="Menlo"/>
                <a:cs typeface="Menlo"/>
              </a:rPr>
              <a:t>WOVEN  /  LIFEHACK 2026</a:t>
            </a:r>
          </a:p>
        </p:txBody>
      </p:sp>
      <p:sp>
        <p:nvSpPr>
          <p:cNvPr id="10" name="footer-number-6">
            <a:extLst xmlns:a="http://schemas.openxmlformats.org/drawingml/2006/main">
              <a:ext uri="{FF2B5EF4-FFF2-40B4-BE49-F238E27FC236}">
                <a16:creationId xmlns:a16="http://schemas.microsoft.com/office/drawing/2014/main" id="{573541B3-83F3-4ADA-A401-90AC23E83D47}"/>
              </a:ext>
            </a:extLst>
          </p:cNvPr>
          <p:cNvSpPr>
            <a:spLocks xmlns:a="http://schemas.openxmlformats.org/drawingml/2006/main" noGrp="1"/>
          </p:cNvSpPr>
          <p:nvPr/>
        </p:nvSpPr>
        <p:spPr>
          <a:xfrm xmlns:a="http://schemas.openxmlformats.org/drawingml/2006/main">
            <a:off x="13620750" y="8001000"/>
            <a:ext cx="762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oAutofit/>
          </a:bodyPr>
          <a:lstStyle xmlns:a="http://schemas.openxmlformats.org/drawingml/2006/main"/>
          <a:p xmlns:a="http://schemas.openxmlformats.org/drawingml/2006/main">
            <a:pPr algn="r">
              <a:buNone/>
              <a:defRPr sz="1350" b="1">
                <a:solidFill>
                  <a:srgbClr val="6D7974"/>
                </a:solidFill>
                <a:latin typeface="Menlo"/>
                <a:ea typeface="Menlo"/>
                <a:cs typeface="Menlo"/>
              </a:defRPr>
            </a:pPr>
            <a:r>
              <a:rPr sz="1350" b="1">
                <a:solidFill>
                  <a:srgbClr val="6D7974"/>
                </a:solidFill>
                <a:latin typeface="Menlo"/>
                <a:ea typeface="Menlo"/>
                <a:cs typeface="Menlo"/>
              </a:rPr>
              <a:t>11</a:t>
            </a:r>
          </a:p>
        </p:txBody>
      </p:sp>
    </p:spTree>
    <p:extLst>
      <p:ext uri="{BB962C8B-B14F-4D97-AF65-F5344CB8AC3E}">
        <p14:creationId xmlns:p14="http://schemas.microsoft.com/office/powerpoint/2010/main" val="20919174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2026-08-29T17:07:26.1730000Z</dcterms:created>
  <dcterms:modified xsi:type="dcterms:W3CDTF">2026-08-29T17:07:26.1730000Z</dcterms:modified>
</coreProperties>
</file>
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ec88c17e1a049f2" /><Relationship Type="http://schemas.openxmlformats.org/officeDocument/2006/relationships/extended-properties" Target="/docProps/app.xml" Id="Rf65547a875d142ce" /><Relationship Type="http://schemas.openxmlformats.org/officeDocument/2006/relationships/officeDocument" Target="/ppt/presentation.xml" Id="R52a0139e036043eb" /></Relationships>
</file>

<file path=ppt/presentation.xml><?xml version="1.0" encoding="utf-8"?>
<p:presentation xmlns:p="http://schemas.openxmlformats.org/presentationml/2006/main">
  <p:sldMasterIdLst>
    <p:sldMasterId xmlns:r="http://schemas.openxmlformats.org/officeDocument/2006/relationships" id="2147483648" r:id="R2fc6e8e20c084646"/>
  </p:sldMasterIdLst>
  <p:notesMasterIdLst>
    <p:notesMasterId xmlns:r="http://schemas.openxmlformats.org/officeDocument/2006/relationships" r:id="R91b2626ac2ad4dc0"/>
  </p:notesMasterIdLst>
  <p:sldIdLst>
    <p:sldId xmlns:r="http://schemas.openxmlformats.org/officeDocument/2006/relationships" id="256" r:id="Rb4039db9e0344b88"/>
    <p:sldId xmlns:r="http://schemas.openxmlformats.org/officeDocument/2006/relationships" id="257" r:id="R95ec7d74113a47dd"/>
    <p:sldId xmlns:r="http://schemas.openxmlformats.org/officeDocument/2006/relationships" id="258" r:id="R727ef281f7534dd1"/>
    <p:sldId xmlns:r="http://schemas.openxmlformats.org/officeDocument/2006/relationships" id="259" r:id="Rc2184f7aa1004714"/>
    <p:sldId xmlns:r="http://schemas.openxmlformats.org/officeDocument/2006/relationships" id="260" r:id="Rf88b69f22c664df3"/>
    <p:sldId xmlns:r="http://schemas.openxmlformats.org/officeDocument/2006/relationships" id="261" r:id="Rc86b445fd6774c61"/>
    <p:sldId xmlns:r="http://schemas.openxmlformats.org/officeDocument/2006/relationships" id="262" r:id="R58dfaf1ab8e04ed8"/>
    <p:sldId xmlns:r="http://schemas.openxmlformats.org/officeDocument/2006/relationships" id="263" r:id="Rd6ca70c8c5dd45fa"/>
    <p:sldId xmlns:r="http://schemas.openxmlformats.org/officeDocument/2006/relationships" id="264" r:id="Ra37853021f864bc4"/>
    <p:sldId xmlns:r="http://schemas.openxmlformats.org/officeDocument/2006/relationships" id="265" r:id="R015fd678ca324916"/>
    <p:sldId xmlns:r="http://schemas.openxmlformats.org/officeDocument/2006/relationships" id="266" r:id="R4006603162ad4636"/>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689212a9af45f7" /><Relationship Type="http://schemas.openxmlformats.org/officeDocument/2006/relationships/slideMaster" Target="/ppt/slideMasters/slideMaster1.xml" Id="R2fc6e8e20c084646" /><Relationship Type="http://schemas.openxmlformats.org/officeDocument/2006/relationships/notesMaster" Target="/ppt/notesMasters/notesMaster1.xml" Id="R91b2626ac2ad4dc0" /><Relationship Type="http://schemas.openxmlformats.org/officeDocument/2006/relationships/presProps" Target="/ppt/presProps.xml" Id="R984effba46174f1c" /><Relationship Type="http://schemas.openxmlformats.org/officeDocument/2006/relationships/tableStyles" Target="/ppt/tableStyles.xml" Id="R49230620df7f4cce" /><Relationship Type="http://schemas.openxmlformats.org/officeDocument/2006/relationships/slide" Target="/ppt/slides/slide1.xml" Id="Rb4039db9e0344b88" /><Relationship Type="http://schemas.openxmlformats.org/officeDocument/2006/relationships/slide" Target="/ppt/slides/slide2.xml" Id="R95ec7d74113a47dd" /><Relationship Type="http://schemas.openxmlformats.org/officeDocument/2006/relationships/slide" Target="/ppt/slides/slide3.xml" Id="R727ef281f7534dd1" /><Relationship Type="http://schemas.openxmlformats.org/officeDocument/2006/relationships/slide" Target="/ppt/slides/slide4.xml" Id="Rc2184f7aa1004714" /><Relationship Type="http://schemas.openxmlformats.org/officeDocument/2006/relationships/slide" Target="/ppt/slides/slide5.xml" Id="Rf88b69f22c664df3" /><Relationship Type="http://schemas.openxmlformats.org/officeDocument/2006/relationships/slide" Target="/ppt/slides/slide6.xml" Id="Rc86b445fd6774c61" /><Relationship Type="http://schemas.openxmlformats.org/officeDocument/2006/relationships/slide" Target="/ppt/slides/slide7.xml" Id="R58dfaf1ab8e04ed8" /><Relationship Type="http://schemas.openxmlformats.org/officeDocument/2006/relationships/slide" Target="/ppt/slides/slide8.xml" Id="Rd6ca70c8c5dd45fa" /><Relationship Type="http://schemas.openxmlformats.org/officeDocument/2006/relationships/slide" Target="/ppt/slides/slide9.xml" Id="Ra37853021f864bc4" /><Relationship Type="http://schemas.openxmlformats.org/officeDocument/2006/relationships/slide" Target="/ppt/slides/slide10.xml" Id="R015fd678ca324916" /><Relationship Type="http://schemas.openxmlformats.org/officeDocument/2006/relationships/slide" Target="/ppt/slides/slide11.xml" Id="R4006603162ad46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aa55f8ca874dd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d6c332d65546e2" /><Relationship Type="http://schemas.openxmlformats.org/officeDocument/2006/relationships/notesMaster" Target="/ppt/notesMasters/notesMaster1.xml" Id="Rd416f203853a4a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720b37e7a249a0" /><Relationship Type="http://schemas.openxmlformats.org/officeDocument/2006/relationships/notesMaster" Target="/ppt/notesMasters/notesMaster1.xml" Id="R32f3d11f179843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e6f4092bf65c4e5e" /><Relationship Type="http://schemas.openxmlformats.org/officeDocument/2006/relationships/notesMaster" Target="/ppt/notesMasters/notesMaster1.xml" Id="R74bfd793373343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aa5ec818f84361" /><Relationship Type="http://schemas.openxmlformats.org/officeDocument/2006/relationships/notesMaster" Target="/ppt/notesMasters/notesMaster1.xml" Id="Reeadec46753e46c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3ecf89b8c047fa" /><Relationship Type="http://schemas.openxmlformats.org/officeDocument/2006/relationships/notesMaster" Target="/ppt/notesMasters/notesMaster1.xml" Id="Raf18624d42dd47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e7fe14765a420d" /><Relationship Type="http://schemas.openxmlformats.org/officeDocument/2006/relationships/notesMaster" Target="/ppt/notesMasters/notesMaster1.xml" Id="R57b4e335b0f740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aa2a7ba47841c9" /><Relationship Type="http://schemas.openxmlformats.org/officeDocument/2006/relationships/notesMaster" Target="/ppt/notesMasters/notesMaster1.xml" Id="R9617c113232b40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cf6cbc2b870452a" /><Relationship Type="http://schemas.openxmlformats.org/officeDocument/2006/relationships/notesMaster" Target="/ppt/notesMasters/notesMaster1.xml" Id="R76519db4359b4b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f95e1dc61a5471c" /><Relationship Type="http://schemas.openxmlformats.org/officeDocument/2006/relationships/notesMaster" Target="/ppt/notesMasters/notesMaster1.xml" Id="R37a9ab0d388e4a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429caa503c4b91" /><Relationship Type="http://schemas.openxmlformats.org/officeDocument/2006/relationships/notesMaster" Target="/ppt/notesMasters/notesMaster1.xml" Id="R69520f4e725a4f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40795b73eb4d64" /><Relationship Type="http://schemas.openxmlformats.org/officeDocument/2006/relationships/notesMaster" Target="/ppt/notesMasters/notesMaster1.xml" Id="R5f2fddb274604b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0:00–0:12</a:t>
            </a:r>
          </a:p>
          <a:p xmlns:a="http://schemas.openxmlformats.org/drawingml/2006/main">
            <a:r>
              <a:t>NARRATIVE JOB</a:t>
            </a:r>
          </a:p>
          <a:p xmlns:a="http://schemas.openxmlformats.org/drawingml/2006/main">
            <a:r>
              <a:t>Establish that shopping should start and finish in the conversation where the need was expressed.</a:t>
            </a:r>
          </a:p>
          <a:p xmlns:a="http://schemas.openxmlformats.org/drawingml/2006/main">
            <a:r>
              <a:t/>
            </a:r>
          </a:p>
          <a:p xmlns:a="http://schemas.openxmlformats.org/drawingml/2006/main">
            <a:r>
              <a:t>SAY</a:t>
            </a:r>
          </a:p>
          <a:p xmlns:a="http://schemas.openxmlformats.org/drawingml/2006/main">
            <a:r>
              <a:t>“We already ask ChatGPT what to buy. But actually buying still means opening tabs, checking compatibility, finding stock, and rebuilding everything at checkout. We built Woven to finish that process.”</a:t>
            </a:r>
          </a:p>
          <a:p xmlns:a="http://schemas.openxmlformats.org/drawingml/2006/main">
            <a:r>
              <a:t/>
            </a:r>
          </a:p>
          <a:p xmlns:a="http://schemas.openxmlformats.org/drawingml/2006/main">
            <a:r>
              <a:t>STAGE CUE</a:t>
            </a:r>
          </a:p>
          <a:p xmlns:a="http://schemas.openxmlformats.org/drawingml/2006/main">
            <a:r>
              <a:t>Hold this slide for the full opening. The Flightpath hero is illustrative brand artwork; the working product proof begins on slide 3.</a:t>
            </a:r>
          </a:p>
          <a:p xmlns:a="http://schemas.openxmlformats.org/drawingml/2006/main">
            <a:r>
              <a:t/>
            </a:r>
          </a:p>
          <a:p xmlns:a="http://schemas.openxmlformats.org/drawingml/2006/main">
            <a:r>
              <a:t>TRANSITION</a:t>
            </a:r>
          </a:p>
          <a:p xmlns:a="http://schemas.openxmlformats.org/drawingml/2006/main">
            <a:r>
              <a:t>“The hard part is not finding a product. It is completing the whole mission.”</a:t>
            </a:r>
          </a:p>
          <a:p xmlns:a="http://schemas.openxmlformats.org/drawingml/2006/main">
            <a:r>
              <a:t/>
            </a:r>
          </a:p>
          <a:p xmlns:a="http://schemas.openxmlformats.org/drawingml/2006/main">
            <a:r>
              <a:t>[Sources]</a:t>
            </a:r>
          </a:p>
          <a:p xmlns:a="http://schemas.openxmlformats.org/drawingml/2006/main">
            <a:r>
              <a:t>- script.md — 0:00–0:12 opening</a:t>
            </a:r>
          </a:p>
          <a:p xmlns:a="http://schemas.openxmlformats.org/drawingml/2006/main">
            <a:r>
              <a:t>- docs/assets/brand/woven-hero-flightpath.png</a:t>
            </a:r>
          </a:p>
          <a:p xmlns:a="http://schemas.openxmlformats.org/drawingml/2006/main">
            <a:r>
              <a:t>- docs/BRAND_GUIDE.md — Product promise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0:12–0:30</a:t>
            </a:r>
          </a:p>
          <a:p xmlns:a="http://schemas.openxmlformats.org/drawingml/2006/main">
            <a:r>
              <a:t>NARRATIVE JOB</a:t>
            </a:r>
          </a:p>
          <a:p xmlns:a="http://schemas.openxmlformats.org/drawingml/2006/main">
            <a:r>
              <a:t>Make the unfinished work after search concrete.</a:t>
            </a:r>
          </a:p>
          <a:p xmlns:a="http://schemas.openxmlformats.org/drawingml/2006/main">
            <a:r>
              <a:t/>
            </a:r>
          </a:p>
          <a:p xmlns:a="http://schemas.openxmlformats.org/drawingml/2006/main">
            <a:r>
              <a:t>SAY</a:t>
            </a:r>
          </a:p>
          <a:p xmlns:a="http://schemas.openxmlformats.org/drawingml/2006/main">
            <a:r>
              <a:t>“Imagine flying tonight and needing a charger for three devices. Search can recommend individual products, but it does not guarantee that everything works together, fits your budget, is available today, and can be collected from one place.”</a:t>
            </a:r>
          </a:p>
          <a:p xmlns:a="http://schemas.openxmlformats.org/drawingml/2006/main">
            <a:r>
              <a:t/>
            </a:r>
          </a:p>
          <a:p xmlns:a="http://schemas.openxmlformats.org/drawingml/2006/main">
            <a:r>
              <a:t>POINT TO</a:t>
            </a:r>
          </a:p>
          <a:p xmlns:a="http://schemas.openxmlformats.org/drawingml/2006/main">
            <a:r>
              <a:t>Compare products. Check compatibility. Find one store. The user still has to rebuild the cart at checkout.</a:t>
            </a:r>
          </a:p>
          <a:p xmlns:a="http://schemas.openxmlformats.org/drawingml/2006/main">
            <a:r>
              <a:t/>
            </a:r>
          </a:p>
          <a:p xmlns:a="http://schemas.openxmlformats.org/drawingml/2006/main">
            <a:r>
              <a:t>TRANSITION</a:t>
            </a:r>
          </a:p>
          <a:p xmlns:a="http://schemas.openxmlformats.org/drawingml/2006/main">
            <a:r>
              <a:t>“Woven resolves those constraints together.”</a:t>
            </a:r>
          </a:p>
          <a:p xmlns:a="http://schemas.openxmlformats.org/drawingml/2006/main">
            <a:r>
              <a:t/>
            </a:r>
          </a:p>
          <a:p xmlns:a="http://schemas.openxmlformats.org/drawingml/2006/main">
            <a:r>
              <a:t>[Sources]</a:t>
            </a:r>
          </a:p>
          <a:p xmlns:a="http://schemas.openxmlformats.org/drawingml/2006/main">
            <a:r>
              <a:t>- script.md — 0:12–0:30 problem framing</a:t>
            </a:r>
          </a:p>
          <a:p xmlns:a="http://schemas.openxmlformats.org/drawingml/2006/main">
            <a:r>
              <a:t>- docs/PRD.md — Primary persona and canonical mission</a:t>
            </a:r>
          </a:p>
          <a:p xmlns:a="http://schemas.openxmlformats.org/drawingml/2006/main">
            <a:r>
              <a:t>- README.md — Product search versus Woven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0:30–0:48</a:t>
            </a:r>
          </a:p>
          <a:p xmlns:a="http://schemas.openxmlformats.org/drawingml/2006/main">
            <a:r>
              <a:t>NARRATIVE JOB</a:t>
            </a:r>
          </a:p>
          <a:p xmlns:a="http://schemas.openxmlformats.org/drawingml/2006/main">
            <a:r>
              <a:t>Reveal Woven’s cart-level difference before switching to the product.</a:t>
            </a:r>
          </a:p>
          <a:p xmlns:a="http://schemas.openxmlformats.org/drawingml/2006/main">
            <a:r>
              <a:t/>
            </a:r>
          </a:p>
          <a:p xmlns:a="http://schemas.openxmlformats.org/drawingml/2006/main">
            <a:r>
              <a:t>SAY</a:t>
            </a:r>
          </a:p>
          <a:p xmlns:a="http://schemas.openxmlformats.org/drawingml/2006/main">
            <a:r>
              <a:t>“Woven understands the complete request, eliminates incompatible combinations, and creates five ready-to-buy choices in one comparison workspace. Every cart comes from one merchant and one location, with an explanation of why every component works.”</a:t>
            </a:r>
          </a:p>
          <a:p xmlns:a="http://schemas.openxmlformats.org/drawingml/2006/main">
            <a:r>
              <a:t/>
            </a:r>
          </a:p>
          <a:p xmlns:a="http://schemas.openxmlformats.org/drawingml/2006/main">
            <a:r>
              <a:t>POINT TO</a:t>
            </a:r>
          </a:p>
          <a:p xmlns:a="http://schemas.openxmlformats.org/drawingml/2006/main">
            <a:r>
              <a:t>Compare priorities and pickup areas. One merchant and pickup point. Four compatible components. S$133 total. Pickup today.</a:t>
            </a:r>
          </a:p>
          <a:p xmlns:a="http://schemas.openxmlformats.org/drawingml/2006/main">
            <a:r>
              <a:t/>
            </a:r>
          </a:p>
          <a:p xmlns:a="http://schemas.openxmlformats.org/drawingml/2006/main">
            <a:r>
              <a:t>TRANSITION</a:t>
            </a:r>
          </a:p>
          <a:p xmlns:a="http://schemas.openxmlformats.org/drawingml/2006/main">
            <a:r>
              <a:t>“Let me show you.”</a:t>
            </a:r>
          </a:p>
          <a:p xmlns:a="http://schemas.openxmlformats.org/drawingml/2006/main">
            <a:r>
              <a:t/>
            </a:r>
          </a:p>
          <a:p xmlns:a="http://schemas.openxmlformats.org/drawingml/2006/main">
            <a:r>
              <a:t>[Sources]</a:t>
            </a:r>
          </a:p>
          <a:p xmlns:a="http://schemas.openxmlformats.org/drawingml/2006/main">
            <a:r>
              <a:t>- script.md — 0:30–0:48 product reveal</a:t>
            </a:r>
          </a:p>
          <a:p xmlns:a="http://schemas.openxmlformats.org/drawingml/2006/main">
            <a:r>
              <a:t>- docs/assets/screenshots/buyer-overview.png</a:t>
            </a:r>
          </a:p>
          <a:p xmlns:a="http://schemas.openxmlformats.org/drawingml/2006/main">
            <a:r>
              <a:t>- docs/PRD.md — Complete-cart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0:48–1:30</a:t>
            </a:r>
          </a:p>
          <a:p xmlns:a="http://schemas.openxmlformats.org/drawingml/2006/main">
            <a:r>
              <a:t>NARRATIVE JOB</a:t>
            </a:r>
          </a:p>
          <a:p xmlns:a="http://schemas.openxmlformats.org/drawingml/2006/main">
            <a:r>
              <a:t>Hand off to the working MCP App or the /demo fallback and let the result prove the value.</a:t>
            </a:r>
          </a:p>
          <a:p xmlns:a="http://schemas.openxmlformats.org/drawingml/2006/main">
            <a:r>
              <a:t/>
            </a:r>
          </a:p>
          <a:p xmlns:a="http://schemas.openxmlformats.org/drawingml/2006/main">
            <a:r>
              <a:t>ENTER OR REVEAL</a:t>
            </a:r>
          </a:p>
          <a:p xmlns:a="http://schemas.openxmlformats.org/drawingml/2006/main">
            <a:r>
              <a:t>“I fly to Tokyo tonight. Build a charging kit for my MacBook Air, iPhone and AirPods under S$150, with pickup today.”</a:t>
            </a:r>
          </a:p>
          <a:p xmlns:a="http://schemas.openxmlformats.org/drawingml/2006/main">
            <a:r>
              <a:t/>
            </a:r>
          </a:p>
          <a:p xmlns:a="http://schemas.openxmlformats.org/drawingml/2006/main">
            <a:r>
              <a:t>DEMO ACTIONS</a:t>
            </a:r>
          </a:p>
          <a:p xmlns:a="http://schemas.openxmlformats.org/drawingml/2006/main">
            <a:r>
              <a:t>1. Open the five-choice Choice Center.</a:t>
            </a:r>
          </a:p>
          <a:p xmlns:a="http://schemas.openxmlformats.org/drawingml/2006/main">
            <a:r>
              <a:t>2. Compare carts, rerank by pickup or value, and return to Best match.</a:t>
            </a:r>
          </a:p>
          <a:p xmlns:a="http://schemas.openxmlformats.org/drawingml/2006/main">
            <a:r>
              <a:t>3. Select ByteRoute, point to “Why this works,” make the approved cable swap, and show the pickup planner.</a:t>
            </a:r>
          </a:p>
          <a:p xmlns:a="http://schemas.openxmlformats.org/drawingml/2006/main">
            <a:r>
              <a:t/>
            </a:r>
          </a:p>
          <a:p xmlns:a="http://schemas.openxmlformats.org/drawingml/2006/main">
            <a:r>
              <a:t>SAY</a:t>
            </a:r>
          </a:p>
          <a:p xmlns:a="http://schemas.openxmlformats.org/drawingml/2006/main">
            <a:r>
              <a:t>“Woven returned five complete choices—not loose product links. I can compare exact carts, change priorities, and make only merchant-approved compatible swaps without rebuilding the request.”</a:t>
            </a:r>
          </a:p>
          <a:p xmlns:a="http://schemas.openxmlformats.org/drawingml/2006/main">
            <a:r>
              <a:t/>
            </a:r>
          </a:p>
          <a:p xmlns:a="http://schemas.openxmlformats.org/drawingml/2006/main">
            <a:r>
              <a:t>STAGE GUARDRAIL</a:t>
            </a:r>
          </a:p>
          <a:p xmlns:a="http://schemas.openxmlformats.org/drawingml/2006/main">
            <a:r>
              <a:t>If the MCP host fails, move immediately to /demo; it uses the same backend.</a:t>
            </a:r>
          </a:p>
          <a:p xmlns:a="http://schemas.openxmlformats.org/drawingml/2006/main">
            <a:r>
              <a:t/>
            </a:r>
          </a:p>
          <a:p xmlns:a="http://schemas.openxmlformats.org/drawingml/2006/main">
            <a:r>
              <a:t>[Sources]</a:t>
            </a:r>
          </a:p>
          <a:p xmlns:a="http://schemas.openxmlformats.org/drawingml/2006/main">
            <a:r>
              <a:t>- script.md — 0:48–1:30 live demo</a:t>
            </a:r>
          </a:p>
          <a:p xmlns:a="http://schemas.openxmlformats.org/drawingml/2006/main">
            <a:r>
              <a:t>- docs/HANDOVER.md — Canonical demo and fallback</a:t>
            </a:r>
          </a:p>
          <a:p xmlns:a="http://schemas.openxmlformats.org/drawingml/2006/main">
            <a:r>
              <a:t>- docs/PRD.md — Canonical story and cart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1:30–2:15</a:t>
            </a:r>
          </a:p>
          <a:p xmlns:a="http://schemas.openxmlformats.org/drawingml/2006/main">
            <a:r>
              <a:t>NARRATIVE JOB</a:t>
            </a:r>
          </a:p>
          <a:p xmlns:a="http://schemas.openxmlformats.org/drawingml/2006/main">
            <a:r>
              <a:t>Draw the authorization boundary: the AI recommends; the user authorizes the exact purchase.</a:t>
            </a:r>
          </a:p>
          <a:p xmlns:a="http://schemas.openxmlformats.org/drawingml/2006/main">
            <a:r>
              <a:t/>
            </a:r>
          </a:p>
          <a:p xmlns:a="http://schemas.openxmlformats.org/drawingml/2006/main">
            <a:r>
              <a:t>WORKING DEMO ACTIONS — USE NOW</a:t>
            </a:r>
          </a:p>
          <a:p xmlns:a="http://schemas.openxmlformats.org/drawingml/2006/main">
            <a:r>
              <a:t>1. Click Review checkout.</a:t>
            </a:r>
          </a:p>
          <a:p xmlns:a="http://schemas.openxmlformats.org/drawingml/2006/main">
            <a:r>
              <a:t>2. Show the exact merchant, items, pickup location, total, cart version, and expiry.</a:t>
            </a:r>
          </a:p>
          <a:p xmlns:a="http://schemas.openxmlformats.org/drawingml/2006/main">
            <a:r>
              <a:t>3. Pause before clicking Confirm S$133.00.</a:t>
            </a:r>
          </a:p>
          <a:p xmlns:a="http://schemas.openxmlformats.org/drawingml/2006/main">
            <a:r>
              <a:t>4. Confirm and show the simulated Visa result and exact signed receipt.</a:t>
            </a:r>
          </a:p>
          <a:p xmlns:a="http://schemas.openxmlformats.org/drawingml/2006/main">
            <a:r>
              <a:t/>
            </a:r>
          </a:p>
          <a:p xmlns:a="http://schemas.openxmlformats.org/drawingml/2006/main">
            <a:r>
              <a:t>SAY</a:t>
            </a:r>
          </a:p>
          <a:p xmlns:a="http://schemas.openxmlformats.org/drawingml/2006/main">
            <a:r>
              <a:t>“Woven rechecks price and stock, then creates an exact ten-minute checkout preview. The AI recommended this cart, but it cannot approve it. Only one direct click can confirm the displayed terms.”</a:t>
            </a:r>
          </a:p>
          <a:p xmlns:a="http://schemas.openxmlformats.org/drawingml/2006/main">
            <a:r>
              <a:t/>
            </a:r>
          </a:p>
          <a:p xmlns:a="http://schemas.openxmlformats.org/drawingml/2006/main">
            <a:r>
              <a:t>“Only after that click does Woven return a simulated Visa result and a server-verifiable receipt. No card details enter Woven, and no live charge occurs.”</a:t>
            </a:r>
          </a:p>
          <a:p xmlns:a="http://schemas.openxmlformats.org/drawingml/2006/main">
            <a:r>
              <a:t/>
            </a:r>
          </a:p>
          <a:p xmlns:a="http://schemas.openxmlformats.org/drawingml/2006/main">
            <a:r>
              <a:t>TRUTH BOUNDARY</a:t>
            </a:r>
          </a:p>
          <a:p xmlns:a="http://schemas.openxmlformats.org/drawingml/2006/main">
            <a:r>
              <a:t>Identity verification is planned and not in the live build. Do not show a static identity mock as verification.</a:t>
            </a:r>
          </a:p>
          <a:p xmlns:a="http://schemas.openxmlformats.org/drawingml/2006/main">
            <a:r>
              <a:t/>
            </a:r>
          </a:p>
          <a:p xmlns:a="http://schemas.openxmlformats.org/drawingml/2006/main">
            <a:r>
              <a:t>TRANSITION</a:t>
            </a:r>
          </a:p>
          <a:p xmlns:a="http://schemas.openxmlformats.org/drawingml/2006/main">
            <a:r>
              <a:t>“The same controls are visible on the merchant side.”</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mandate binding, and receipt signing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2:15–2:35</a:t>
            </a:r>
          </a:p>
          <a:p xmlns:a="http://schemas.openxmlformats.org/drawingml/2006/main">
            <a:r>
              <a:t>NARRATIVE JOB</a:t>
            </a:r>
          </a:p>
          <a:p xmlns:a="http://schemas.openxmlformats.org/drawingml/2006/main">
            <a:r>
              <a:t>Prove that merchants control what the AI may offer and can test recovery live.</a:t>
            </a:r>
          </a:p>
          <a:p xmlns:a="http://schemas.openxmlformats.org/drawingml/2006/main">
            <a:r>
              <a:t/>
            </a:r>
          </a:p>
          <a:p xmlns:a="http://schemas.openxmlformats.org/drawingml/2006/main">
            <a:r>
              <a:t>DEMO ACTIONS</a:t>
            </a:r>
          </a:p>
          <a:p xmlns:a="http://schemas.openxmlformats.org/drawingml/2006/main">
            <a:r>
              <a:t>Open the Merchant Desk. Show approved alternatives, inventory and price controls, confirmed orders, the audit trail, and the stockout, price-change, decline, and reversal scenarios.</a:t>
            </a:r>
          </a:p>
          <a:p xmlns:a="http://schemas.openxmlformats.org/drawingml/2006/main">
            <a:r>
              <a:t/>
            </a:r>
          </a:p>
          <a:p xmlns:a="http://schemas.openxmlformats.org/drawingml/2006/main">
            <a:r>
              <a:t>SAY</a:t>
            </a:r>
          </a:p>
          <a:p xmlns:a="http://schemas.openxmlformats.org/drawingml/2006/main">
            <a:r>
              <a:t>“Merchants publish compatible alternatives, control price and stock, and see exact confirmed orders. Withdrawing a swap invalidates dependent unconfirmed carts, so Woven rebuilds fresh choices instead of silently substituting.”</a:t>
            </a:r>
          </a:p>
          <a:p xmlns:a="http://schemas.openxmlformats.org/drawingml/2006/main">
            <a:r>
              <a:t/>
            </a:r>
          </a:p>
          <a:p xmlns:a="http://schemas.openxmlformats.org/drawingml/2006/main">
            <a:r>
              <a:t>TRUTH BOUNDARY</a:t>
            </a:r>
          </a:p>
          <a:p xmlns:a="http://schemas.openxmlformats.org/drawingml/2006/main">
            <a:r>
              <a:t>Call the current values seeded demo data. Do not imply a production merchant integration or live payment rail.</a:t>
            </a:r>
          </a:p>
          <a:p xmlns:a="http://schemas.openxmlformats.org/drawingml/2006/main">
            <a:r>
              <a:t/>
            </a:r>
          </a:p>
          <a:p xmlns:a="http://schemas.openxmlformats.org/drawingml/2006/main">
            <a:r>
              <a:t>TRANSITION</a:t>
            </a:r>
          </a:p>
          <a:p xmlns:a="http://schemas.openxmlformats.org/drawingml/2006/main">
            <a:r>
              <a:t>“That brings us back to why this belongs inside ChatGPT.”</a:t>
            </a:r>
          </a:p>
          <a:p xmlns:a="http://schemas.openxmlformats.org/drawingml/2006/main">
            <a:r>
              <a:t/>
            </a:r>
          </a:p>
          <a:p xmlns:a="http://schemas.openxmlformats.org/drawingml/2006/main">
            <a:r>
              <a:t>[Sources]</a:t>
            </a:r>
          </a:p>
          <a:p xmlns:a="http://schemas.openxmlformats.org/drawingml/2006/main">
            <a:r>
              <a:t>- script.md — 2:15–2:35 merchant operations</a:t>
            </a:r>
          </a:p>
          <a:p xmlns:a="http://schemas.openxmlformats.org/drawingml/2006/main">
            <a:r>
              <a:t>- docs/assets/screenshots/merchant-dashboard.png</a:t>
            </a:r>
          </a:p>
          <a:p xmlns:a="http://schemas.openxmlformats.org/drawingml/2006/main">
            <a:r>
              <a:t>- docs/architecture.md — Merchant state and recovery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2:35–3:00</a:t>
            </a:r>
          </a:p>
          <a:p xmlns:a="http://schemas.openxmlformats.org/drawingml/2006/main">
            <a:r>
              <a:t>NARRATIVE JOB</a:t>
            </a:r>
          </a:p>
          <a:p xmlns:a="http://schemas.openxmlformats.org/drawingml/2006/main">
            <a:r>
              <a:t>Resolve the opening thesis and land the memorable close.</a:t>
            </a:r>
          </a:p>
          <a:p xmlns:a="http://schemas.openxmlformats.org/drawingml/2006/main">
            <a:r>
              <a:t/>
            </a:r>
          </a:p>
          <a:p xmlns:a="http://schemas.openxmlformats.org/drawingml/2006/main">
            <a:r>
              <a:t>SAY</a:t>
            </a:r>
          </a:p>
          <a:p xmlns:a="http://schemas.openxmlformats.org/drawingml/2006/main">
            <a:r>
              <a:t>“Why ChatGPT? Because that is where the user’s request already exists. Woven turns that conversation into comparable merchant actions, an exact checkout, and a signed receipt without asking the user to start again.”</a:t>
            </a:r>
          </a:p>
          <a:p xmlns:a="http://schemas.openxmlformats.org/drawingml/2006/main">
            <a:r>
              <a:t/>
            </a:r>
          </a:p>
          <a:p xmlns:a="http://schemas.openxmlformats.org/drawingml/2006/main">
            <a:r>
              <a:t>“This prototype uses seeded inventory and a simulated Visa authorization; no live charge occurs. Our next trust step is the connector-style demo identity check.”</a:t>
            </a:r>
          </a:p>
          <a:p xmlns:a="http://schemas.openxmlformats.org/drawingml/2006/main">
            <a:r>
              <a:t/>
            </a:r>
          </a:p>
          <a:p xmlns:a="http://schemas.openxmlformats.org/drawingml/2006/main">
            <a:r>
              <a:t>“Woven makes shopping through AI simple enough to use—and controlled enough to trust.”</a:t>
            </a:r>
          </a:p>
          <a:p xmlns:a="http://schemas.openxmlformats.org/drawingml/2006/main">
            <a:r>
              <a:t/>
            </a:r>
          </a:p>
          <a:p xmlns:a="http://schemas.openxmlformats.org/drawingml/2006/main">
            <a:r>
              <a:t>CLOSE</a:t>
            </a:r>
          </a:p>
          <a:p xmlns:a="http://schemas.openxmlformats.org/drawingml/2006/main">
            <a:r>
              <a:t>Ask once. Review once. Confirm once.</a:t>
            </a:r>
          </a:p>
          <a:p xmlns:a="http://schemas.openxmlformats.org/drawingml/2006/main">
            <a:r>
              <a:t/>
            </a:r>
          </a:p>
          <a:p xmlns:a="http://schemas.openxmlformats.org/drawingml/2006/main">
            <a:r>
              <a:t>STAGE CUE</a:t>
            </a:r>
          </a:p>
          <a:p xmlns:a="http://schemas.openxmlformats.org/drawingml/2006/main">
            <a:r>
              <a:t>End the three-minute pitch here. Slides 8–11 are Q&amp;A backups only.</a:t>
            </a:r>
          </a:p>
          <a:p xmlns:a="http://schemas.openxmlformats.org/drawingml/2006/main">
            <a:r>
              <a:t/>
            </a:r>
          </a:p>
          <a:p xmlns:a="http://schemas.openxmlformats.org/drawingml/2006/main">
            <a:r>
              <a:t>[Sources]</a:t>
            </a:r>
          </a:p>
          <a:p xmlns:a="http://schemas.openxmlformats.org/drawingml/2006/main">
            <a:r>
              <a:t>- script.md — 2:35–3:00 closing</a:t>
            </a:r>
          </a:p>
          <a:p xmlns:a="http://schemas.openxmlformats.org/drawingml/2006/main">
            <a:r>
              <a:t>- docs/assets/screenshots/order-success.png</a:t>
            </a:r>
          </a:p>
          <a:p xmlns:a="http://schemas.openxmlformats.org/drawingml/2006/main">
            <a:r>
              <a:t>- docs/DEVPOST_SUBMISSION.md — Three-minute judge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REAL</a:t>
            </a:r>
          </a:p>
          <a:p xmlns:a="http://schemas.openxmlformats.org/drawingml/2006/main">
            <a:r>
              <a:t>The working prototype includes the MCP App and browser fallback, five ranked complete carts, comparison and preference controls, compatible merchant-approved swaps, pickup planning, stale-cart recovery, exact expiring checkout terms, direct confirmation, idempotency, signed receipts, merchant controls, failure scenarios, and an audit trail.</a:t>
            </a:r>
          </a:p>
          <a:p xmlns:a="http://schemas.openxmlformats.org/drawingml/2006/main">
            <a:r>
              <a:t/>
            </a:r>
          </a:p>
          <a:p xmlns:a="http://schemas.openxmlformats.org/drawingml/2006/main">
            <a:r>
              <a:t>JUDGE ANSWER</a:t>
            </a:r>
          </a:p>
          <a:p xmlns:a="http://schemas.openxmlformats.org/drawingml/2006/main">
            <a:r>
              <a:t>“The core journey is working end to end with seeded demo inventory and a simulated payment boundary. The primary product is the MCP App; /demo is the same backend over HTTP for stage reliability.”</a:t>
            </a:r>
          </a:p>
          <a:p xmlns:a="http://schemas.openxmlformats.org/drawingml/2006/main">
            <a:r>
              <a:t/>
            </a:r>
          </a:p>
          <a:p xmlns:a="http://schemas.openxmlformats.org/drawingml/2006/main">
            <a:r>
              <a:t>[Sources]</a:t>
            </a:r>
          </a:p>
          <a:p xmlns:a="http://schemas.openxmlformats.org/drawingml/2006/main">
            <a:r>
              <a:t>- README.md — Implemented surfaces and workflow</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Q&amp;A — WHAT IS SIMULATED</a:t>
            </a:r>
          </a:p>
          <a:p xmlns:a="http://schemas.openxmlformats.org/drawingml/2006/main">
            <a:r>
              <a:t>Inventory and pickup estimates are seeded. Identity verification is a planned product direction, not a live feature. Visa approval, decline, and reversal are simulated. No Visa account is accessed, no payment credentials are collected, and no live charge or partnership is claimed.</a:t>
            </a:r>
          </a:p>
          <a:p xmlns:a="http://schemas.openxmlformats.org/drawingml/2006/main">
            <a:r>
              <a:t/>
            </a:r>
          </a:p>
          <a:p xmlns:a="http://schemas.openxmlformats.org/drawingml/2006/main">
            <a:r>
              <a:t>JUDGE ANSWER</a:t>
            </a:r>
          </a:p>
          <a:p xmlns:a="http://schemas.openxmlformats.org/drawingml/2006/main">
            <a:r>
              <a:t>“The trust boundary is explicit: the working product binds exact terms and requires direct confirmation; identity is next, and the payment rail is clearly simulated.”</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TECHNICAL Q&amp;A — ARCHITECTURE</a:t>
            </a:r>
          </a:p>
          <a:p xmlns:a="http://schemas.openxmlformats.org/drawingml/2006/main">
            <a:r>
              <a:t>The ChatGPT or Codex host invokes Woven’s MCP tools. One Node.js service owns cart construction, checkout mandate binding, confirmation, order state, merchant operations, and the simulated Visa adapter. The browser demo is a second transport over the same backend, not a separate product.</a:t>
            </a:r>
          </a:p>
          <a:p xmlns:a="http://schemas.openxmlformats.org/drawingml/2006/main">
            <a:r>
              <a:t/>
            </a:r>
          </a:p>
          <a:p xmlns:a="http://schemas.openxmlformats.org/drawingml/2006/main">
            <a:r>
              <a:t>POINT TO</a:t>
            </a:r>
          </a:p>
          <a:p xmlns:a="http://schemas.openxmlformats.org/drawingml/2006/main">
            <a:r>
              <a:t>MCP and HTTP transports. Mission and cart engine. Checkout guard. Node SQLite atomic inventory and order transaction. Simulated Visa boundary.</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a:p xmlns:a="http://schemas.openxmlformats.org/drawingml/2006/main">
            <a:r>
              <a:t>- docs/HANDOVER.md — One-service product invariant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IN TRUST AND SAFETY Q&amp;A</a:t>
            </a:r>
          </a:p>
          <a:p xmlns:a="http://schemas.openxmlformats.org/drawingml/2006/main">
            <a:r>
              <a:t>Current controls bind merchant, cart version, amount, expiry, nonce, and idempotency key; recheck price and stock; keep the confirmation nonce outside model-visible tool arguments; and simulate reversal after downstream merchant failure. Identity is a planned pre-checkout control and is not implemented.</a:t>
            </a:r>
          </a:p>
          <a:p xmlns:a="http://schemas.openxmlformats.org/drawingml/2006/main">
            <a:r>
              <a:t/>
            </a:r>
          </a:p>
          <a:p xmlns:a="http://schemas.openxmlformats.org/drawingml/2006/main">
            <a:r>
              <a:t>JUDGE ANSWER</a:t>
            </a:r>
          </a:p>
          <a:p xmlns:a="http://schemas.openxmlformats.org/drawingml/2006/main">
            <a:r>
              <a:t>“The model never gets the final yes. It can recommend, but only the widget receives the private confirmation value, and only a direct user action can consume it for the exact displayed terms.”</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nonce, idempotency, and reversal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e9b812c67840d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feffdb458a47be" /><Relationship Type="http://schemas.openxmlformats.org/officeDocument/2006/relationships/slideLayout" Target="/ppt/slideLayouts/slideLayout1.xml" Id="R41e51d75fcdc47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1e51d75fcdc47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e82e8fee57407e" /><Relationship Type="http://schemas.openxmlformats.org/officeDocument/2006/relationships/image" Target="/ppt/media/image.png" Id="R14f3d1fe560b423d" /><Relationship Type="http://schemas.openxmlformats.org/officeDocument/2006/relationships/notesSlide" Target="/ppt/notesSlides/notesSlide1.xml" Id="Rbceab785cb6941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aa195cb4a9479c" /><Relationship Type="http://schemas.openxmlformats.org/officeDocument/2006/relationships/notesSlide" Target="/ppt/notesSlides/notesSlide2.xml" Id="R9b1804215aea49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51e9ea97c8546fe" /><Relationship Type="http://schemas.openxmlformats.org/officeDocument/2006/relationships/image" Target="/ppt/media/image2.png" Id="Rdcf38bad2e744351" /><Relationship Type="http://schemas.openxmlformats.org/officeDocument/2006/relationships/notesSlide" Target="/ppt/notesSlides/notesSlide3.xml" Id="R5111a822c25d40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689a8e3217e45eb" /><Relationship Type="http://schemas.openxmlformats.org/officeDocument/2006/relationships/notesSlide" Target="/ppt/notesSlides/notesSlide4.xml" Id="Rf42f67cc74b24f9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39a658b37e4d46" /><Relationship Type="http://schemas.openxmlformats.org/officeDocument/2006/relationships/notesSlide" Target="/ppt/notesSlides/notesSlide5.xml" Id="Re5c729f2bcdb49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5046635802047a0" /><Relationship Type="http://schemas.openxmlformats.org/officeDocument/2006/relationships/image" Target="/ppt/media/image3.png" Id="Re5c79d57683c468c" /><Relationship Type="http://schemas.openxmlformats.org/officeDocument/2006/relationships/notesSlide" Target="/ppt/notesSlides/notesSlide6.xml" Id="R1c63c94f46e342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eaea0c9b8d84d99" /><Relationship Type="http://schemas.openxmlformats.org/officeDocument/2006/relationships/image" Target="/ppt/media/image4.png" Id="Rce2a89a156cd4888" /><Relationship Type="http://schemas.openxmlformats.org/officeDocument/2006/relationships/notesSlide" Target="/ppt/notesSlides/notesSlide7.xml" Id="Ra2233d0c683442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5154252e93f4e3d" /><Relationship Type="http://schemas.openxmlformats.org/officeDocument/2006/relationships/notesSlide" Target="/ppt/notesSlides/notesSlide8.xml" Id="R06d871dc28444a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d9d8484ff1a4af4" /><Relationship Type="http://schemas.openxmlformats.org/officeDocument/2006/relationships/notesSlide" Target="/ppt/notesSlides/notesSlide9.xml" Id="R652ee6fafed842f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3c0877be3f44bb" /><Relationship Type="http://schemas.openxmlformats.org/officeDocument/2006/relationships/image" Target="/ppt/media/image5.png" Id="Ra4bfcb8d8a184bbe" /><Relationship Type="http://schemas.openxmlformats.org/officeDocument/2006/relationships/notesSlide" Target="/ppt/notesSlides/notesSlide10.xml" Id="Rdf253237b1d6419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513b4730db44c51" /><Relationship Type="http://schemas.openxmlformats.org/officeDocument/2006/relationships/image" Target="/ppt/media/image6.png" Id="R4b901183a5ee44a0" /><Relationship Type="http://schemas.openxmlformats.org/officeDocument/2006/relationships/notesSlide" Target="/ppt/notesSlides/notesSlide11.xml" Id="Rc32508a5c0dc4c5f"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4f3d1fe560b423d"/>
          <a:srcRect xmlns:a="http://schemas.openxmlformats.org/drawingml/2006/main" l="12000" t="0" r="2000" b="0"/>
          <a:stretch xmlns:a="http://schemas.openxmlformats.org/drawingml/2006/main">
            <a:fillRect l="0" t="0" r="0" b="0"/>
          </a:stretch>
        </p:blipFill>
        <p:spPr>
          <a:xfrm xmlns:a="http://schemas.openxmlformats.org/drawingml/2006/main" flipH="0" flipV="0">
            <a:off x="7715250" y="2477691"/>
            <a:ext cx="6667500" cy="3750469"/>
          </a:xfrm>
          <a:prstGeom xmlns:a="http://schemas.openxmlformats.org/drawingml/2006/main" prst="roundRect">
            <a:avLst/>
          </a:prstGeom>
        </p:spPr>
      </p:pic>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cf38bad2e744351"/>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5 complete choices.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Identity is the
next integration.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PLANNED — server-enforced before checkout; not in the live demo.</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click, then simulated Visa authorization.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ALTERNATIVES</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Publish compatible swaps</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Invalidate stale buyer carts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5c79d57683c468c"/>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e2a89a156cd4888"/>
          <a:srcRect xmlns:a="http://schemas.openxmlformats.org/drawingml/2006/main" l="0" t="0" r="0" b="0"/>
          <a:stretch xmlns:a="http://schemas.openxmlformats.org/drawingml/2006/main">
            <a:fillRect l="0" t="0" r="0" b="0"/>
          </a:stretch>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IDENTITY PLANNED · VISA SIMULATED · RECEIPT VERIFIED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Five ranked complete carts.
Compare · preferences · safe swaps.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Expiring exact terms.
Direct confirmation · signed receipt.</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Alternatives · inventory · scenarios.
Orders ·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prototype never claims live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Identity direction</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Connector-style check is planned
and not in the live demo.</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bfcb8d8a184bbe"/>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PLANNED / NOT LIVE</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b901183a5ee44a0"/>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2026-08-30T03:20:16.8840000Z</dcterms:created>
  <dcterms:modified xsi:type="dcterms:W3CDTF">2026-08-30T03:20:16.8840000Z</dcterms:modified>
</coreProperties>
</file>
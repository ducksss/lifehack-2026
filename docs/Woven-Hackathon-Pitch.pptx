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90e8669850419d" /><Relationship Type="http://schemas.openxmlformats.org/officeDocument/2006/relationships/extended-properties" Target="/docProps/app.xml" Id="Rea85f19940a54197" /><Relationship Type="http://schemas.openxmlformats.org/officeDocument/2006/relationships/officeDocument" Target="/ppt/presentation.xml" Id="Rad69335290ab4d13" /></Relationships>
</file>

<file path=ppt/presentation.xml><?xml version="1.0" encoding="utf-8"?>
<p:presentation xmlns:p="http://schemas.openxmlformats.org/presentationml/2006/main">
  <p:sldMasterIdLst>
    <p:sldMasterId xmlns:r="http://schemas.openxmlformats.org/officeDocument/2006/relationships" id="2147483648" r:id="R8bb069ef1eff4021"/>
  </p:sldMasterIdLst>
  <p:notesMasterIdLst>
    <p:notesMasterId xmlns:r="http://schemas.openxmlformats.org/officeDocument/2006/relationships" r:id="R9bfe1537af464953"/>
  </p:notesMasterIdLst>
  <p:sldIdLst>
    <p:sldId xmlns:r="http://schemas.openxmlformats.org/officeDocument/2006/relationships" id="256" r:id="R01a55d14d72a43e2"/>
    <p:sldId xmlns:r="http://schemas.openxmlformats.org/officeDocument/2006/relationships" id="257" r:id="Rcca756c81a944b54"/>
    <p:sldId xmlns:r="http://schemas.openxmlformats.org/officeDocument/2006/relationships" id="258" r:id="Ra255e64cb5c34745"/>
    <p:sldId xmlns:r="http://schemas.openxmlformats.org/officeDocument/2006/relationships" id="259" r:id="R5f1edd239df84073"/>
    <p:sldId xmlns:r="http://schemas.openxmlformats.org/officeDocument/2006/relationships" id="260" r:id="R14a2b09ab7214aa5"/>
    <p:sldId xmlns:r="http://schemas.openxmlformats.org/officeDocument/2006/relationships" id="261" r:id="R046ee7eb48074441"/>
    <p:sldId xmlns:r="http://schemas.openxmlformats.org/officeDocument/2006/relationships" id="262" r:id="R9fef41f5c97a4c6e"/>
    <p:sldId xmlns:r="http://schemas.openxmlformats.org/officeDocument/2006/relationships" id="263" r:id="Re4405348a5dd4046"/>
    <p:sldId xmlns:r="http://schemas.openxmlformats.org/officeDocument/2006/relationships" id="264" r:id="R942f001528804845"/>
    <p:sldId xmlns:r="http://schemas.openxmlformats.org/officeDocument/2006/relationships" id="265" r:id="R079fc41cb69647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e6e7181eb524a3b" /><Relationship Type="http://schemas.openxmlformats.org/officeDocument/2006/relationships/slideMaster" Target="/ppt/slideMasters/slideMaster1.xml" Id="R8bb069ef1eff4021" /><Relationship Type="http://schemas.openxmlformats.org/officeDocument/2006/relationships/notesMaster" Target="/ppt/notesMasters/notesMaster1.xml" Id="R9bfe1537af464953" /><Relationship Type="http://schemas.openxmlformats.org/officeDocument/2006/relationships/presProps" Target="/ppt/presProps.xml" Id="R9121cc4a27ca493f" /><Relationship Type="http://schemas.openxmlformats.org/officeDocument/2006/relationships/tableStyles" Target="/ppt/tableStyles.xml" Id="Rbcea03ec97904235" /><Relationship Type="http://schemas.openxmlformats.org/officeDocument/2006/relationships/slide" Target="/ppt/slides/slide1.xml" Id="R01a55d14d72a43e2" /><Relationship Type="http://schemas.openxmlformats.org/officeDocument/2006/relationships/slide" Target="/ppt/slides/slide2.xml" Id="Rcca756c81a944b54" /><Relationship Type="http://schemas.openxmlformats.org/officeDocument/2006/relationships/slide" Target="/ppt/slides/slide3.xml" Id="Ra255e64cb5c34745" /><Relationship Type="http://schemas.openxmlformats.org/officeDocument/2006/relationships/slide" Target="/ppt/slides/slide4.xml" Id="R5f1edd239df84073" /><Relationship Type="http://schemas.openxmlformats.org/officeDocument/2006/relationships/slide" Target="/ppt/slides/slide5.xml" Id="R14a2b09ab7214aa5" /><Relationship Type="http://schemas.openxmlformats.org/officeDocument/2006/relationships/slide" Target="/ppt/slides/slide6.xml" Id="R046ee7eb48074441" /><Relationship Type="http://schemas.openxmlformats.org/officeDocument/2006/relationships/slide" Target="/ppt/slides/slide7.xml" Id="R9fef41f5c97a4c6e" /><Relationship Type="http://schemas.openxmlformats.org/officeDocument/2006/relationships/slide" Target="/ppt/slides/slide8.xml" Id="Re4405348a5dd4046" /><Relationship Type="http://schemas.openxmlformats.org/officeDocument/2006/relationships/slide" Target="/ppt/slides/slide9.xml" Id="R942f001528804845" /><Relationship Type="http://schemas.openxmlformats.org/officeDocument/2006/relationships/slide" Target="/ppt/slides/slide10.xml" Id="R079fc41cb69647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6d68367aa54a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07c9594f90549af" /><Relationship Type="http://schemas.openxmlformats.org/officeDocument/2006/relationships/notesMaster" Target="/ppt/notesMasters/notesMaster1.xml" Id="R6316d7dc0c254d7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365ed0f51f4c60" /><Relationship Type="http://schemas.openxmlformats.org/officeDocument/2006/relationships/notesMaster" Target="/ppt/notesMasters/notesMaster1.xml" Id="R215013e7bf4742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f5bf22a2284bdf" /><Relationship Type="http://schemas.openxmlformats.org/officeDocument/2006/relationships/notesMaster" Target="/ppt/notesMasters/notesMaster1.xml" Id="R34609d83f23446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952c80d92d4cbd" /><Relationship Type="http://schemas.openxmlformats.org/officeDocument/2006/relationships/notesMaster" Target="/ppt/notesMasters/notesMaster1.xml" Id="Rf6aaa50430ff4e3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824b889ac344ee2" /><Relationship Type="http://schemas.openxmlformats.org/officeDocument/2006/relationships/notesMaster" Target="/ppt/notesMasters/notesMaster1.xml" Id="R5eeb563750eb4bc0" /></Relationships>
</file>

<file path=ppt/notesSlides/_rels/notesSlide6.xml.rels>&#65279;<?xml version="1.0" encoding="utf-8"?><Relationships xmlns="http://schemas.openxmlformats.org/package/2006/relationships"><Relationship Type="http://schemas.openxmlformats.org/officeDocument/2006/relationships/slide" Target="/ppt/slides/slide6.xml" Id="R584e21fd07af4b5a" /><Relationship Type="http://schemas.openxmlformats.org/officeDocument/2006/relationships/notesMaster" Target="/ppt/notesMasters/notesMaster1.xml" Id="Rdbb0213d6a934f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1e7cb20bbc46e8" /><Relationship Type="http://schemas.openxmlformats.org/officeDocument/2006/relationships/notesMaster" Target="/ppt/notesMasters/notesMaster1.xml" Id="R04f97741a90d4c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41cae94ec24bd6" /><Relationship Type="http://schemas.openxmlformats.org/officeDocument/2006/relationships/notesMaster" Target="/ppt/notesMasters/notesMaster1.xml" Id="R9e46f3dae00c4e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9407d69a31940f8" /><Relationship Type="http://schemas.openxmlformats.org/officeDocument/2006/relationships/notesMaster" Target="/ppt/notesMasters/notesMaster1.xml" Id="R3f3ea6d707bf49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f4128bb2b694fe3" /><Relationship Type="http://schemas.openxmlformats.org/officeDocument/2006/relationships/notesMaster" Target="/ppt/notesMasters/notesMaster1.xml" Id="R0de1be42cdcd44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already ask ChatGPT what to buy. But actually buying still means opening tabs, checking quantities, finding stock, and rebuilding everything at checkout. We built Woven to finish that process.</a:t>
            </a:r>
          </a:p>
          <a:p xmlns:a="http://schemas.openxmlformats.org/drawingml/2006/main">
            <a:r>
              <a:t/>
            </a:r>
          </a:p>
          <a:p xmlns:a="http://schemas.openxmlformats.org/drawingml/2006/main">
            <a:r>
              <a:t>[Sources]</a:t>
            </a:r>
          </a:p>
          <a:p xmlns:a="http://schemas.openxmlformats.org/drawingml/2006/main">
            <a:r>
              <a:t>- output/playwright/woven-camping-options.png</a:t>
            </a:r>
          </a:p>
          <a:p xmlns:a="http://schemas.openxmlformats.org/drawingml/2006/main">
            <a:r>
              <a:t>- 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planning a first camping trip for two on a rainy weekend. Finding a tent is not the hard part. The hard part is sizing every item, checking rain ratings, fitting everything in one car, staying under S$300, and collecting it from one location.</a:t>
            </a:r>
          </a:p>
          <a:p xmlns:a="http://schemas.openxmlformats.org/drawingml/2006/main">
            <a:r>
              <a:t/>
            </a:r>
          </a:p>
          <a:p xmlns:a="http://schemas.openxmlformats.org/drawingml/2006/main">
            <a:r>
              <a:t>[Sources]</a:t>
            </a:r>
          </a:p>
          <a:p xmlns:a="http://schemas.openxmlformats.org/drawingml/2006/main">
            <a:r>
              <a:t>- docs/PRD.md</a:t>
            </a:r>
          </a:p>
          <a:p xmlns:a="http://schemas.openxmlformats.org/drawingml/2006/main">
            <a:r>
              <a:t>- docs/assets/slides/woven-friction.png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Without connected commerce, even a useful ChatGPT answer can stop at product links. A tent from one store, sleeping bags from another, mats somewhere else, then lighting and first aid. I have suggestions, but I still do not have one complete kit.</a:t>
            </a:r>
          </a:p>
          <a:p xmlns:a="http://schemas.openxmlformats.org/drawingml/2006/main">
            <a:r>
              <a:t/>
            </a:r>
          </a:p>
          <a:p xmlns:a="http://schemas.openxmlformats.org/drawingml/2006/main">
            <a:r>
              <a:t>[Sources]</a:t>
            </a:r>
          </a:p>
          <a:p xmlns:a="http://schemas.openxmlformats.org/drawingml/2006/main">
            <a:r>
              <a:t>- Illustrative workflow based on the problem framing in README.md; no external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I have to open every link and verify shelter capacity, rain ratings, quantities, packed volume, stock, merchant, total, and pickup time. The AI answered quickly, but the work moved back to me.</a:t>
            </a:r>
          </a:p>
          <a:p xmlns:a="http://schemas.openxmlformats.org/drawingml/2006/main">
            <a:r>
              <a:t/>
            </a:r>
          </a:p>
          <a:p xmlns:a="http://schemas.openxmlformats.org/drawingml/2006/main">
            <a:r>
              <a:t>[Sources]</a:t>
            </a:r>
          </a:p>
          <a:p xmlns:a="http://schemas.openxmlformats.org/drawingml/2006/main">
            <a:r>
              <a:t>- docs/PRD.md</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 I do not want to download another shopping app, create another account, and type the same request again. The mission already exists inside ChatGPT or Codex. The complete cart should appear there too.</a:t>
            </a:r>
          </a:p>
          <a:p xmlns:a="http://schemas.openxmlformats.org/drawingml/2006/main">
            <a:r>
              <a:t/>
            </a:r>
          </a:p>
          <a:p xmlns:a="http://schemas.openxmlformats.org/drawingml/2006/main">
            <a:r>
              <a:t>[Sources]</a:t>
            </a:r>
          </a:p>
          <a:p xmlns:a="http://schemas.openxmlformats.org/drawingml/2006/main">
            <a:r>
              <a:t>- docs/assets/slides/woven-camping-kit.png (generated with built-in image generation)</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Woven turns that same sentence into three complete options, not loose links. The S$231 TrailHaus cart includes a rainproof tent, two sleeping bags, two mats, a rain-ready lantern, and first aid. All seven units fit one car boot, stay under budget, and come from one pickup location using seeded demo inventory.</a:t>
            </a:r>
          </a:p>
          <a:p xmlns:a="http://schemas.openxmlformats.org/drawingml/2006/main">
            <a:r>
              <a:t/>
            </a:r>
          </a:p>
          <a:p xmlns:a="http://schemas.openxmlformats.org/drawingml/2006/main">
            <a:r>
              <a:t>[Sources]</a:t>
            </a:r>
          </a:p>
          <a:p xmlns:a="http://schemas.openxmlformats.org/drawingml/2006/main">
            <a:r>
              <a:t>- output/playwright/woven-camping-options.png</a:t>
            </a:r>
          </a:p>
          <a:p xmlns:a="http://schemas.openxmlformats.org/drawingml/2006/main">
            <a:r>
              <a:t>- docs/PRD.md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path. ChatGPT captures the mission. Woven builds complete carts and proves every constraint. A simulated demo identity verifies who is present. Woven then rechecks price and stock, shows the exact terms, and still waits for the user's direct confirmation before the simulated Visa result.</a:t>
            </a:r>
          </a:p>
          <a:p xmlns:a="http://schemas.openxmlformats.org/drawingml/2006/main">
            <a:r>
              <a:t/>
            </a:r>
          </a:p>
          <a:p xmlns:a="http://schemas.openxmlformats.org/drawingml/2006/main">
            <a:r>
              <a:t>[Sources]</a:t>
            </a:r>
          </a:p>
          <a:p xmlns:a="http://schemas.openxmlformats.org/drawingml/2006/main">
            <a:r>
              <a:t>- docs/architecture.md</a:t>
            </a:r>
          </a:p>
          <a:p xmlns:a="http://schemas.openxmlformats.org/drawingml/2006/main">
            <a:r>
              <a:t>- test/store.test.ts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Identity proves who is present; it does not authorize the purchase. Woven rechecks price and stock and binds the merchant, seven units, S$231 total, cart version, and expiry. The model never receives the final confirmation secret. Only a direct user action can produce the simulated Visa result; no live charge occurs.</a:t>
            </a:r>
          </a:p>
          <a:p xmlns:a="http://schemas.openxmlformats.org/drawingml/2006/main">
            <a:r>
              <a:t/>
            </a:r>
          </a:p>
          <a:p xmlns:a="http://schemas.openxmlformats.org/drawingml/2006/main">
            <a:r>
              <a:t>[Sources]</a:t>
            </a:r>
          </a:p>
          <a:p xmlns:a="http://schemas.openxmlformats.org/drawingml/2006/main">
            <a:r>
              <a:t>- output/playwright/woven-camping-proof.png</a:t>
            </a:r>
          </a:p>
          <a:p xmlns:a="http://schemas.openxmlformats.org/drawingml/2006/main">
            <a:r>
              <a:t>- docs/architecture.md</a:t>
            </a:r>
          </a:p>
          <a:p xmlns:a="http://schemas.openxmlformats.org/drawingml/2006/main">
            <a:r>
              <a:t>- test/store.test.ts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merchant side is controllable too. Woven supports inventory import, price and stock updates, exact orders, and an audit trail. We can test stale prices, stockouts, declines, and reversals without changing the code.</a:t>
            </a:r>
          </a:p>
          <a:p xmlns:a="http://schemas.openxmlformats.org/drawingml/2006/main">
            <a:r>
              <a:t/>
            </a:r>
          </a:p>
          <a:p xmlns:a="http://schemas.openxmlformats.org/drawingml/2006/main">
            <a:r>
              <a:t>[Sources]</a:t>
            </a:r>
          </a:p>
          <a:p xmlns:a="http://schemas.openxmlformats.org/drawingml/2006/main">
            <a:r>
              <a:t>- output/playwright/woven-merchant-scenarios.png</a:t>
            </a:r>
          </a:p>
          <a:p xmlns:a="http://schemas.openxmlformats.org/drawingml/2006/main">
            <a:r>
              <a:t>- docs/PRD.md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ChatGPT understands the request. Woven builds the right cart. The user controls authorization. This prototype uses seeded inventory, simulated demo identity, and simulated Visa authorization, so no live charge occurs. Woven makes shopping through AI simple enough to use and controlled enough to trust. Ask once. Review once. Confirm once.</a:t>
            </a:r>
          </a:p>
          <a:p xmlns:a="http://schemas.openxmlformats.org/drawingml/2006/main">
            <a:r>
              <a:t/>
            </a:r>
          </a:p>
          <a:p xmlns:a="http://schemas.openxmlformats.org/drawingml/2006/main">
            <a:r>
              <a:t>[Sources]</a:t>
            </a:r>
          </a:p>
          <a:p xmlns:a="http://schemas.openxmlformats.org/drawingml/2006/main">
            <a:r>
              <a:t>- script.md</a:t>
            </a:r>
          </a:p>
          <a:p xmlns:a="http://schemas.openxmlformats.org/drawingml/2006/main">
            <a:r>
              <a:t>-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3ae9bbf2a9496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9d17c7355d4172" /><Relationship Type="http://schemas.openxmlformats.org/officeDocument/2006/relationships/slideLayout" Target="/ppt/slideLayouts/slideLayout1.xml" Id="Ra6b2c463c0144b7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b2c463c0144b7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fe0e3fec364335" /><Relationship Type="http://schemas.openxmlformats.org/officeDocument/2006/relationships/image" Target="/ppt/media/image.png" Id="Rd967a5983ea64fdb" /><Relationship Type="http://schemas.openxmlformats.org/officeDocument/2006/relationships/notesSlide" Target="/ppt/notesSlides/notesSlide1.xml" Id="Rfcb14742fbb44b8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a850c1632174406" /><Relationship Type="http://schemas.openxmlformats.org/officeDocument/2006/relationships/image" Target="/ppt/media/image2.png" Id="Radb8e8253b5a4965" /><Relationship Type="http://schemas.openxmlformats.org/officeDocument/2006/relationships/notesSlide" Target="/ppt/notesSlides/notesSlide2.xml" Id="R13ed377b877747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10b1c6651e44c72" /><Relationship Type="http://schemas.openxmlformats.org/officeDocument/2006/relationships/notesSlide" Target="/ppt/notesSlides/notesSlide3.xml" Id="R882b4467ee65417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9ae265f90ef4b0e" /><Relationship Type="http://schemas.openxmlformats.org/officeDocument/2006/relationships/notesSlide" Target="/ppt/notesSlides/notesSlide4.xml" Id="Rcb00c211c7044b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acf3aefa0a44e5" /><Relationship Type="http://schemas.openxmlformats.org/officeDocument/2006/relationships/image" Target="/ppt/media/image3.png" Id="R1c446a5b959b4f02" /><Relationship Type="http://schemas.openxmlformats.org/officeDocument/2006/relationships/notesSlide" Target="/ppt/notesSlides/notesSlide5.xml" Id="Rf9853f32d1304b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5f400b023fa4b84" /><Relationship Type="http://schemas.openxmlformats.org/officeDocument/2006/relationships/image" Target="/ppt/media/image4.png" Id="Rb9d98ea712bb4098" /><Relationship Type="http://schemas.openxmlformats.org/officeDocument/2006/relationships/notesSlide" Target="/ppt/notesSlides/notesSlide6.xml" Id="Ref270ef54cf34db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767866a09044908" /><Relationship Type="http://schemas.openxmlformats.org/officeDocument/2006/relationships/notesSlide" Target="/ppt/notesSlides/notesSlide7.xml" Id="Rbe60abd2b38041e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2269384e6d948c8" /><Relationship Type="http://schemas.openxmlformats.org/officeDocument/2006/relationships/image" Target="/ppt/media/image5.png" Id="R17700de275524a00" /><Relationship Type="http://schemas.openxmlformats.org/officeDocument/2006/relationships/notesSlide" Target="/ppt/notesSlides/notesSlide8.xml" Id="R1f9eb19a70f54a8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c348b981e024977" /><Relationship Type="http://schemas.openxmlformats.org/officeDocument/2006/relationships/image" Target="/ppt/media/image6.png" Id="R92290309e2f648d4" /><Relationship Type="http://schemas.openxmlformats.org/officeDocument/2006/relationships/notesSlide" Target="/ppt/notesSlides/notesSlide9.xml" Id="Ra95ad9c3d3f345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5d0b767ec73428d" /><Relationship Type="http://schemas.openxmlformats.org/officeDocument/2006/relationships/notesSlide" Target="/ppt/notesSlides/notesSlide10.xml" Id="R423696e94bde4bd4" /></Relationships>
</file>

<file path=ppt/slides/slide1.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1" name="cover-paper">
            <a:extLst xmlns:a="http://schemas.openxmlformats.org/drawingml/2006/main">
              <a:ext uri="{FF2B5EF4-FFF2-40B4-BE49-F238E27FC236}">
                <a16:creationId xmlns:a16="http://schemas.microsoft.com/office/drawing/2014/main" id="{B60A441B-1DE6-4DA5-8096-8AD0E7809108}"/>
              </a:ext>
            </a:extLst>
          </p:cNvPr>
          <p:cNvSpPr>
            <a:spLocks xmlns:a="http://schemas.openxmlformats.org/drawingml/2006/main" noGrp="1"/>
          </p:cNvSpPr>
          <p:nvPr/>
        </p:nvSpPr>
        <p:spPr>
          <a:xfrm xmlns:a="http://schemas.openxmlformats.org/drawingml/2006/main">
            <a:off x="4838700" y="0"/>
            <a:ext cx="7353300" cy="6858000"/>
          </a:xfrm>
          <a:prstGeom xmlns:a="http://schemas.openxmlformats.org/drawingml/2006/main" prst="rect">
            <a:avLst/>
          </a:prstGeom>
          <a:solidFill xmlns:a="http://schemas.openxmlformats.org/drawingml/2006/main">
            <a:srgbClr val="F4EEE4"/>
          </a:solidFill>
          <a:ln xmlns:a="http://schemas.openxmlformats.org/drawingml/2006/main" w="0">
            <a:solidFill>
              <a:srgbClr val="F4EEE4"/>
            </a:solidFill>
            <a:prstDash val="solid"/>
          </a:ln>
        </p:spPr>
      </p:sp>
      <p:sp>
        <p:nvSpPr>
          <p:cNvPr id="2" name="cover-brand">
            <a:extLst xmlns:a="http://schemas.openxmlformats.org/drawingml/2006/main">
              <a:ext uri="{FF2B5EF4-FFF2-40B4-BE49-F238E27FC236}">
                <a16:creationId xmlns:a16="http://schemas.microsoft.com/office/drawing/2014/main" id="{A7E7D345-B133-46AF-A951-018B7689AC6D}"/>
              </a:ext>
            </a:extLst>
          </p:cNvPr>
          <p:cNvSpPr>
            <a:spLocks xmlns:a="http://schemas.openxmlformats.org/drawingml/2006/main" noGrp="1"/>
          </p:cNvSpPr>
          <p:nvPr/>
        </p:nvSpPr>
        <p:spPr>
          <a:xfrm xmlns:a="http://schemas.openxmlformats.org/drawingml/2006/main">
            <a:off x="590550" y="552450"/>
            <a:ext cx="295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75" b="1" i="0">
                <a:solidFill>
                  <a:srgbClr val="FCFAF5"/>
                </a:solidFill>
                <a:latin typeface="Arial"/>
                <a:ea typeface="Arial"/>
                <a:cs typeface="Arial"/>
              </a:defRPr>
            </a:pPr>
            <a:r>
              <a:rPr sz="2775" b="1" i="0">
                <a:solidFill>
                  <a:srgbClr val="FCFAF5"/>
                </a:solidFill>
                <a:latin typeface="Arial"/>
                <a:ea typeface="Arial"/>
                <a:cs typeface="Arial"/>
              </a:rPr>
              <a:t>WOVEN</a:t>
            </a:r>
          </a:p>
        </p:txBody>
      </p:sp>
      <p:sp>
        <p:nvSpPr>
          <p:cNvPr id="3" name="cover-product">
            <a:extLst xmlns:a="http://schemas.openxmlformats.org/drawingml/2006/main">
              <a:ext uri="{FF2B5EF4-FFF2-40B4-BE49-F238E27FC236}">
                <a16:creationId xmlns:a16="http://schemas.microsoft.com/office/drawing/2014/main" id="{3C5607FB-85C5-4CE6-A750-A138769B085F}"/>
              </a:ext>
            </a:extLst>
          </p:cNvPr>
          <p:cNvSpPr>
            <a:spLocks xmlns:a="http://schemas.openxmlformats.org/drawingml/2006/main" noGrp="1"/>
          </p:cNvSpPr>
          <p:nvPr/>
        </p:nvSpPr>
        <p:spPr>
          <a:xfrm xmlns:a="http://schemas.openxmlformats.org/drawingml/2006/main">
            <a:off x="609600" y="10668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i="0">
                <a:solidFill>
                  <a:srgbClr val="DCECE5"/>
                </a:solidFill>
                <a:latin typeface="Arial"/>
                <a:ea typeface="Arial"/>
                <a:cs typeface="Arial"/>
              </a:defRPr>
            </a:pPr>
            <a:r>
              <a:rPr sz="900" b="1" i="0">
                <a:solidFill>
                  <a:srgbClr val="DCECE5"/>
                </a:solidFill>
                <a:latin typeface="Arial"/>
                <a:ea typeface="Arial"/>
                <a:cs typeface="Arial"/>
              </a:rPr>
              <a:t>CHATGPT + CODEX MCP APP</a:t>
            </a:r>
          </a:p>
        </p:txBody>
      </p:sp>
      <p:sp>
        <p:nvSpPr>
          <p:cNvPr id="4" name="cover-stage">
            <a:extLst xmlns:a="http://schemas.openxmlformats.org/drawingml/2006/main">
              <a:ext uri="{FF2B5EF4-FFF2-40B4-BE49-F238E27FC236}">
                <a16:creationId xmlns:a16="http://schemas.microsoft.com/office/drawing/2014/main" id="{46FBC93F-2C1A-442D-B92A-C0AAAB103555}"/>
              </a:ext>
            </a:extLst>
          </p:cNvPr>
          <p:cNvSpPr>
            <a:spLocks xmlns:a="http://schemas.openxmlformats.org/drawingml/2006/main" noGrp="1"/>
          </p:cNvSpPr>
          <p:nvPr/>
        </p:nvSpPr>
        <p:spPr>
          <a:xfrm xmlns:a="http://schemas.openxmlformats.org/drawingml/2006/main">
            <a:off x="590550" y="1752600"/>
            <a:ext cx="3714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4275" b="1" i="0">
                <a:solidFill>
                  <a:srgbClr val="FCFAF5"/>
                </a:solidFill>
                <a:latin typeface="Arial"/>
                <a:ea typeface="Arial"/>
                <a:cs typeface="Arial"/>
              </a:defRPr>
            </a:pPr>
            <a:r>
              <a:rPr sz="4275" b="1" i="0">
                <a:solidFill>
                  <a:srgbClr val="FCFAF5"/>
                </a:solidFill>
                <a:latin typeface="Arial"/>
                <a:ea typeface="Arial"/>
                <a:cs typeface="Arial"/>
              </a:rPr>
              <a:t>Ask once.</a:t>
            </a:r>
          </a:p>
          <a:p xmlns:a="http://schemas.openxmlformats.org/drawingml/2006/main">
            <a:pPr algn="l">
              <a:lnSpc>
                <a:spcPct val="95000"/>
              </a:lnSpc>
              <a:buNone/>
              <a:defRPr sz="4275" b="1" i="0">
                <a:solidFill>
                  <a:srgbClr val="FCFAF5"/>
                </a:solidFill>
                <a:latin typeface="Arial"/>
                <a:ea typeface="Arial"/>
                <a:cs typeface="Arial"/>
              </a:defRPr>
            </a:pPr>
            <a:r>
              <a:rPr sz="4275" b="1" i="0">
                <a:solidFill>
                  <a:srgbClr val="FCFAF5"/>
                </a:solidFill>
                <a:latin typeface="Arial"/>
                <a:ea typeface="Arial"/>
                <a:cs typeface="Arial"/>
              </a:rPr>
              <a:t>Review once.</a:t>
            </a:r>
          </a:p>
          <a:p xmlns:a="http://schemas.openxmlformats.org/drawingml/2006/main">
            <a:pPr algn="l">
              <a:lnSpc>
                <a:spcPct val="95000"/>
              </a:lnSpc>
              <a:buNone/>
              <a:defRPr sz="4275" b="1" i="0">
                <a:solidFill>
                  <a:srgbClr val="FCFAF5"/>
                </a:solidFill>
                <a:latin typeface="Arial"/>
                <a:ea typeface="Arial"/>
                <a:cs typeface="Arial"/>
              </a:defRPr>
            </a:pPr>
            <a:r>
              <a:rPr sz="4275" b="1" i="0">
                <a:solidFill>
                  <a:srgbClr val="FCFAF5"/>
                </a:solidFill>
                <a:latin typeface="Arial"/>
                <a:ea typeface="Arial"/>
                <a:cs typeface="Arial"/>
              </a:rPr>
              <a:t>Confirm once.</a:t>
            </a:r>
          </a:p>
        </p:txBody>
      </p:sp>
      <p:sp>
        <p:nvSpPr>
          <p:cNvPr id="5" name="cover-sub">
            <a:extLst xmlns:a="http://schemas.openxmlformats.org/drawingml/2006/main">
              <a:ext uri="{FF2B5EF4-FFF2-40B4-BE49-F238E27FC236}">
                <a16:creationId xmlns:a16="http://schemas.microsoft.com/office/drawing/2014/main" id="{BCEE22A7-A909-4D38-B6CD-042DA3779FC3}"/>
              </a:ext>
            </a:extLst>
          </p:cNvPr>
          <p:cNvSpPr>
            <a:spLocks xmlns:a="http://schemas.openxmlformats.org/drawingml/2006/main" noGrp="1"/>
          </p:cNvSpPr>
          <p:nvPr/>
        </p:nvSpPr>
        <p:spPr>
          <a:xfrm xmlns:a="http://schemas.openxmlformats.org/drawingml/2006/main">
            <a:off x="590550" y="4305300"/>
            <a:ext cx="36385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800" b="0" i="0">
                <a:solidFill>
                  <a:srgbClr val="DCECE5"/>
                </a:solidFill>
                <a:latin typeface="Arial"/>
                <a:ea typeface="Arial"/>
                <a:cs typeface="Arial"/>
              </a:defRPr>
            </a:pPr>
            <a:r>
              <a:rPr sz="1800" b="0" i="0">
                <a:solidFill>
                  <a:srgbClr val="DCECE5"/>
                </a:solidFill>
                <a:latin typeface="Arial"/>
                <a:ea typeface="Arial"/>
                <a:cs typeface="Arial"/>
              </a:rPr>
              <a:t>Complete, rain-ready kits from</a:t>
            </a:r>
          </a:p>
          <a:p xmlns:a="http://schemas.openxmlformats.org/drawingml/2006/main">
            <a:pPr algn="l">
              <a:lnSpc>
                <a:spcPct val="114000"/>
              </a:lnSpc>
              <a:buNone/>
              <a:defRPr sz="1800" b="0" i="0">
                <a:solidFill>
                  <a:srgbClr val="DCECE5"/>
                </a:solidFill>
                <a:latin typeface="Arial"/>
                <a:ea typeface="Arial"/>
                <a:cs typeface="Arial"/>
              </a:defRPr>
            </a:pPr>
            <a:r>
              <a:rPr sz="1800" b="0" i="0">
                <a:solidFill>
                  <a:srgbClr val="DCECE5"/>
                </a:solidFill>
                <a:latin typeface="Arial"/>
                <a:ea typeface="Arial"/>
                <a:cs typeface="Arial"/>
              </a:rPr>
              <a:t>one merchant and one pickup.</a:t>
            </a:r>
          </a:p>
        </p:txBody>
      </p:sp>
      <p:sp>
        <p:nvSpPr>
          <p:cNvPr id="6" name="cover-route">
            <a:extLst xmlns:a="http://schemas.openxmlformats.org/drawingml/2006/main">
              <a:ext uri="{FF2B5EF4-FFF2-40B4-BE49-F238E27FC236}">
                <a16:creationId xmlns:a16="http://schemas.microsoft.com/office/drawing/2014/main" id="{41654AD9-A0F5-4DE9-B108-A8E78DDA9EB5}"/>
              </a:ext>
            </a:extLst>
          </p:cNvPr>
          <p:cNvSpPr>
            <a:spLocks xmlns:a="http://schemas.openxmlformats.org/drawingml/2006/main" noGrp="1"/>
          </p:cNvSpPr>
          <p:nvPr/>
        </p:nvSpPr>
        <p:spPr>
          <a:xfrm xmlns:a="http://schemas.openxmlformats.org/drawingml/2006/main">
            <a:off x="590550" y="5391150"/>
            <a:ext cx="1428750"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7" name="cover-boundary">
            <a:extLst xmlns:a="http://schemas.openxmlformats.org/drawingml/2006/main">
              <a:ext uri="{FF2B5EF4-FFF2-40B4-BE49-F238E27FC236}">
                <a16:creationId xmlns:a16="http://schemas.microsoft.com/office/drawing/2014/main" id="{B308848E-9CD0-4A43-AB1E-C469A1855CAB}"/>
              </a:ext>
            </a:extLst>
          </p:cNvPr>
          <p:cNvSpPr>
            <a:spLocks xmlns:a="http://schemas.openxmlformats.org/drawingml/2006/main" noGrp="1"/>
          </p:cNvSpPr>
          <p:nvPr/>
        </p:nvSpPr>
        <p:spPr>
          <a:xfrm xmlns:a="http://schemas.openxmlformats.org/drawingml/2006/main">
            <a:off x="590550" y="6067425"/>
            <a:ext cx="3714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i="0">
                <a:solidFill>
                  <a:srgbClr val="DCECE5"/>
                </a:solidFill>
                <a:latin typeface="Arial"/>
                <a:ea typeface="Arial"/>
                <a:cs typeface="Arial"/>
              </a:defRPr>
            </a:pPr>
            <a:r>
              <a:rPr sz="825" b="1" i="0">
                <a:solidFill>
                  <a:srgbClr val="DCECE5"/>
                </a:solidFill>
                <a:latin typeface="Arial"/>
                <a:ea typeface="Arial"/>
                <a:cs typeface="Arial"/>
              </a:rPr>
              <a:t>SEEDED INVENTORY  ·  SIMULATED IDENTITY  ·  SIMULATED VISA</a:t>
            </a:r>
          </a:p>
        </p:txBody>
      </p:sp>
      <p:sp>
        <p:nvSpPr>
          <p:cNvPr id="8" name="cover-shot-frame">
            <a:extLst xmlns:a="http://schemas.openxmlformats.org/drawingml/2006/main">
              <a:ext uri="{FF2B5EF4-FFF2-40B4-BE49-F238E27FC236}">
                <a16:creationId xmlns:a16="http://schemas.microsoft.com/office/drawing/2014/main" id="{6125EB28-A41D-4B07-8E1B-C5E1FA7E932C}"/>
              </a:ext>
            </a:extLst>
          </p:cNvPr>
          <p:cNvSpPr>
            <a:spLocks xmlns:a="http://schemas.openxmlformats.org/drawingml/2006/main" noGrp="1"/>
          </p:cNvSpPr>
          <p:nvPr/>
        </p:nvSpPr>
        <p:spPr>
          <a:xfrm xmlns:a="http://schemas.openxmlformats.org/drawingml/2006/main">
            <a:off x="5238750" y="876300"/>
            <a:ext cx="6534150" cy="4667250"/>
          </a:xfrm>
          <a:prstGeom xmlns:a="http://schemas.openxmlformats.org/drawingml/2006/main" prst="rect">
            <a:avLst/>
          </a:prstGeom>
          <a:solidFill xmlns:a="http://schemas.openxmlformats.org/drawingml/2006/main">
            <a:srgbClr val="FCFAF5"/>
          </a:solidFill>
          <a:ln xmlns:a="http://schemas.openxmlformats.org/drawingml/2006/main" w="9525">
            <a:solidFill>
              <a:srgbClr val="DCECE5"/>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967a5983ea64fdb"/>
          <a:stretch xmlns:a="http://schemas.openxmlformats.org/drawingml/2006/main"/>
        </p:blipFill>
        <p:spPr>
          <a:xfrm xmlns:a="http://schemas.openxmlformats.org/drawingml/2006/main" flipH="0" flipV="0">
            <a:off x="5505450" y="1202706"/>
            <a:ext cx="6000750" cy="4243037"/>
          </a:xfrm>
          <a:prstGeom xmlns:a="http://schemas.openxmlformats.org/drawingml/2006/main" prst="rect">
            <a:avLst/>
          </a:prstGeom>
        </p:spPr>
      </p:pic>
      <p:sp>
        <p:nvSpPr>
          <p:cNvPr id="10" name="cover-proof">
            <a:extLst xmlns:a="http://schemas.openxmlformats.org/drawingml/2006/main">
              <a:ext uri="{FF2B5EF4-FFF2-40B4-BE49-F238E27FC236}">
                <a16:creationId xmlns:a16="http://schemas.microsoft.com/office/drawing/2014/main" id="{724D4A9D-388B-4032-BD02-9D96805D2971}"/>
              </a:ext>
            </a:extLst>
          </p:cNvPr>
          <p:cNvSpPr>
            <a:spLocks xmlns:a="http://schemas.openxmlformats.org/drawingml/2006/main" noGrp="1"/>
          </p:cNvSpPr>
          <p:nvPr/>
        </p:nvSpPr>
        <p:spPr>
          <a:xfrm xmlns:a="http://schemas.openxmlformats.org/drawingml/2006/main">
            <a:off x="5257800" y="5848350"/>
            <a:ext cx="619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97"/>
          </a:bodyPr>
          <a:lstStyle xmlns:a="http://schemas.openxmlformats.org/drawingml/2006/main"/>
          <a:p xmlns:a="http://schemas.openxmlformats.org/drawingml/2006/main">
            <a:pPr algn="l">
              <a:lnSpc>
                <a:spcPct val="100000"/>
              </a:lnSpc>
              <a:buNone/>
              <a:defRPr sz="1650" b="1" i="0">
                <a:solidFill>
                  <a:srgbClr val="0E4B3B"/>
                </a:solidFill>
                <a:latin typeface="Arial"/>
                <a:ea typeface="Arial"/>
                <a:cs typeface="Arial"/>
              </a:defRPr>
            </a:pPr>
            <a:r>
              <a:rPr sz="1650" b="1" i="0">
                <a:solidFill>
                  <a:srgbClr val="0E4B3B"/>
                </a:solidFill>
                <a:latin typeface="Arial"/>
                <a:ea typeface="Arial"/>
                <a:cs typeface="Arial"/>
              </a:rPr>
              <a:t>One request becomes five complete carts—not another list of links.</a:t>
            </a:r>
          </a:p>
        </p:txBody>
      </p:sp>
    </p:spTree>
    <p:extLst>
      <p:ext uri="{BB962C8B-B14F-4D97-AF65-F5344CB8AC3E}">
        <p14:creationId xmlns:p14="http://schemas.microsoft.com/office/powerpoint/2010/main" val="805037932"/>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db8e8253b5a496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problem-copy-ground">
            <a:extLst xmlns:a="http://schemas.openxmlformats.org/drawingml/2006/main">
              <a:ext uri="{FF2B5EF4-FFF2-40B4-BE49-F238E27FC236}">
                <a16:creationId xmlns:a16="http://schemas.microsoft.com/office/drawing/2014/main" id="{0B905E8E-00CE-4402-AF46-31723A3EBF49}"/>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F4EEE4"/>
          </a:solidFill>
          <a:ln xmlns:a="http://schemas.openxmlformats.org/drawingml/2006/main" w="0">
            <a:solidFill>
              <a:srgbClr val="F4EEE4"/>
            </a:solidFill>
            <a:prstDash val="solid"/>
          </a:ln>
        </p:spPr>
      </p:sp>
      <p:sp>
        <p:nvSpPr>
          <p:cNvPr id="3" name="brand-2">
            <a:extLst xmlns:a="http://schemas.openxmlformats.org/drawingml/2006/main">
              <a:ext uri="{FF2B5EF4-FFF2-40B4-BE49-F238E27FC236}">
                <a16:creationId xmlns:a16="http://schemas.microsoft.com/office/drawing/2014/main" id="{5DF502D8-A225-4AF7-B799-2F13E64B1013}"/>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0E4B3B"/>
                </a:solidFill>
                <a:latin typeface="Arial"/>
                <a:ea typeface="Arial"/>
                <a:cs typeface="Arial"/>
              </a:defRPr>
            </a:pPr>
            <a:r>
              <a:rPr sz="1125" b="1" i="0">
                <a:solidFill>
                  <a:srgbClr val="0E4B3B"/>
                </a:solidFill>
                <a:latin typeface="Arial"/>
                <a:ea typeface="Arial"/>
                <a:cs typeface="Arial"/>
              </a:rPr>
              <a:t>WOVEN</a:t>
            </a:r>
          </a:p>
        </p:txBody>
      </p:sp>
      <p:sp>
        <p:nvSpPr>
          <p:cNvPr id="4" name="brand-origin-2">
            <a:extLst xmlns:a="http://schemas.openxmlformats.org/drawingml/2006/main">
              <a:ext uri="{FF2B5EF4-FFF2-40B4-BE49-F238E27FC236}">
                <a16:creationId xmlns:a16="http://schemas.microsoft.com/office/drawing/2014/main" id="{564261BD-DCC6-4649-AFCF-71FEF4AFBD4A}"/>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5" name="page-2">
            <a:extLst xmlns:a="http://schemas.openxmlformats.org/drawingml/2006/main">
              <a:ext uri="{FF2B5EF4-FFF2-40B4-BE49-F238E27FC236}">
                <a16:creationId xmlns:a16="http://schemas.microsoft.com/office/drawing/2014/main" id="{DD1B9F80-8445-4926-A841-4D497CC5AA7F}"/>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6D7974"/>
                </a:solidFill>
                <a:latin typeface="Arial"/>
                <a:ea typeface="Arial"/>
                <a:cs typeface="Arial"/>
              </a:defRPr>
            </a:pPr>
            <a:r>
              <a:rPr sz="900" b="0" i="0">
                <a:solidFill>
                  <a:srgbClr val="6D7974"/>
                </a:solidFill>
                <a:latin typeface="Arial"/>
                <a:ea typeface="Arial"/>
                <a:cs typeface="Arial"/>
              </a:rPr>
              <a:t>02 / 10</a:t>
            </a:r>
          </a:p>
        </p:txBody>
      </p:sp>
      <p:sp>
        <p:nvSpPr>
          <p:cNvPr id="6" name="problem-title">
            <a:extLst xmlns:a="http://schemas.openxmlformats.org/drawingml/2006/main">
              <a:ext uri="{FF2B5EF4-FFF2-40B4-BE49-F238E27FC236}">
                <a16:creationId xmlns:a16="http://schemas.microsoft.com/office/drawing/2014/main" id="{1C21CE2D-11AD-4EE8-BBBF-28816523ED26}"/>
              </a:ext>
            </a:extLst>
          </p:cNvPr>
          <p:cNvSpPr>
            <a:spLocks xmlns:a="http://schemas.openxmlformats.org/drawingml/2006/main" noGrp="1"/>
          </p:cNvSpPr>
          <p:nvPr/>
        </p:nvSpPr>
        <p:spPr>
          <a:xfrm xmlns:a="http://schemas.openxmlformats.org/drawingml/2006/main">
            <a:off x="590550" y="1314450"/>
            <a:ext cx="5429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612"/>
          </a:bodyPr>
          <a:lstStyle xmlns:a="http://schemas.openxmlformats.org/drawingml/2006/main"/>
          <a:p xmlns:a="http://schemas.openxmlformats.org/drawingml/2006/main">
            <a:pPr algn="l">
              <a:lnSpc>
                <a:spcPct val="92000"/>
              </a:lnSpc>
              <a:buNone/>
              <a:defRPr sz="4500" b="1" i="0">
                <a:solidFill>
                  <a:srgbClr val="0E4B3B"/>
                </a:solidFill>
                <a:latin typeface="Arial"/>
                <a:ea typeface="Arial"/>
                <a:cs typeface="Arial"/>
              </a:defRPr>
            </a:pPr>
            <a:r>
              <a:rPr sz="4500" b="1" i="0">
                <a:solidFill>
                  <a:srgbClr val="0E4B3B"/>
                </a:solidFill>
                <a:latin typeface="Arial"/>
                <a:ea typeface="Arial"/>
                <a:cs typeface="Arial"/>
              </a:rPr>
              <a:t>Search gives links.</a:t>
            </a:r>
          </a:p>
          <a:p xmlns:a="http://schemas.openxmlformats.org/drawingml/2006/main">
            <a:pPr algn="l">
              <a:lnSpc>
                <a:spcPct val="92000"/>
              </a:lnSpc>
              <a:buNone/>
              <a:defRPr sz="4500" b="1" i="0">
                <a:solidFill>
                  <a:srgbClr val="0E4B3B"/>
                </a:solidFill>
                <a:latin typeface="Arial"/>
                <a:ea typeface="Arial"/>
                <a:cs typeface="Arial"/>
              </a:defRPr>
            </a:pPr>
            <a:r>
              <a:rPr sz="4500" b="1" i="0">
                <a:solidFill>
                  <a:srgbClr val="0E4B3B"/>
                </a:solidFill>
                <a:latin typeface="Arial"/>
                <a:ea typeface="Arial"/>
                <a:cs typeface="Arial"/>
              </a:rPr>
              <a:t>Buying still takes work.</a:t>
            </a:r>
          </a:p>
        </p:txBody>
      </p:sp>
      <p:sp>
        <p:nvSpPr>
          <p:cNvPr id="7" name="problem-rule">
            <a:extLst xmlns:a="http://schemas.openxmlformats.org/drawingml/2006/main">
              <a:ext uri="{FF2B5EF4-FFF2-40B4-BE49-F238E27FC236}">
                <a16:creationId xmlns:a16="http://schemas.microsoft.com/office/drawing/2014/main" id="{3CD7200E-3E04-48B7-8DCD-8E678D40E383}"/>
              </a:ext>
            </a:extLst>
          </p:cNvPr>
          <p:cNvSpPr>
            <a:spLocks xmlns:a="http://schemas.openxmlformats.org/drawingml/2006/main" noGrp="1"/>
          </p:cNvSpPr>
          <p:nvPr/>
        </p:nvSpPr>
        <p:spPr>
          <a:xfrm xmlns:a="http://schemas.openxmlformats.org/drawingml/2006/main">
            <a:off x="609600" y="3390900"/>
            <a:ext cx="742950" cy="66675"/>
          </a:xfrm>
          <a:prstGeom xmlns:a="http://schemas.openxmlformats.org/drawingml/2006/main" prst="rect">
            <a:avLst/>
          </a:prstGeom>
          <a:solidFill xmlns:a="http://schemas.openxmlformats.org/drawingml/2006/main">
            <a:srgbClr val="B64032"/>
          </a:solidFill>
          <a:ln xmlns:a="http://schemas.openxmlformats.org/drawingml/2006/main" w="0">
            <a:solidFill>
              <a:srgbClr val="B64032"/>
            </a:solidFill>
            <a:prstDash val="solid"/>
          </a:ln>
        </p:spPr>
      </p:sp>
      <p:sp>
        <p:nvSpPr>
          <p:cNvPr id="8" name="problem-body">
            <a:extLst xmlns:a="http://schemas.openxmlformats.org/drawingml/2006/main">
              <a:ext uri="{FF2B5EF4-FFF2-40B4-BE49-F238E27FC236}">
                <a16:creationId xmlns:a16="http://schemas.microsoft.com/office/drawing/2014/main" id="{A02C2E23-E576-4748-8385-26FD44B84223}"/>
              </a:ext>
            </a:extLst>
          </p:cNvPr>
          <p:cNvSpPr>
            <a:spLocks xmlns:a="http://schemas.openxmlformats.org/drawingml/2006/main" noGrp="1"/>
          </p:cNvSpPr>
          <p:nvPr/>
        </p:nvSpPr>
        <p:spPr>
          <a:xfrm xmlns:a="http://schemas.openxmlformats.org/drawingml/2006/main">
            <a:off x="590550" y="3771900"/>
            <a:ext cx="5219700" cy="1600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2025" b="0" i="0">
                <a:solidFill>
                  <a:srgbClr val="0A0A0A"/>
                </a:solidFill>
                <a:latin typeface="Arial"/>
                <a:ea typeface="Arial"/>
                <a:cs typeface="Arial"/>
              </a:defRPr>
            </a:pPr>
            <a:r>
              <a:rPr sz="2025" b="0" i="0">
                <a:solidFill>
                  <a:srgbClr val="0A0A0A"/>
                </a:solidFill>
                <a:latin typeface="Arial"/>
                <a:ea typeface="Arial"/>
                <a:cs typeface="Arial"/>
              </a:rPr>
              <a:t>A rainy weekend for two is not five gear recommendations. It is one complete mission: rain-ready shelter, two sleep systems, lighting, first aid, one-car fit, one pickup.</a:t>
            </a:r>
          </a:p>
        </p:txBody>
      </p:sp>
      <p:sp>
        <p:nvSpPr>
          <p:cNvPr id="9" name="problem-consequence">
            <a:extLst xmlns:a="http://schemas.openxmlformats.org/drawingml/2006/main">
              <a:ext uri="{FF2B5EF4-FFF2-40B4-BE49-F238E27FC236}">
                <a16:creationId xmlns:a16="http://schemas.microsoft.com/office/drawing/2014/main" id="{5BAB8CDB-6B87-44FE-A4FA-2D65AD0F8573}"/>
              </a:ext>
            </a:extLst>
          </p:cNvPr>
          <p:cNvSpPr>
            <a:spLocks xmlns:a="http://schemas.openxmlformats.org/drawingml/2006/main" noGrp="1"/>
          </p:cNvSpPr>
          <p:nvPr/>
        </p:nvSpPr>
        <p:spPr>
          <a:xfrm xmlns:a="http://schemas.openxmlformats.org/drawingml/2006/main">
            <a:off x="590550" y="5857875"/>
            <a:ext cx="5219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1" i="0">
                <a:solidFill>
                  <a:srgbClr val="B64032"/>
                </a:solidFill>
                <a:latin typeface="Arial"/>
                <a:ea typeface="Arial"/>
                <a:cs typeface="Arial"/>
              </a:defRPr>
            </a:pPr>
            <a:r>
              <a:rPr sz="1650" b="1" i="0">
                <a:solidFill>
                  <a:srgbClr val="B64032"/>
                </a:solidFill>
                <a:latin typeface="Arial"/>
                <a:ea typeface="Arial"/>
                <a:cs typeface="Arial"/>
              </a:rPr>
              <a:t>The user still has to assemble the answer.</a:t>
            </a:r>
          </a:p>
        </p:txBody>
      </p:sp>
    </p:spTree>
    <p:extLst>
      <p:ext uri="{BB962C8B-B14F-4D97-AF65-F5344CB8AC3E}">
        <p14:creationId xmlns:p14="http://schemas.microsoft.com/office/powerpoint/2010/main" val="241692490"/>
      </p:ext>
    </p:extLst>
  </p:cSld>
</p:sld>
</file>

<file path=ppt/slides/slide3.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22" name="brand-3">
            <a:extLst xmlns:a="http://schemas.openxmlformats.org/drawingml/2006/main">
              <a:ext uri="{FF2B5EF4-FFF2-40B4-BE49-F238E27FC236}">
                <a16:creationId xmlns:a16="http://schemas.microsoft.com/office/drawing/2014/main" id="{F5604AEA-4A10-438A-A76E-509A0188E624}"/>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FCFAF5"/>
                </a:solidFill>
                <a:latin typeface="Arial"/>
                <a:ea typeface="Arial"/>
                <a:cs typeface="Arial"/>
              </a:defRPr>
            </a:pPr>
            <a:r>
              <a:rPr sz="1125" b="1" i="0">
                <a:solidFill>
                  <a:srgbClr val="FCFAF5"/>
                </a:solidFill>
                <a:latin typeface="Arial"/>
                <a:ea typeface="Arial"/>
                <a:cs typeface="Arial"/>
              </a:rPr>
              <a:t>WOVEN</a:t>
            </a:r>
          </a:p>
        </p:txBody>
      </p:sp>
      <p:sp>
        <p:nvSpPr>
          <p:cNvPr id="2" name="brand-origin-3">
            <a:extLst xmlns:a="http://schemas.openxmlformats.org/drawingml/2006/main">
              <a:ext uri="{FF2B5EF4-FFF2-40B4-BE49-F238E27FC236}">
                <a16:creationId xmlns:a16="http://schemas.microsoft.com/office/drawing/2014/main" id="{1F010D4C-AAB8-4B59-A988-0869C472BD90}"/>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3" name="page-3">
            <a:extLst xmlns:a="http://schemas.openxmlformats.org/drawingml/2006/main">
              <a:ext uri="{FF2B5EF4-FFF2-40B4-BE49-F238E27FC236}">
                <a16:creationId xmlns:a16="http://schemas.microsoft.com/office/drawing/2014/main" id="{943C0070-2241-462C-B206-9DED224275EB}"/>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DCECE5"/>
                </a:solidFill>
                <a:latin typeface="Arial"/>
                <a:ea typeface="Arial"/>
                <a:cs typeface="Arial"/>
              </a:defRPr>
            </a:pPr>
            <a:r>
              <a:rPr sz="900" b="0" i="0">
                <a:solidFill>
                  <a:srgbClr val="DCECE5"/>
                </a:solidFill>
                <a:latin typeface="Arial"/>
                <a:ea typeface="Arial"/>
                <a:cs typeface="Arial"/>
              </a:rPr>
              <a:t>03 / 10</a:t>
            </a:r>
          </a:p>
        </p:txBody>
      </p:sp>
      <p:sp>
        <p:nvSpPr>
          <p:cNvPr id="4" name="link-title">
            <a:extLst xmlns:a="http://schemas.openxmlformats.org/drawingml/2006/main">
              <a:ext uri="{FF2B5EF4-FFF2-40B4-BE49-F238E27FC236}">
                <a16:creationId xmlns:a16="http://schemas.microsoft.com/office/drawing/2014/main" id="{365DB5FB-A5EF-4FB4-A4D2-DBC2AA54924D}"/>
              </a:ext>
            </a:extLst>
          </p:cNvPr>
          <p:cNvSpPr>
            <a:spLocks xmlns:a="http://schemas.openxmlformats.org/drawingml/2006/main" noGrp="1"/>
          </p:cNvSpPr>
          <p:nvPr/>
        </p:nvSpPr>
        <p:spPr>
          <a:xfrm xmlns:a="http://schemas.openxmlformats.org/drawingml/2006/main">
            <a:off x="590550" y="895350"/>
            <a:ext cx="9144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750" b="1" i="0">
                <a:solidFill>
                  <a:srgbClr val="FCFAF5"/>
                </a:solidFill>
                <a:latin typeface="Arial"/>
                <a:ea typeface="Arial"/>
                <a:cs typeface="Arial"/>
              </a:defRPr>
            </a:pPr>
            <a:r>
              <a:rPr sz="3750" b="1" i="0">
                <a:solidFill>
                  <a:srgbClr val="FCFAF5"/>
                </a:solidFill>
                <a:latin typeface="Arial"/>
                <a:ea typeface="Arial"/>
                <a:cs typeface="Arial"/>
              </a:rPr>
              <a:t>A helpful answer can still stop at links.</a:t>
            </a:r>
          </a:p>
        </p:txBody>
      </p:sp>
      <p:sp>
        <p:nvSpPr>
          <p:cNvPr id="5" name="illustrative-label">
            <a:extLst xmlns:a="http://schemas.openxmlformats.org/drawingml/2006/main">
              <a:ext uri="{FF2B5EF4-FFF2-40B4-BE49-F238E27FC236}">
                <a16:creationId xmlns:a16="http://schemas.microsoft.com/office/drawing/2014/main" id="{62545CA1-6406-4FAC-B123-DEB84E86A80F}"/>
              </a:ext>
            </a:extLst>
          </p:cNvPr>
          <p:cNvSpPr>
            <a:spLocks xmlns:a="http://schemas.openxmlformats.org/drawingml/2006/main" noGrp="1"/>
          </p:cNvSpPr>
          <p:nvPr/>
        </p:nvSpPr>
        <p:spPr>
          <a:xfrm xmlns:a="http://schemas.openxmlformats.org/drawingml/2006/main">
            <a:off x="600075" y="1733550"/>
            <a:ext cx="561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1" i="0">
                <a:solidFill>
                  <a:srgbClr val="B7F522"/>
                </a:solidFill>
                <a:latin typeface="Arial"/>
                <a:ea typeface="Arial"/>
                <a:cs typeface="Arial"/>
              </a:defRPr>
            </a:pPr>
            <a:r>
              <a:rPr sz="975" b="1" i="0">
                <a:solidFill>
                  <a:srgbClr val="B7F522"/>
                </a:solidFill>
                <a:latin typeface="Arial"/>
                <a:ea typeface="Arial"/>
                <a:cs typeface="Arial"/>
              </a:rPr>
              <a:t>ILLUSTRATIVE RESPONSE — WITHOUT CONNECTED COMMERCE</a:t>
            </a:r>
          </a:p>
        </p:txBody>
      </p:sp>
      <p:sp>
        <p:nvSpPr>
          <p:cNvPr id="6" name="response-intro">
            <a:extLst xmlns:a="http://schemas.openxmlformats.org/drawingml/2006/main">
              <a:ext uri="{FF2B5EF4-FFF2-40B4-BE49-F238E27FC236}">
                <a16:creationId xmlns:a16="http://schemas.microsoft.com/office/drawing/2014/main" id="{A5D99DAA-89F2-414C-A6D4-DBC433B507CB}"/>
              </a:ext>
            </a:extLst>
          </p:cNvPr>
          <p:cNvSpPr>
            <a:spLocks xmlns:a="http://schemas.openxmlformats.org/drawingml/2006/main" noGrp="1"/>
          </p:cNvSpPr>
          <p:nvPr/>
        </p:nvSpPr>
        <p:spPr>
          <a:xfrm xmlns:a="http://schemas.openxmlformats.org/drawingml/2006/main">
            <a:off x="590550" y="2190750"/>
            <a:ext cx="723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100" b="0" i="1">
                <a:solidFill>
                  <a:srgbClr val="DCECE5"/>
                </a:solidFill>
                <a:latin typeface="Arial"/>
                <a:ea typeface="Arial"/>
                <a:cs typeface="Arial"/>
              </a:defRPr>
            </a:pPr>
            <a:r>
              <a:rPr sz="2100" b="0" i="1">
                <a:solidFill>
                  <a:srgbClr val="DCECE5"/>
                </a:solidFill>
                <a:latin typeface="Arial"/>
                <a:ea typeface="Arial"/>
                <a:cs typeface="Arial"/>
              </a:rPr>
              <a:t>“Here are a few options you could consider…”</a:t>
            </a:r>
          </a:p>
        </p:txBody>
      </p:sp>
      <p:sp>
        <p:nvSpPr>
          <p:cNvPr id="7" name="link-item-0">
            <a:extLst xmlns:a="http://schemas.openxmlformats.org/drawingml/2006/main">
              <a:ext uri="{FF2B5EF4-FFF2-40B4-BE49-F238E27FC236}">
                <a16:creationId xmlns:a16="http://schemas.microsoft.com/office/drawing/2014/main" id="{633E308D-4A99-43F4-9B66-60A42C4DFAD8}"/>
              </a:ext>
            </a:extLst>
          </p:cNvPr>
          <p:cNvSpPr>
            <a:spLocks xmlns:a="http://schemas.openxmlformats.org/drawingml/2006/main" noGrp="1"/>
          </p:cNvSpPr>
          <p:nvPr/>
        </p:nvSpPr>
        <p:spPr>
          <a:xfrm xmlns:a="http://schemas.openxmlformats.org/drawingml/2006/main">
            <a:off x="876300" y="3009900"/>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FCFAF5"/>
                </a:solidFill>
                <a:latin typeface="Arial"/>
                <a:ea typeface="Arial"/>
                <a:cs typeface="Arial"/>
              </a:defRPr>
            </a:pPr>
            <a:r>
              <a:rPr sz="1875" b="1" i="0">
                <a:solidFill>
                  <a:srgbClr val="FCFAF5"/>
                </a:solidFill>
                <a:latin typeface="Arial"/>
                <a:ea typeface="Arial"/>
                <a:cs typeface="Arial"/>
              </a:rPr>
              <a:t>Two-person tent</a:t>
            </a:r>
          </a:p>
        </p:txBody>
      </p:sp>
      <p:sp>
        <p:nvSpPr>
          <p:cNvPr id="8" name="link-merchant-0">
            <a:extLst xmlns:a="http://schemas.openxmlformats.org/drawingml/2006/main">
              <a:ext uri="{FF2B5EF4-FFF2-40B4-BE49-F238E27FC236}">
                <a16:creationId xmlns:a16="http://schemas.microsoft.com/office/drawing/2014/main" id="{942A8D03-442E-4667-83AE-33A217AA09BD}"/>
              </a:ext>
            </a:extLst>
          </p:cNvPr>
          <p:cNvSpPr>
            <a:spLocks xmlns:a="http://schemas.openxmlformats.org/drawingml/2006/main" noGrp="1"/>
          </p:cNvSpPr>
          <p:nvPr/>
        </p:nvSpPr>
        <p:spPr>
          <a:xfrm xmlns:a="http://schemas.openxmlformats.org/drawingml/2006/main">
            <a:off x="5334000" y="300990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1545E8"/>
                </a:solidFill>
                <a:latin typeface="Arial"/>
                <a:ea typeface="Arial"/>
                <a:cs typeface="Arial"/>
              </a:defRPr>
            </a:pPr>
            <a:r>
              <a:rPr sz="1800" b="1" i="0">
                <a:solidFill>
                  <a:srgbClr val="1545E8"/>
                </a:solidFill>
                <a:latin typeface="Arial"/>
                <a:ea typeface="Arial"/>
                <a:cs typeface="Arial"/>
              </a:rPr>
              <a:t>Store A  ↗</a:t>
            </a:r>
          </a:p>
        </p:txBody>
      </p:sp>
      <p:sp>
        <p:nvSpPr>
          <p:cNvPr id="9" name="link-underline-0">
            <a:extLst xmlns:a="http://schemas.openxmlformats.org/drawingml/2006/main">
              <a:ext uri="{FF2B5EF4-FFF2-40B4-BE49-F238E27FC236}">
                <a16:creationId xmlns:a16="http://schemas.microsoft.com/office/drawing/2014/main" id="{2155DE99-6940-41A7-BABD-3B92CCA2FF4F}"/>
              </a:ext>
            </a:extLst>
          </p:cNvPr>
          <p:cNvSpPr>
            <a:spLocks xmlns:a="http://schemas.openxmlformats.org/drawingml/2006/main" noGrp="1"/>
          </p:cNvSpPr>
          <p:nvPr/>
        </p:nvSpPr>
        <p:spPr>
          <a:xfrm xmlns:a="http://schemas.openxmlformats.org/drawingml/2006/main">
            <a:off x="5334000" y="3314700"/>
            <a:ext cx="1333500" cy="19050"/>
          </a:xfrm>
          <a:prstGeom xmlns:a="http://schemas.openxmlformats.org/drawingml/2006/main" prst="rect">
            <a:avLst/>
          </a:prstGeom>
          <a:solidFill xmlns:a="http://schemas.openxmlformats.org/drawingml/2006/main">
            <a:srgbClr val="1545E8"/>
          </a:solidFill>
          <a:ln xmlns:a="http://schemas.openxmlformats.org/drawingml/2006/main" w="0">
            <a:solidFill>
              <a:srgbClr val="1545E8"/>
            </a:solidFill>
            <a:prstDash val="solid"/>
          </a:ln>
        </p:spPr>
      </p:sp>
      <p:sp>
        <p:nvSpPr>
          <p:cNvPr id="10" name="link-item-1">
            <a:extLst xmlns:a="http://schemas.openxmlformats.org/drawingml/2006/main">
              <a:ext uri="{FF2B5EF4-FFF2-40B4-BE49-F238E27FC236}">
                <a16:creationId xmlns:a16="http://schemas.microsoft.com/office/drawing/2014/main" id="{F1FDA766-E25D-40EB-834E-C16EE6B0E135}"/>
              </a:ext>
            </a:extLst>
          </p:cNvPr>
          <p:cNvSpPr>
            <a:spLocks xmlns:a="http://schemas.openxmlformats.org/drawingml/2006/main" noGrp="1"/>
          </p:cNvSpPr>
          <p:nvPr/>
        </p:nvSpPr>
        <p:spPr>
          <a:xfrm xmlns:a="http://schemas.openxmlformats.org/drawingml/2006/main">
            <a:off x="876300" y="3609975"/>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FCFAF5"/>
                </a:solidFill>
                <a:latin typeface="Arial"/>
                <a:ea typeface="Arial"/>
                <a:cs typeface="Arial"/>
              </a:defRPr>
            </a:pPr>
            <a:r>
              <a:rPr sz="1875" b="1" i="0">
                <a:solidFill>
                  <a:srgbClr val="FCFAF5"/>
                </a:solidFill>
                <a:latin typeface="Arial"/>
                <a:ea typeface="Arial"/>
                <a:cs typeface="Arial"/>
              </a:rPr>
              <a:t>Sleeping bags</a:t>
            </a:r>
          </a:p>
        </p:txBody>
      </p:sp>
      <p:sp>
        <p:nvSpPr>
          <p:cNvPr id="11" name="link-merchant-1">
            <a:extLst xmlns:a="http://schemas.openxmlformats.org/drawingml/2006/main">
              <a:ext uri="{FF2B5EF4-FFF2-40B4-BE49-F238E27FC236}">
                <a16:creationId xmlns:a16="http://schemas.microsoft.com/office/drawing/2014/main" id="{441AB690-CAA4-4575-9BDB-F180914674C0}"/>
              </a:ext>
            </a:extLst>
          </p:cNvPr>
          <p:cNvSpPr>
            <a:spLocks xmlns:a="http://schemas.openxmlformats.org/drawingml/2006/main" noGrp="1"/>
          </p:cNvSpPr>
          <p:nvPr/>
        </p:nvSpPr>
        <p:spPr>
          <a:xfrm xmlns:a="http://schemas.openxmlformats.org/drawingml/2006/main">
            <a:off x="5334000" y="3609975"/>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1545E8"/>
                </a:solidFill>
                <a:latin typeface="Arial"/>
                <a:ea typeface="Arial"/>
                <a:cs typeface="Arial"/>
              </a:defRPr>
            </a:pPr>
            <a:r>
              <a:rPr sz="1800" b="1" i="0">
                <a:solidFill>
                  <a:srgbClr val="1545E8"/>
                </a:solidFill>
                <a:latin typeface="Arial"/>
                <a:ea typeface="Arial"/>
                <a:cs typeface="Arial"/>
              </a:rPr>
              <a:t>Store B  ↗</a:t>
            </a:r>
          </a:p>
        </p:txBody>
      </p:sp>
      <p:sp>
        <p:nvSpPr>
          <p:cNvPr id="12" name="link-underline-1">
            <a:extLst xmlns:a="http://schemas.openxmlformats.org/drawingml/2006/main">
              <a:ext uri="{FF2B5EF4-FFF2-40B4-BE49-F238E27FC236}">
                <a16:creationId xmlns:a16="http://schemas.microsoft.com/office/drawing/2014/main" id="{1291B25B-34A4-4B0A-8FCE-F43DBCCFF22A}"/>
              </a:ext>
            </a:extLst>
          </p:cNvPr>
          <p:cNvSpPr>
            <a:spLocks xmlns:a="http://schemas.openxmlformats.org/drawingml/2006/main" noGrp="1"/>
          </p:cNvSpPr>
          <p:nvPr/>
        </p:nvSpPr>
        <p:spPr>
          <a:xfrm xmlns:a="http://schemas.openxmlformats.org/drawingml/2006/main">
            <a:off x="5334000" y="3914775"/>
            <a:ext cx="1333500" cy="19050"/>
          </a:xfrm>
          <a:prstGeom xmlns:a="http://schemas.openxmlformats.org/drawingml/2006/main" prst="rect">
            <a:avLst/>
          </a:prstGeom>
          <a:solidFill xmlns:a="http://schemas.openxmlformats.org/drawingml/2006/main">
            <a:srgbClr val="1545E8"/>
          </a:solidFill>
          <a:ln xmlns:a="http://schemas.openxmlformats.org/drawingml/2006/main" w="0">
            <a:solidFill>
              <a:srgbClr val="1545E8"/>
            </a:solidFill>
            <a:prstDash val="solid"/>
          </a:ln>
        </p:spPr>
      </p:sp>
      <p:sp>
        <p:nvSpPr>
          <p:cNvPr id="13" name="link-item-2">
            <a:extLst xmlns:a="http://schemas.openxmlformats.org/drawingml/2006/main">
              <a:ext uri="{FF2B5EF4-FFF2-40B4-BE49-F238E27FC236}">
                <a16:creationId xmlns:a16="http://schemas.microsoft.com/office/drawing/2014/main" id="{606CB13E-702C-4148-816F-B1EE5D194716}"/>
              </a:ext>
            </a:extLst>
          </p:cNvPr>
          <p:cNvSpPr>
            <a:spLocks xmlns:a="http://schemas.openxmlformats.org/drawingml/2006/main" noGrp="1"/>
          </p:cNvSpPr>
          <p:nvPr/>
        </p:nvSpPr>
        <p:spPr>
          <a:xfrm xmlns:a="http://schemas.openxmlformats.org/drawingml/2006/main">
            <a:off x="876300" y="4210050"/>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FCFAF5"/>
                </a:solidFill>
                <a:latin typeface="Arial"/>
                <a:ea typeface="Arial"/>
                <a:cs typeface="Arial"/>
              </a:defRPr>
            </a:pPr>
            <a:r>
              <a:rPr sz="1875" b="1" i="0">
                <a:solidFill>
                  <a:srgbClr val="FCFAF5"/>
                </a:solidFill>
                <a:latin typeface="Arial"/>
                <a:ea typeface="Arial"/>
                <a:cs typeface="Arial"/>
              </a:rPr>
              <a:t>Sleeping mats</a:t>
            </a:r>
          </a:p>
        </p:txBody>
      </p:sp>
      <p:sp>
        <p:nvSpPr>
          <p:cNvPr id="14" name="link-merchant-2">
            <a:extLst xmlns:a="http://schemas.openxmlformats.org/drawingml/2006/main">
              <a:ext uri="{FF2B5EF4-FFF2-40B4-BE49-F238E27FC236}">
                <a16:creationId xmlns:a16="http://schemas.microsoft.com/office/drawing/2014/main" id="{0F2C6E04-1812-4E21-8418-4223BDF3CAED}"/>
              </a:ext>
            </a:extLst>
          </p:cNvPr>
          <p:cNvSpPr>
            <a:spLocks xmlns:a="http://schemas.openxmlformats.org/drawingml/2006/main" noGrp="1"/>
          </p:cNvSpPr>
          <p:nvPr/>
        </p:nvSpPr>
        <p:spPr>
          <a:xfrm xmlns:a="http://schemas.openxmlformats.org/drawingml/2006/main">
            <a:off x="5334000" y="42100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1545E8"/>
                </a:solidFill>
                <a:latin typeface="Arial"/>
                <a:ea typeface="Arial"/>
                <a:cs typeface="Arial"/>
              </a:defRPr>
            </a:pPr>
            <a:r>
              <a:rPr sz="1800" b="1" i="0">
                <a:solidFill>
                  <a:srgbClr val="1545E8"/>
                </a:solidFill>
                <a:latin typeface="Arial"/>
                <a:ea typeface="Arial"/>
                <a:cs typeface="Arial"/>
              </a:rPr>
              <a:t>Store C  ↗</a:t>
            </a:r>
          </a:p>
        </p:txBody>
      </p:sp>
      <p:sp>
        <p:nvSpPr>
          <p:cNvPr id="15" name="link-underline-2">
            <a:extLst xmlns:a="http://schemas.openxmlformats.org/drawingml/2006/main">
              <a:ext uri="{FF2B5EF4-FFF2-40B4-BE49-F238E27FC236}">
                <a16:creationId xmlns:a16="http://schemas.microsoft.com/office/drawing/2014/main" id="{602DF1D2-CEF9-4B00-8366-E0EE5FE6EA69}"/>
              </a:ext>
            </a:extLst>
          </p:cNvPr>
          <p:cNvSpPr>
            <a:spLocks xmlns:a="http://schemas.openxmlformats.org/drawingml/2006/main" noGrp="1"/>
          </p:cNvSpPr>
          <p:nvPr/>
        </p:nvSpPr>
        <p:spPr>
          <a:xfrm xmlns:a="http://schemas.openxmlformats.org/drawingml/2006/main">
            <a:off x="5334000" y="4514850"/>
            <a:ext cx="1333500" cy="19050"/>
          </a:xfrm>
          <a:prstGeom xmlns:a="http://schemas.openxmlformats.org/drawingml/2006/main" prst="rect">
            <a:avLst/>
          </a:prstGeom>
          <a:solidFill xmlns:a="http://schemas.openxmlformats.org/drawingml/2006/main">
            <a:srgbClr val="1545E8"/>
          </a:solidFill>
          <a:ln xmlns:a="http://schemas.openxmlformats.org/drawingml/2006/main" w="0">
            <a:solidFill>
              <a:srgbClr val="1545E8"/>
            </a:solidFill>
            <a:prstDash val="solid"/>
          </a:ln>
        </p:spPr>
      </p:sp>
      <p:sp>
        <p:nvSpPr>
          <p:cNvPr id="16" name="link-item-3">
            <a:extLst xmlns:a="http://schemas.openxmlformats.org/drawingml/2006/main">
              <a:ext uri="{FF2B5EF4-FFF2-40B4-BE49-F238E27FC236}">
                <a16:creationId xmlns:a16="http://schemas.microsoft.com/office/drawing/2014/main" id="{C9B59CE9-2349-4DCA-AE53-0E8B02914725}"/>
              </a:ext>
            </a:extLst>
          </p:cNvPr>
          <p:cNvSpPr>
            <a:spLocks xmlns:a="http://schemas.openxmlformats.org/drawingml/2006/main" noGrp="1"/>
          </p:cNvSpPr>
          <p:nvPr/>
        </p:nvSpPr>
        <p:spPr>
          <a:xfrm xmlns:a="http://schemas.openxmlformats.org/drawingml/2006/main">
            <a:off x="876300" y="4810125"/>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FCFAF5"/>
                </a:solidFill>
                <a:latin typeface="Arial"/>
                <a:ea typeface="Arial"/>
                <a:cs typeface="Arial"/>
              </a:defRPr>
            </a:pPr>
            <a:r>
              <a:rPr sz="1875" b="1" i="0">
                <a:solidFill>
                  <a:srgbClr val="FCFAF5"/>
                </a:solidFill>
                <a:latin typeface="Arial"/>
                <a:ea typeface="Arial"/>
                <a:cs typeface="Arial"/>
              </a:rPr>
              <a:t>Lantern + first aid</a:t>
            </a:r>
          </a:p>
        </p:txBody>
      </p:sp>
      <p:sp>
        <p:nvSpPr>
          <p:cNvPr id="17" name="link-merchant-3">
            <a:extLst xmlns:a="http://schemas.openxmlformats.org/drawingml/2006/main">
              <a:ext uri="{FF2B5EF4-FFF2-40B4-BE49-F238E27FC236}">
                <a16:creationId xmlns:a16="http://schemas.microsoft.com/office/drawing/2014/main" id="{25801EE3-BEF0-43CF-A102-F60F79A561AB}"/>
              </a:ext>
            </a:extLst>
          </p:cNvPr>
          <p:cNvSpPr>
            <a:spLocks xmlns:a="http://schemas.openxmlformats.org/drawingml/2006/main" noGrp="1"/>
          </p:cNvSpPr>
          <p:nvPr/>
        </p:nvSpPr>
        <p:spPr>
          <a:xfrm xmlns:a="http://schemas.openxmlformats.org/drawingml/2006/main">
            <a:off x="5334000" y="4810125"/>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1545E8"/>
                </a:solidFill>
                <a:latin typeface="Arial"/>
                <a:ea typeface="Arial"/>
                <a:cs typeface="Arial"/>
              </a:defRPr>
            </a:pPr>
            <a:r>
              <a:rPr sz="1800" b="1" i="0">
                <a:solidFill>
                  <a:srgbClr val="1545E8"/>
                </a:solidFill>
                <a:latin typeface="Arial"/>
                <a:ea typeface="Arial"/>
                <a:cs typeface="Arial"/>
              </a:rPr>
              <a:t>Store D  ↗</a:t>
            </a:r>
          </a:p>
        </p:txBody>
      </p:sp>
      <p:sp>
        <p:nvSpPr>
          <p:cNvPr id="18" name="link-underline-3">
            <a:extLst xmlns:a="http://schemas.openxmlformats.org/drawingml/2006/main">
              <a:ext uri="{FF2B5EF4-FFF2-40B4-BE49-F238E27FC236}">
                <a16:creationId xmlns:a16="http://schemas.microsoft.com/office/drawing/2014/main" id="{DB6043EE-9562-47D1-870D-9E022266E08B}"/>
              </a:ext>
            </a:extLst>
          </p:cNvPr>
          <p:cNvSpPr>
            <a:spLocks xmlns:a="http://schemas.openxmlformats.org/drawingml/2006/main" noGrp="1"/>
          </p:cNvSpPr>
          <p:nvPr/>
        </p:nvSpPr>
        <p:spPr>
          <a:xfrm xmlns:a="http://schemas.openxmlformats.org/drawingml/2006/main">
            <a:off x="5334000" y="5114925"/>
            <a:ext cx="1333500" cy="19050"/>
          </a:xfrm>
          <a:prstGeom xmlns:a="http://schemas.openxmlformats.org/drawingml/2006/main" prst="rect">
            <a:avLst/>
          </a:prstGeom>
          <a:solidFill xmlns:a="http://schemas.openxmlformats.org/drawingml/2006/main">
            <a:srgbClr val="1545E8"/>
          </a:solidFill>
          <a:ln xmlns:a="http://schemas.openxmlformats.org/drawingml/2006/main" w="0">
            <a:solidFill>
              <a:srgbClr val="1545E8"/>
            </a:solidFill>
            <a:prstDash val="solid"/>
          </a:ln>
        </p:spPr>
      </p:sp>
      <p:sp>
        <p:nvSpPr>
          <p:cNvPr id="19" name="link-divider">
            <a:extLst xmlns:a="http://schemas.openxmlformats.org/drawingml/2006/main">
              <a:ext uri="{FF2B5EF4-FFF2-40B4-BE49-F238E27FC236}">
                <a16:creationId xmlns:a16="http://schemas.microsoft.com/office/drawing/2014/main" id="{1F93B1B1-0ADF-46BE-BA81-2304008D83A9}"/>
              </a:ext>
            </a:extLst>
          </p:cNvPr>
          <p:cNvSpPr>
            <a:spLocks xmlns:a="http://schemas.openxmlformats.org/drawingml/2006/main" noGrp="1"/>
          </p:cNvSpPr>
          <p:nvPr/>
        </p:nvSpPr>
        <p:spPr>
          <a:xfrm xmlns:a="http://schemas.openxmlformats.org/drawingml/2006/main">
            <a:off x="8248650" y="2114550"/>
            <a:ext cx="19050" cy="3105150"/>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20" name="link-right">
            <a:extLst xmlns:a="http://schemas.openxmlformats.org/drawingml/2006/main">
              <a:ext uri="{FF2B5EF4-FFF2-40B4-BE49-F238E27FC236}">
                <a16:creationId xmlns:a16="http://schemas.microsoft.com/office/drawing/2014/main" id="{558CDEF8-6798-4F23-BC8F-44888A47B727}"/>
              </a:ext>
            </a:extLst>
          </p:cNvPr>
          <p:cNvSpPr>
            <a:spLocks xmlns:a="http://schemas.openxmlformats.org/drawingml/2006/main" noGrp="1"/>
          </p:cNvSpPr>
          <p:nvPr/>
        </p:nvSpPr>
        <p:spPr>
          <a:xfrm xmlns:a="http://schemas.openxmlformats.org/drawingml/2006/main">
            <a:off x="8763000" y="2552700"/>
            <a:ext cx="2857500"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5000"/>
              </a:lnSpc>
              <a:buNone/>
              <a:defRPr sz="2550" b="1" i="0">
                <a:solidFill>
                  <a:srgbClr val="FCFAF5"/>
                </a:solidFill>
                <a:latin typeface="Arial"/>
                <a:ea typeface="Arial"/>
                <a:cs typeface="Arial"/>
              </a:defRPr>
            </a:pPr>
            <a:r>
              <a:rPr sz="2550" b="1" i="0">
                <a:solidFill>
                  <a:srgbClr val="FCFAF5"/>
                </a:solidFill>
                <a:latin typeface="Arial"/>
                <a:ea typeface="Arial"/>
                <a:cs typeface="Arial"/>
              </a:rPr>
              <a:t>5 links</a:t>
            </a:r>
          </a:p>
          <a:p xmlns:a="http://schemas.openxmlformats.org/drawingml/2006/main">
            <a:pPr algn="l">
              <a:lnSpc>
                <a:spcPct val="115000"/>
              </a:lnSpc>
              <a:buNone/>
              <a:defRPr sz="2550" b="1" i="0">
                <a:solidFill>
                  <a:srgbClr val="FCFAF5"/>
                </a:solidFill>
                <a:latin typeface="Arial"/>
                <a:ea typeface="Arial"/>
                <a:cs typeface="Arial"/>
              </a:defRPr>
            </a:pPr>
            <a:r>
              <a:rPr sz="2550" b="1" i="0">
                <a:solidFill>
                  <a:srgbClr val="FCFAF5"/>
                </a:solidFill>
                <a:latin typeface="Arial"/>
                <a:ea typeface="Arial"/>
                <a:cs typeface="Arial"/>
              </a:rPr>
              <a:t>4 stores</a:t>
            </a:r>
          </a:p>
          <a:p xmlns:a="http://schemas.openxmlformats.org/drawingml/2006/main">
            <a:pPr algn="l">
              <a:lnSpc>
                <a:spcPct val="115000"/>
              </a:lnSpc>
              <a:buNone/>
              <a:defRPr sz="2550" b="1" i="0">
                <a:solidFill>
                  <a:srgbClr val="FCFAF5"/>
                </a:solidFill>
                <a:latin typeface="Arial"/>
                <a:ea typeface="Arial"/>
                <a:cs typeface="Arial"/>
              </a:defRPr>
            </a:pPr>
            <a:r>
              <a:rPr sz="2550" b="1" i="0">
                <a:solidFill>
                  <a:srgbClr val="FCFAF5"/>
                </a:solidFill>
                <a:latin typeface="Arial"/>
                <a:ea typeface="Arial"/>
                <a:cs typeface="Arial"/>
              </a:rPr>
              <a:t>0 complete kits</a:t>
            </a:r>
          </a:p>
        </p:txBody>
      </p:sp>
      <p:sp>
        <p:nvSpPr>
          <p:cNvPr id="21" name="link-footer">
            <a:extLst xmlns:a="http://schemas.openxmlformats.org/drawingml/2006/main">
              <a:ext uri="{FF2B5EF4-FFF2-40B4-BE49-F238E27FC236}">
                <a16:creationId xmlns:a16="http://schemas.microsoft.com/office/drawing/2014/main" id="{9C22FC11-E25D-419A-8F70-BD019BC816E7}"/>
              </a:ext>
            </a:extLst>
          </p:cNvPr>
          <p:cNvSpPr>
            <a:spLocks xmlns:a="http://schemas.openxmlformats.org/drawingml/2006/main" noGrp="1"/>
          </p:cNvSpPr>
          <p:nvPr/>
        </p:nvSpPr>
        <p:spPr>
          <a:xfrm xmlns:a="http://schemas.openxmlformats.org/drawingml/2006/main">
            <a:off x="590550" y="5962650"/>
            <a:ext cx="7334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B7F522"/>
                </a:solidFill>
                <a:latin typeface="Arial"/>
                <a:ea typeface="Arial"/>
                <a:cs typeface="Arial"/>
              </a:defRPr>
            </a:pPr>
            <a:r>
              <a:rPr sz="1875" b="1" i="0">
                <a:solidFill>
                  <a:srgbClr val="B7F522"/>
                </a:solidFill>
                <a:latin typeface="Arial"/>
                <a:ea typeface="Arial"/>
                <a:cs typeface="Arial"/>
              </a:rPr>
              <a:t>The response was fast. The shopping was not.</a:t>
            </a:r>
          </a:p>
        </p:txBody>
      </p:sp>
    </p:spTree>
    <p:extLst>
      <p:ext uri="{BB962C8B-B14F-4D97-AF65-F5344CB8AC3E}">
        <p14:creationId xmlns:p14="http://schemas.microsoft.com/office/powerpoint/2010/main" val="1667377541"/>
      </p:ext>
    </p:extLst>
  </p:cSld>
</p:sld>
</file>

<file path=ppt/slides/slide4.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31" name="brand-4">
            <a:extLst xmlns:a="http://schemas.openxmlformats.org/drawingml/2006/main">
              <a:ext uri="{FF2B5EF4-FFF2-40B4-BE49-F238E27FC236}">
                <a16:creationId xmlns:a16="http://schemas.microsoft.com/office/drawing/2014/main" id="{63B3B19E-2A0C-466F-8413-89A8A378ECC4}"/>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0E4B3B"/>
                </a:solidFill>
                <a:latin typeface="Arial"/>
                <a:ea typeface="Arial"/>
                <a:cs typeface="Arial"/>
              </a:defRPr>
            </a:pPr>
            <a:r>
              <a:rPr sz="1125" b="1" i="0">
                <a:solidFill>
                  <a:srgbClr val="0E4B3B"/>
                </a:solidFill>
                <a:latin typeface="Arial"/>
                <a:ea typeface="Arial"/>
                <a:cs typeface="Arial"/>
              </a:rPr>
              <a:t>WOVEN</a:t>
            </a:r>
          </a:p>
        </p:txBody>
      </p:sp>
      <p:sp>
        <p:nvSpPr>
          <p:cNvPr id="2" name="brand-origin-4">
            <a:extLst xmlns:a="http://schemas.openxmlformats.org/drawingml/2006/main">
              <a:ext uri="{FF2B5EF4-FFF2-40B4-BE49-F238E27FC236}">
                <a16:creationId xmlns:a16="http://schemas.microsoft.com/office/drawing/2014/main" id="{0244C3E8-EE5B-47A3-9469-FA8F7C182527}"/>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3" name="page-4">
            <a:extLst xmlns:a="http://schemas.openxmlformats.org/drawingml/2006/main">
              <a:ext uri="{FF2B5EF4-FFF2-40B4-BE49-F238E27FC236}">
                <a16:creationId xmlns:a16="http://schemas.microsoft.com/office/drawing/2014/main" id="{9647C67F-B74C-427F-816A-39465C8B3C1E}"/>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6D7974"/>
                </a:solidFill>
                <a:latin typeface="Arial"/>
                <a:ea typeface="Arial"/>
                <a:cs typeface="Arial"/>
              </a:defRPr>
            </a:pPr>
            <a:r>
              <a:rPr sz="900" b="0" i="0">
                <a:solidFill>
                  <a:srgbClr val="6D7974"/>
                </a:solidFill>
                <a:latin typeface="Arial"/>
                <a:ea typeface="Arial"/>
                <a:cs typeface="Arial"/>
              </a:rPr>
              <a:t>04 / 10</a:t>
            </a:r>
          </a:p>
        </p:txBody>
      </p:sp>
      <p:sp>
        <p:nvSpPr>
          <p:cNvPr id="4" name="checks-title">
            <a:extLst xmlns:a="http://schemas.openxmlformats.org/drawingml/2006/main">
              <a:ext uri="{FF2B5EF4-FFF2-40B4-BE49-F238E27FC236}">
                <a16:creationId xmlns:a16="http://schemas.microsoft.com/office/drawing/2014/main" id="{BF447B8A-DC03-437D-BEDF-A8F3DFEC6A61}"/>
              </a:ext>
            </a:extLst>
          </p:cNvPr>
          <p:cNvSpPr>
            <a:spLocks xmlns:a="http://schemas.openxmlformats.org/drawingml/2006/main" noGrp="1"/>
          </p:cNvSpPr>
          <p:nvPr/>
        </p:nvSpPr>
        <p:spPr>
          <a:xfrm xmlns:a="http://schemas.openxmlformats.org/drawingml/2006/main">
            <a:off x="590550" y="876300"/>
            <a:ext cx="1047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300" b="1" i="0">
                <a:solidFill>
                  <a:srgbClr val="0E4B3B"/>
                </a:solidFill>
                <a:latin typeface="Arial"/>
                <a:ea typeface="Arial"/>
                <a:cs typeface="Arial"/>
              </a:defRPr>
            </a:pPr>
            <a:r>
              <a:rPr sz="3300" b="1" i="0">
                <a:solidFill>
                  <a:srgbClr val="0E4B3B"/>
                </a:solidFill>
                <a:latin typeface="Arial"/>
                <a:ea typeface="Arial"/>
                <a:cs typeface="Arial"/>
              </a:rPr>
              <a:t>Then every link becomes another check.</a:t>
            </a:r>
          </a:p>
        </p:txBody>
      </p:sp>
      <p:sp>
        <p:nvSpPr>
          <p:cNvPr id="5" name="check-number-0">
            <a:extLst xmlns:a="http://schemas.openxmlformats.org/drawingml/2006/main">
              <a:ext uri="{FF2B5EF4-FFF2-40B4-BE49-F238E27FC236}">
                <a16:creationId xmlns:a16="http://schemas.microsoft.com/office/drawing/2014/main" id="{3FE78461-1DC4-4578-9155-0ED8EBC19A02}"/>
              </a:ext>
            </a:extLst>
          </p:cNvPr>
          <p:cNvSpPr>
            <a:spLocks xmlns:a="http://schemas.openxmlformats.org/drawingml/2006/main" noGrp="1"/>
          </p:cNvSpPr>
          <p:nvPr/>
        </p:nvSpPr>
        <p:spPr>
          <a:xfrm xmlns:a="http://schemas.openxmlformats.org/drawingml/2006/main">
            <a:off x="609600" y="2019300"/>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01</a:t>
            </a:r>
          </a:p>
        </p:txBody>
      </p:sp>
      <p:sp>
        <p:nvSpPr>
          <p:cNvPr id="6" name="check-0">
            <a:extLst xmlns:a="http://schemas.openxmlformats.org/drawingml/2006/main">
              <a:ext uri="{FF2B5EF4-FFF2-40B4-BE49-F238E27FC236}">
                <a16:creationId xmlns:a16="http://schemas.microsoft.com/office/drawing/2014/main" id="{3A171213-9991-46A3-8C08-A17347BCEEF3}"/>
              </a:ext>
            </a:extLst>
          </p:cNvPr>
          <p:cNvSpPr>
            <a:spLocks xmlns:a="http://schemas.openxmlformats.org/drawingml/2006/main" noGrp="1"/>
          </p:cNvSpPr>
          <p:nvPr/>
        </p:nvSpPr>
        <p:spPr>
          <a:xfrm xmlns:a="http://schemas.openxmlformats.org/drawingml/2006/main">
            <a:off x="1143000" y="1971675"/>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Does the tent sleep two?</a:t>
            </a:r>
          </a:p>
        </p:txBody>
      </p:sp>
      <p:sp>
        <p:nvSpPr>
          <p:cNvPr id="7" name="check-rule-0">
            <a:extLst xmlns:a="http://schemas.openxmlformats.org/drawingml/2006/main">
              <a:ext uri="{FF2B5EF4-FFF2-40B4-BE49-F238E27FC236}">
                <a16:creationId xmlns:a16="http://schemas.microsoft.com/office/drawing/2014/main" id="{002BDA04-4965-44B7-A32F-808EC2A01C6F}"/>
              </a:ext>
            </a:extLst>
          </p:cNvPr>
          <p:cNvSpPr>
            <a:spLocks xmlns:a="http://schemas.openxmlformats.org/drawingml/2006/main" noGrp="1"/>
          </p:cNvSpPr>
          <p:nvPr/>
        </p:nvSpPr>
        <p:spPr>
          <a:xfrm xmlns:a="http://schemas.openxmlformats.org/drawingml/2006/main">
            <a:off x="1143000" y="2466975"/>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8" name="check-number-1">
            <a:extLst xmlns:a="http://schemas.openxmlformats.org/drawingml/2006/main">
              <a:ext uri="{FF2B5EF4-FFF2-40B4-BE49-F238E27FC236}">
                <a16:creationId xmlns:a16="http://schemas.microsoft.com/office/drawing/2014/main" id="{E9B87BA6-ADAE-40BB-9529-519BF43881F2}"/>
              </a:ext>
            </a:extLst>
          </p:cNvPr>
          <p:cNvSpPr>
            <a:spLocks xmlns:a="http://schemas.openxmlformats.org/drawingml/2006/main" noGrp="1"/>
          </p:cNvSpPr>
          <p:nvPr/>
        </p:nvSpPr>
        <p:spPr>
          <a:xfrm xmlns:a="http://schemas.openxmlformats.org/drawingml/2006/main">
            <a:off x="6115050" y="2019300"/>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02</a:t>
            </a:r>
          </a:p>
        </p:txBody>
      </p:sp>
      <p:sp>
        <p:nvSpPr>
          <p:cNvPr id="9" name="check-1">
            <a:extLst xmlns:a="http://schemas.openxmlformats.org/drawingml/2006/main">
              <a:ext uri="{FF2B5EF4-FFF2-40B4-BE49-F238E27FC236}">
                <a16:creationId xmlns:a16="http://schemas.microsoft.com/office/drawing/2014/main" id="{C0F421C4-1EE2-447E-8142-CCCC898AA177}"/>
              </a:ext>
            </a:extLst>
          </p:cNvPr>
          <p:cNvSpPr>
            <a:spLocks xmlns:a="http://schemas.openxmlformats.org/drawingml/2006/main" noGrp="1"/>
          </p:cNvSpPr>
          <p:nvPr/>
        </p:nvSpPr>
        <p:spPr>
          <a:xfrm xmlns:a="http://schemas.openxmlformats.org/drawingml/2006/main">
            <a:off x="6648450" y="1971675"/>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Is the rainfly ≥ 2,000 mm?</a:t>
            </a:r>
          </a:p>
        </p:txBody>
      </p:sp>
      <p:sp>
        <p:nvSpPr>
          <p:cNvPr id="10" name="check-rule-1">
            <a:extLst xmlns:a="http://schemas.openxmlformats.org/drawingml/2006/main">
              <a:ext uri="{FF2B5EF4-FFF2-40B4-BE49-F238E27FC236}">
                <a16:creationId xmlns:a16="http://schemas.microsoft.com/office/drawing/2014/main" id="{EA0B37B2-7EF8-451C-A8AC-C35D4714BDA0}"/>
              </a:ext>
            </a:extLst>
          </p:cNvPr>
          <p:cNvSpPr>
            <a:spLocks xmlns:a="http://schemas.openxmlformats.org/drawingml/2006/main" noGrp="1"/>
          </p:cNvSpPr>
          <p:nvPr/>
        </p:nvSpPr>
        <p:spPr>
          <a:xfrm xmlns:a="http://schemas.openxmlformats.org/drawingml/2006/main">
            <a:off x="6648450" y="2466975"/>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11" name="check-number-2">
            <a:extLst xmlns:a="http://schemas.openxmlformats.org/drawingml/2006/main">
              <a:ext uri="{FF2B5EF4-FFF2-40B4-BE49-F238E27FC236}">
                <a16:creationId xmlns:a16="http://schemas.microsoft.com/office/drawing/2014/main" id="{5135C149-5D0D-45A8-9222-E2FFD98D400A}"/>
              </a:ext>
            </a:extLst>
          </p:cNvPr>
          <p:cNvSpPr>
            <a:spLocks xmlns:a="http://schemas.openxmlformats.org/drawingml/2006/main" noGrp="1"/>
          </p:cNvSpPr>
          <p:nvPr/>
        </p:nvSpPr>
        <p:spPr>
          <a:xfrm xmlns:a="http://schemas.openxmlformats.org/drawingml/2006/main">
            <a:off x="609600" y="2771775"/>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03</a:t>
            </a:r>
          </a:p>
        </p:txBody>
      </p:sp>
      <p:sp>
        <p:nvSpPr>
          <p:cNvPr id="12" name="check-2">
            <a:extLst xmlns:a="http://schemas.openxmlformats.org/drawingml/2006/main">
              <a:ext uri="{FF2B5EF4-FFF2-40B4-BE49-F238E27FC236}">
                <a16:creationId xmlns:a16="http://schemas.microsoft.com/office/drawing/2014/main" id="{DF8C0B37-BE54-436F-BAB9-E8DF62BB4E17}"/>
              </a:ext>
            </a:extLst>
          </p:cNvPr>
          <p:cNvSpPr>
            <a:spLocks xmlns:a="http://schemas.openxmlformats.org/drawingml/2006/main" noGrp="1"/>
          </p:cNvSpPr>
          <p:nvPr/>
        </p:nvSpPr>
        <p:spPr>
          <a:xfrm xmlns:a="http://schemas.openxmlformats.org/drawingml/2006/main">
            <a:off x="1143000" y="2724150"/>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Are there two sleeping bags?</a:t>
            </a:r>
          </a:p>
        </p:txBody>
      </p:sp>
      <p:sp>
        <p:nvSpPr>
          <p:cNvPr id="13" name="check-rule-2">
            <a:extLst xmlns:a="http://schemas.openxmlformats.org/drawingml/2006/main">
              <a:ext uri="{FF2B5EF4-FFF2-40B4-BE49-F238E27FC236}">
                <a16:creationId xmlns:a16="http://schemas.microsoft.com/office/drawing/2014/main" id="{1662AF54-5F54-4502-AB6A-78D861E572BB}"/>
              </a:ext>
            </a:extLst>
          </p:cNvPr>
          <p:cNvSpPr>
            <a:spLocks xmlns:a="http://schemas.openxmlformats.org/drawingml/2006/main" noGrp="1"/>
          </p:cNvSpPr>
          <p:nvPr/>
        </p:nvSpPr>
        <p:spPr>
          <a:xfrm xmlns:a="http://schemas.openxmlformats.org/drawingml/2006/main">
            <a:off x="1143000" y="3219450"/>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14" name="check-number-3">
            <a:extLst xmlns:a="http://schemas.openxmlformats.org/drawingml/2006/main">
              <a:ext uri="{FF2B5EF4-FFF2-40B4-BE49-F238E27FC236}">
                <a16:creationId xmlns:a16="http://schemas.microsoft.com/office/drawing/2014/main" id="{F28B9A62-6D01-4EBF-8A89-49110CF08011}"/>
              </a:ext>
            </a:extLst>
          </p:cNvPr>
          <p:cNvSpPr>
            <a:spLocks xmlns:a="http://schemas.openxmlformats.org/drawingml/2006/main" noGrp="1"/>
          </p:cNvSpPr>
          <p:nvPr/>
        </p:nvSpPr>
        <p:spPr>
          <a:xfrm xmlns:a="http://schemas.openxmlformats.org/drawingml/2006/main">
            <a:off x="6115050" y="2771775"/>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04</a:t>
            </a:r>
          </a:p>
        </p:txBody>
      </p:sp>
      <p:sp>
        <p:nvSpPr>
          <p:cNvPr id="15" name="check-3">
            <a:extLst xmlns:a="http://schemas.openxmlformats.org/drawingml/2006/main">
              <a:ext uri="{FF2B5EF4-FFF2-40B4-BE49-F238E27FC236}">
                <a16:creationId xmlns:a16="http://schemas.microsoft.com/office/drawing/2014/main" id="{25052307-D0B6-4C18-908A-203B562CAE94}"/>
              </a:ext>
            </a:extLst>
          </p:cNvPr>
          <p:cNvSpPr>
            <a:spLocks xmlns:a="http://schemas.openxmlformats.org/drawingml/2006/main" noGrp="1"/>
          </p:cNvSpPr>
          <p:nvPr/>
        </p:nvSpPr>
        <p:spPr>
          <a:xfrm xmlns:a="http://schemas.openxmlformats.org/drawingml/2006/main">
            <a:off x="6648450" y="2724150"/>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Are there two sleeping mats?</a:t>
            </a:r>
          </a:p>
        </p:txBody>
      </p:sp>
      <p:sp>
        <p:nvSpPr>
          <p:cNvPr id="16" name="check-rule-3">
            <a:extLst xmlns:a="http://schemas.openxmlformats.org/drawingml/2006/main">
              <a:ext uri="{FF2B5EF4-FFF2-40B4-BE49-F238E27FC236}">
                <a16:creationId xmlns:a16="http://schemas.microsoft.com/office/drawing/2014/main" id="{4CBDDB49-3875-44BF-A5C1-BBE0827F9888}"/>
              </a:ext>
            </a:extLst>
          </p:cNvPr>
          <p:cNvSpPr>
            <a:spLocks xmlns:a="http://schemas.openxmlformats.org/drawingml/2006/main" noGrp="1"/>
          </p:cNvSpPr>
          <p:nvPr/>
        </p:nvSpPr>
        <p:spPr>
          <a:xfrm xmlns:a="http://schemas.openxmlformats.org/drawingml/2006/main">
            <a:off x="6648450" y="3219450"/>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17" name="check-number-4">
            <a:extLst xmlns:a="http://schemas.openxmlformats.org/drawingml/2006/main">
              <a:ext uri="{FF2B5EF4-FFF2-40B4-BE49-F238E27FC236}">
                <a16:creationId xmlns:a16="http://schemas.microsoft.com/office/drawing/2014/main" id="{81B07F5A-7949-4C6E-B242-74967E173B97}"/>
              </a:ext>
            </a:extLst>
          </p:cNvPr>
          <p:cNvSpPr>
            <a:spLocks xmlns:a="http://schemas.openxmlformats.org/drawingml/2006/main" noGrp="1"/>
          </p:cNvSpPr>
          <p:nvPr/>
        </p:nvSpPr>
        <p:spPr>
          <a:xfrm xmlns:a="http://schemas.openxmlformats.org/drawingml/2006/main">
            <a:off x="609600" y="3524250"/>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05</a:t>
            </a:r>
          </a:p>
        </p:txBody>
      </p:sp>
      <p:sp>
        <p:nvSpPr>
          <p:cNvPr id="18" name="check-4">
            <a:extLst xmlns:a="http://schemas.openxmlformats.org/drawingml/2006/main">
              <a:ext uri="{FF2B5EF4-FFF2-40B4-BE49-F238E27FC236}">
                <a16:creationId xmlns:a16="http://schemas.microsoft.com/office/drawing/2014/main" id="{ECA86EE0-A751-46CC-B7E2-FDAB207C38B1}"/>
              </a:ext>
            </a:extLst>
          </p:cNvPr>
          <p:cNvSpPr>
            <a:spLocks xmlns:a="http://schemas.openxmlformats.org/drawingml/2006/main" noGrp="1"/>
          </p:cNvSpPr>
          <p:nvPr/>
        </p:nvSpPr>
        <p:spPr>
          <a:xfrm xmlns:a="http://schemas.openxmlformats.org/drawingml/2006/main">
            <a:off x="1143000" y="3476625"/>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Is the lantern rain-ready?</a:t>
            </a:r>
          </a:p>
        </p:txBody>
      </p:sp>
      <p:sp>
        <p:nvSpPr>
          <p:cNvPr id="19" name="check-rule-4">
            <a:extLst xmlns:a="http://schemas.openxmlformats.org/drawingml/2006/main">
              <a:ext uri="{FF2B5EF4-FFF2-40B4-BE49-F238E27FC236}">
                <a16:creationId xmlns:a16="http://schemas.microsoft.com/office/drawing/2014/main" id="{972EAC29-30B5-4A20-A33C-6823196C7D33}"/>
              </a:ext>
            </a:extLst>
          </p:cNvPr>
          <p:cNvSpPr>
            <a:spLocks xmlns:a="http://schemas.openxmlformats.org/drawingml/2006/main" noGrp="1"/>
          </p:cNvSpPr>
          <p:nvPr/>
        </p:nvSpPr>
        <p:spPr>
          <a:xfrm xmlns:a="http://schemas.openxmlformats.org/drawingml/2006/main">
            <a:off x="1143000" y="3971925"/>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20" name="check-number-5">
            <a:extLst xmlns:a="http://schemas.openxmlformats.org/drawingml/2006/main">
              <a:ext uri="{FF2B5EF4-FFF2-40B4-BE49-F238E27FC236}">
                <a16:creationId xmlns:a16="http://schemas.microsoft.com/office/drawing/2014/main" id="{E8F80DD6-A052-45DC-9342-E15B19DE3B03}"/>
              </a:ext>
            </a:extLst>
          </p:cNvPr>
          <p:cNvSpPr>
            <a:spLocks xmlns:a="http://schemas.openxmlformats.org/drawingml/2006/main" noGrp="1"/>
          </p:cNvSpPr>
          <p:nvPr/>
        </p:nvSpPr>
        <p:spPr>
          <a:xfrm xmlns:a="http://schemas.openxmlformats.org/drawingml/2006/main">
            <a:off x="6115050" y="3524250"/>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06</a:t>
            </a:r>
          </a:p>
        </p:txBody>
      </p:sp>
      <p:sp>
        <p:nvSpPr>
          <p:cNvPr id="21" name="check-5">
            <a:extLst xmlns:a="http://schemas.openxmlformats.org/drawingml/2006/main">
              <a:ext uri="{FF2B5EF4-FFF2-40B4-BE49-F238E27FC236}">
                <a16:creationId xmlns:a16="http://schemas.microsoft.com/office/drawing/2014/main" id="{9940CE23-7E40-4443-8FEA-D05A583E5774}"/>
              </a:ext>
            </a:extLst>
          </p:cNvPr>
          <p:cNvSpPr>
            <a:spLocks xmlns:a="http://schemas.openxmlformats.org/drawingml/2006/main" noGrp="1"/>
          </p:cNvSpPr>
          <p:nvPr/>
        </p:nvSpPr>
        <p:spPr>
          <a:xfrm xmlns:a="http://schemas.openxmlformats.org/drawingml/2006/main">
            <a:off x="6648450" y="3476625"/>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Does first aid cover two?</a:t>
            </a:r>
          </a:p>
        </p:txBody>
      </p:sp>
      <p:sp>
        <p:nvSpPr>
          <p:cNvPr id="22" name="check-rule-5">
            <a:extLst xmlns:a="http://schemas.openxmlformats.org/drawingml/2006/main">
              <a:ext uri="{FF2B5EF4-FFF2-40B4-BE49-F238E27FC236}">
                <a16:creationId xmlns:a16="http://schemas.microsoft.com/office/drawing/2014/main" id="{F1058A31-9D07-45C9-9DF2-E60C830F2B48}"/>
              </a:ext>
            </a:extLst>
          </p:cNvPr>
          <p:cNvSpPr>
            <a:spLocks xmlns:a="http://schemas.openxmlformats.org/drawingml/2006/main" noGrp="1"/>
          </p:cNvSpPr>
          <p:nvPr/>
        </p:nvSpPr>
        <p:spPr>
          <a:xfrm xmlns:a="http://schemas.openxmlformats.org/drawingml/2006/main">
            <a:off x="6648450" y="3971925"/>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23" name="check-number-6">
            <a:extLst xmlns:a="http://schemas.openxmlformats.org/drawingml/2006/main">
              <a:ext uri="{FF2B5EF4-FFF2-40B4-BE49-F238E27FC236}">
                <a16:creationId xmlns:a16="http://schemas.microsoft.com/office/drawing/2014/main" id="{E6A2F5DD-8C66-497C-AD8F-649888F7FF7D}"/>
              </a:ext>
            </a:extLst>
          </p:cNvPr>
          <p:cNvSpPr>
            <a:spLocks xmlns:a="http://schemas.openxmlformats.org/drawingml/2006/main" noGrp="1"/>
          </p:cNvSpPr>
          <p:nvPr/>
        </p:nvSpPr>
        <p:spPr>
          <a:xfrm xmlns:a="http://schemas.openxmlformats.org/drawingml/2006/main">
            <a:off x="609600" y="4276725"/>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07</a:t>
            </a:r>
          </a:p>
        </p:txBody>
      </p:sp>
      <p:sp>
        <p:nvSpPr>
          <p:cNvPr id="24" name="check-6">
            <a:extLst xmlns:a="http://schemas.openxmlformats.org/drawingml/2006/main">
              <a:ext uri="{FF2B5EF4-FFF2-40B4-BE49-F238E27FC236}">
                <a16:creationId xmlns:a16="http://schemas.microsoft.com/office/drawing/2014/main" id="{EF564991-6EF3-4588-91FA-AE052027A81B}"/>
              </a:ext>
            </a:extLst>
          </p:cNvPr>
          <p:cNvSpPr>
            <a:spLocks xmlns:a="http://schemas.openxmlformats.org/drawingml/2006/main" noGrp="1"/>
          </p:cNvSpPr>
          <p:nvPr/>
        </p:nvSpPr>
        <p:spPr>
          <a:xfrm xmlns:a="http://schemas.openxmlformats.org/drawingml/2006/main">
            <a:off x="1143000" y="4229100"/>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Is packed gear ≤ 120 L?</a:t>
            </a:r>
          </a:p>
        </p:txBody>
      </p:sp>
      <p:sp>
        <p:nvSpPr>
          <p:cNvPr id="25" name="check-rule-6">
            <a:extLst xmlns:a="http://schemas.openxmlformats.org/drawingml/2006/main">
              <a:ext uri="{FF2B5EF4-FFF2-40B4-BE49-F238E27FC236}">
                <a16:creationId xmlns:a16="http://schemas.microsoft.com/office/drawing/2014/main" id="{542A2CD4-6962-4FF5-A2A4-B427057A537F}"/>
              </a:ext>
            </a:extLst>
          </p:cNvPr>
          <p:cNvSpPr>
            <a:spLocks xmlns:a="http://schemas.openxmlformats.org/drawingml/2006/main" noGrp="1"/>
          </p:cNvSpPr>
          <p:nvPr/>
        </p:nvSpPr>
        <p:spPr>
          <a:xfrm xmlns:a="http://schemas.openxmlformats.org/drawingml/2006/main">
            <a:off x="1143000" y="4724400"/>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26" name="check-number-7">
            <a:extLst xmlns:a="http://schemas.openxmlformats.org/drawingml/2006/main">
              <a:ext uri="{FF2B5EF4-FFF2-40B4-BE49-F238E27FC236}">
                <a16:creationId xmlns:a16="http://schemas.microsoft.com/office/drawing/2014/main" id="{1172075A-A27C-4ED1-95DE-A9ED17D6E67F}"/>
              </a:ext>
            </a:extLst>
          </p:cNvPr>
          <p:cNvSpPr>
            <a:spLocks xmlns:a="http://schemas.openxmlformats.org/drawingml/2006/main" noGrp="1"/>
          </p:cNvSpPr>
          <p:nvPr/>
        </p:nvSpPr>
        <p:spPr>
          <a:xfrm xmlns:a="http://schemas.openxmlformats.org/drawingml/2006/main">
            <a:off x="6115050" y="4276725"/>
            <a:ext cx="49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B64032"/>
                </a:solidFill>
                <a:latin typeface="Arial"/>
                <a:ea typeface="Arial"/>
                <a:cs typeface="Arial"/>
              </a:defRPr>
            </a:pPr>
            <a:r>
              <a:rPr sz="1200" b="1" i="0">
                <a:solidFill>
                  <a:srgbClr val="B64032"/>
                </a:solidFill>
                <a:latin typeface="Arial"/>
                <a:ea typeface="Arial"/>
                <a:cs typeface="Arial"/>
              </a:rPr>
              <a:t>08</a:t>
            </a:r>
          </a:p>
        </p:txBody>
      </p:sp>
      <p:sp>
        <p:nvSpPr>
          <p:cNvPr id="27" name="check-7">
            <a:extLst xmlns:a="http://schemas.openxmlformats.org/drawingml/2006/main">
              <a:ext uri="{FF2B5EF4-FFF2-40B4-BE49-F238E27FC236}">
                <a16:creationId xmlns:a16="http://schemas.microsoft.com/office/drawing/2014/main" id="{4287BBD1-09AB-4CD2-A7C7-3BB7492E7BC2}"/>
              </a:ext>
            </a:extLst>
          </p:cNvPr>
          <p:cNvSpPr>
            <a:spLocks xmlns:a="http://schemas.openxmlformats.org/drawingml/2006/main" noGrp="1"/>
          </p:cNvSpPr>
          <p:nvPr/>
        </p:nvSpPr>
        <p:spPr>
          <a:xfrm xmlns:a="http://schemas.openxmlformats.org/drawingml/2006/main">
            <a:off x="6648450" y="4229100"/>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25" b="1" i="0">
                <a:solidFill>
                  <a:srgbClr val="0A0A0A"/>
                </a:solidFill>
                <a:latin typeface="Arial"/>
                <a:ea typeface="Arial"/>
                <a:cs typeface="Arial"/>
              </a:defRPr>
            </a:pPr>
            <a:r>
              <a:rPr sz="2025" b="1" i="0">
                <a:solidFill>
                  <a:srgbClr val="0A0A0A"/>
                </a:solidFill>
                <a:latin typeface="Arial"/>
                <a:ea typeface="Arial"/>
                <a:cs typeface="Arial"/>
              </a:rPr>
              <a:t>Under S$300 and pickup today?</a:t>
            </a:r>
          </a:p>
        </p:txBody>
      </p:sp>
      <p:sp>
        <p:nvSpPr>
          <p:cNvPr id="28" name="check-rule-7">
            <a:extLst xmlns:a="http://schemas.openxmlformats.org/drawingml/2006/main">
              <a:ext uri="{FF2B5EF4-FFF2-40B4-BE49-F238E27FC236}">
                <a16:creationId xmlns:a16="http://schemas.microsoft.com/office/drawing/2014/main" id="{B6D50371-7A31-4836-B672-84CC5060FC55}"/>
              </a:ext>
            </a:extLst>
          </p:cNvPr>
          <p:cNvSpPr>
            <a:spLocks xmlns:a="http://schemas.openxmlformats.org/drawingml/2006/main" noGrp="1"/>
          </p:cNvSpPr>
          <p:nvPr/>
        </p:nvSpPr>
        <p:spPr>
          <a:xfrm xmlns:a="http://schemas.openxmlformats.org/drawingml/2006/main">
            <a:off x="6648450" y="4724400"/>
            <a:ext cx="4286250" cy="9525"/>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29" name="checks-bottom-rule">
            <a:extLst xmlns:a="http://schemas.openxmlformats.org/drawingml/2006/main">
              <a:ext uri="{FF2B5EF4-FFF2-40B4-BE49-F238E27FC236}">
                <a16:creationId xmlns:a16="http://schemas.microsoft.com/office/drawing/2014/main" id="{E80C1605-2AFB-401D-8D26-155A6B717079}"/>
              </a:ext>
            </a:extLst>
          </p:cNvPr>
          <p:cNvSpPr>
            <a:spLocks xmlns:a="http://schemas.openxmlformats.org/drawingml/2006/main" noGrp="1"/>
          </p:cNvSpPr>
          <p:nvPr/>
        </p:nvSpPr>
        <p:spPr>
          <a:xfrm xmlns:a="http://schemas.openxmlformats.org/drawingml/2006/main">
            <a:off x="590550" y="5410200"/>
            <a:ext cx="11010900" cy="57150"/>
          </a:xfrm>
          <a:prstGeom xmlns:a="http://schemas.openxmlformats.org/drawingml/2006/main" prst="rect">
            <a:avLst/>
          </a:prstGeom>
          <a:solidFill xmlns:a="http://schemas.openxmlformats.org/drawingml/2006/main">
            <a:srgbClr val="B64032"/>
          </a:solidFill>
          <a:ln xmlns:a="http://schemas.openxmlformats.org/drawingml/2006/main" w="0">
            <a:solidFill>
              <a:srgbClr val="B64032"/>
            </a:solidFill>
            <a:prstDash val="solid"/>
          </a:ln>
        </p:spPr>
      </p:sp>
      <p:sp>
        <p:nvSpPr>
          <p:cNvPr id="30" name="checks-conclusion">
            <a:extLst xmlns:a="http://schemas.openxmlformats.org/drawingml/2006/main">
              <a:ext uri="{FF2B5EF4-FFF2-40B4-BE49-F238E27FC236}">
                <a16:creationId xmlns:a16="http://schemas.microsoft.com/office/drawing/2014/main" id="{947C2599-5BDB-47DC-B141-C3451A8DFC68}"/>
              </a:ext>
            </a:extLst>
          </p:cNvPr>
          <p:cNvSpPr>
            <a:spLocks xmlns:a="http://schemas.openxmlformats.org/drawingml/2006/main" noGrp="1"/>
          </p:cNvSpPr>
          <p:nvPr/>
        </p:nvSpPr>
        <p:spPr>
          <a:xfrm xmlns:a="http://schemas.openxmlformats.org/drawingml/2006/main">
            <a:off x="590550" y="5772150"/>
            <a:ext cx="1047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i="0">
                <a:solidFill>
                  <a:srgbClr val="0E4B3B"/>
                </a:solidFill>
                <a:latin typeface="Arial"/>
                <a:ea typeface="Arial"/>
                <a:cs typeface="Arial"/>
              </a:defRPr>
            </a:pPr>
            <a:r>
              <a:rPr sz="2250" b="1" i="0">
                <a:solidFill>
                  <a:srgbClr val="0E4B3B"/>
                </a:solidFill>
                <a:latin typeface="Arial"/>
                <a:ea typeface="Arial"/>
                <a:cs typeface="Arial"/>
              </a:rPr>
              <a:t>The AI answered my question. I still have to finish the mission.</a:t>
            </a:r>
          </a:p>
        </p:txBody>
      </p:sp>
    </p:spTree>
    <p:extLst>
      <p:ext uri="{BB962C8B-B14F-4D97-AF65-F5344CB8AC3E}">
        <p14:creationId xmlns:p14="http://schemas.microsoft.com/office/powerpoint/2010/main" val="827110840"/>
      </p:ext>
    </p:extLst>
  </p:cSld>
</p:sld>
</file>

<file path=ppt/slides/slide5.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c446a5b959b4f02"/>
          <a:srcRect xmlns:a="http://schemas.openxmlformats.org/drawingml/2006/main" l="25378" t="0" r="25378" b="0"/>
          <a:stretch xmlns:a="http://schemas.openxmlformats.org/drawingml/2006/main">
            <a:fillRect l="0" t="0" r="0" b="0"/>
          </a:stretch>
        </p:blipFill>
        <p:spPr>
          <a:xfrm xmlns:a="http://schemas.openxmlformats.org/drawingml/2006/main">
            <a:off x="6191250" y="0"/>
            <a:ext cx="6000750" cy="6858000"/>
          </a:xfrm>
          <a:prstGeom xmlns:a="http://schemas.openxmlformats.org/drawingml/2006/main" prst="rect">
            <a:avLst/>
          </a:prstGeom>
        </p:spPr>
      </p:pic>
      <p:sp>
        <p:nvSpPr>
          <p:cNvPr id="2" name="no-app-copy-ground">
            <a:extLst xmlns:a="http://schemas.openxmlformats.org/drawingml/2006/main">
              <a:ext uri="{FF2B5EF4-FFF2-40B4-BE49-F238E27FC236}">
                <a16:creationId xmlns:a16="http://schemas.microsoft.com/office/drawing/2014/main" id="{1B731E7D-5435-426F-98CA-1C20DCAB4415}"/>
              </a:ext>
            </a:extLst>
          </p:cNvPr>
          <p:cNvSpPr>
            <a:spLocks xmlns:a="http://schemas.openxmlformats.org/drawingml/2006/main" noGrp="1"/>
          </p:cNvSpPr>
          <p:nvPr/>
        </p:nvSpPr>
        <p:spPr>
          <a:xfrm xmlns:a="http://schemas.openxmlformats.org/drawingml/2006/main">
            <a:off x="0" y="0"/>
            <a:ext cx="6858000" cy="6858000"/>
          </a:xfrm>
          <a:prstGeom xmlns:a="http://schemas.openxmlformats.org/drawingml/2006/main" prst="rect">
            <a:avLst/>
          </a:prstGeom>
          <a:solidFill xmlns:a="http://schemas.openxmlformats.org/drawingml/2006/main">
            <a:srgbClr val="0E4B3B"/>
          </a:solidFill>
          <a:ln xmlns:a="http://schemas.openxmlformats.org/drawingml/2006/main" w="0">
            <a:solidFill>
              <a:srgbClr val="0E4B3B"/>
            </a:solidFill>
            <a:prstDash val="solid"/>
          </a:ln>
        </p:spPr>
      </p:sp>
      <p:sp>
        <p:nvSpPr>
          <p:cNvPr id="3" name="brand-5">
            <a:extLst xmlns:a="http://schemas.openxmlformats.org/drawingml/2006/main">
              <a:ext uri="{FF2B5EF4-FFF2-40B4-BE49-F238E27FC236}">
                <a16:creationId xmlns:a16="http://schemas.microsoft.com/office/drawing/2014/main" id="{5D0D04FB-C3B2-4BAB-84EE-4C00BF0A8288}"/>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FCFAF5"/>
                </a:solidFill>
                <a:latin typeface="Arial"/>
                <a:ea typeface="Arial"/>
                <a:cs typeface="Arial"/>
              </a:defRPr>
            </a:pPr>
            <a:r>
              <a:rPr sz="1125" b="1" i="0">
                <a:solidFill>
                  <a:srgbClr val="FCFAF5"/>
                </a:solidFill>
                <a:latin typeface="Arial"/>
                <a:ea typeface="Arial"/>
                <a:cs typeface="Arial"/>
              </a:rPr>
              <a:t>WOVEN</a:t>
            </a:r>
          </a:p>
        </p:txBody>
      </p:sp>
      <p:sp>
        <p:nvSpPr>
          <p:cNvPr id="4" name="brand-origin-5">
            <a:extLst xmlns:a="http://schemas.openxmlformats.org/drawingml/2006/main">
              <a:ext uri="{FF2B5EF4-FFF2-40B4-BE49-F238E27FC236}">
                <a16:creationId xmlns:a16="http://schemas.microsoft.com/office/drawing/2014/main" id="{34892EBE-E683-4B31-9482-F5723541C5E2}"/>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5" name="page-5">
            <a:extLst xmlns:a="http://schemas.openxmlformats.org/drawingml/2006/main">
              <a:ext uri="{FF2B5EF4-FFF2-40B4-BE49-F238E27FC236}">
                <a16:creationId xmlns:a16="http://schemas.microsoft.com/office/drawing/2014/main" id="{0F05F96D-1977-4855-96D1-632D87E6B9DE}"/>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DCECE5"/>
                </a:solidFill>
                <a:latin typeface="Arial"/>
                <a:ea typeface="Arial"/>
                <a:cs typeface="Arial"/>
              </a:defRPr>
            </a:pPr>
            <a:r>
              <a:rPr sz="900" b="0" i="0">
                <a:solidFill>
                  <a:srgbClr val="DCECE5"/>
                </a:solidFill>
                <a:latin typeface="Arial"/>
                <a:ea typeface="Arial"/>
                <a:cs typeface="Arial"/>
              </a:rPr>
              <a:t>05 / 10</a:t>
            </a:r>
          </a:p>
        </p:txBody>
      </p:sp>
      <p:sp>
        <p:nvSpPr>
          <p:cNvPr id="6" name="no-app-title">
            <a:extLst xmlns:a="http://schemas.openxmlformats.org/drawingml/2006/main">
              <a:ext uri="{FF2B5EF4-FFF2-40B4-BE49-F238E27FC236}">
                <a16:creationId xmlns:a16="http://schemas.microsoft.com/office/drawing/2014/main" id="{8BFF18F7-7C86-4F92-ADF3-42CA0CEA24E5}"/>
              </a:ext>
            </a:extLst>
          </p:cNvPr>
          <p:cNvSpPr>
            <a:spLocks xmlns:a="http://schemas.openxmlformats.org/drawingml/2006/main" noGrp="1"/>
          </p:cNvSpPr>
          <p:nvPr/>
        </p:nvSpPr>
        <p:spPr>
          <a:xfrm xmlns:a="http://schemas.openxmlformats.org/drawingml/2006/main">
            <a:off x="590550" y="1314450"/>
            <a:ext cx="561975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2000"/>
              </a:lnSpc>
              <a:buNone/>
              <a:defRPr sz="4575" b="1" i="0">
                <a:solidFill>
                  <a:srgbClr val="FCFAF5"/>
                </a:solidFill>
                <a:latin typeface="Arial"/>
                <a:ea typeface="Arial"/>
                <a:cs typeface="Arial"/>
              </a:defRPr>
            </a:pPr>
            <a:r>
              <a:rPr sz="4575" b="1" i="0">
                <a:solidFill>
                  <a:srgbClr val="FCFAF5"/>
                </a:solidFill>
                <a:latin typeface="Arial"/>
                <a:ea typeface="Arial"/>
                <a:cs typeface="Arial"/>
              </a:rPr>
              <a:t>I don’t want another shopping app.</a:t>
            </a:r>
          </a:p>
        </p:txBody>
      </p:sp>
      <p:sp>
        <p:nvSpPr>
          <p:cNvPr id="7" name="no-app-prompt">
            <a:extLst xmlns:a="http://schemas.openxmlformats.org/drawingml/2006/main">
              <a:ext uri="{FF2B5EF4-FFF2-40B4-BE49-F238E27FC236}">
                <a16:creationId xmlns:a16="http://schemas.microsoft.com/office/drawing/2014/main" id="{8B742291-4299-4A82-BFE6-F1EC2C6ED080}"/>
              </a:ext>
            </a:extLst>
          </p:cNvPr>
          <p:cNvSpPr>
            <a:spLocks xmlns:a="http://schemas.openxmlformats.org/drawingml/2006/main" noGrp="1"/>
          </p:cNvSpPr>
          <p:nvPr/>
        </p:nvSpPr>
        <p:spPr>
          <a:xfrm xmlns:a="http://schemas.openxmlformats.org/drawingml/2006/main">
            <a:off x="590550" y="3333750"/>
            <a:ext cx="542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2100" b="0" i="1">
                <a:solidFill>
                  <a:srgbClr val="DCECE5"/>
                </a:solidFill>
                <a:latin typeface="Arial"/>
                <a:ea typeface="Arial"/>
                <a:cs typeface="Arial"/>
              </a:defRPr>
            </a:pPr>
            <a:r>
              <a:rPr sz="2100" b="0" i="1">
                <a:solidFill>
                  <a:srgbClr val="DCECE5"/>
                </a:solidFill>
                <a:latin typeface="Arial"/>
                <a:ea typeface="Arial"/>
                <a:cs typeface="Arial"/>
              </a:rPr>
              <a:t>“I need a complete rainy-weekend camping kit for two…”</a:t>
            </a:r>
          </a:p>
        </p:txBody>
      </p:sp>
      <p:sp>
        <p:nvSpPr>
          <p:cNvPr id="8" name="no-app-route">
            <a:extLst xmlns:a="http://schemas.openxmlformats.org/drawingml/2006/main">
              <a:ext uri="{FF2B5EF4-FFF2-40B4-BE49-F238E27FC236}">
                <a16:creationId xmlns:a16="http://schemas.microsoft.com/office/drawing/2014/main" id="{D5C0EE89-3B68-4724-BE93-915A7C7F6BE0}"/>
              </a:ext>
            </a:extLst>
          </p:cNvPr>
          <p:cNvSpPr>
            <a:spLocks xmlns:a="http://schemas.openxmlformats.org/drawingml/2006/main" noGrp="1"/>
          </p:cNvSpPr>
          <p:nvPr/>
        </p:nvSpPr>
        <p:spPr>
          <a:xfrm xmlns:a="http://schemas.openxmlformats.org/drawingml/2006/main">
            <a:off x="609600" y="4572000"/>
            <a:ext cx="1428750"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9" name="no-app-copy">
            <a:extLst xmlns:a="http://schemas.openxmlformats.org/drawingml/2006/main">
              <a:ext uri="{FF2B5EF4-FFF2-40B4-BE49-F238E27FC236}">
                <a16:creationId xmlns:a16="http://schemas.microsoft.com/office/drawing/2014/main" id="{081D2443-B57D-4052-B48E-167CC31F94FC}"/>
              </a:ext>
            </a:extLst>
          </p:cNvPr>
          <p:cNvSpPr>
            <a:spLocks xmlns:a="http://schemas.openxmlformats.org/drawingml/2006/main" noGrp="1"/>
          </p:cNvSpPr>
          <p:nvPr/>
        </p:nvSpPr>
        <p:spPr>
          <a:xfrm xmlns:a="http://schemas.openxmlformats.org/drawingml/2006/main">
            <a:off x="590550" y="4991100"/>
            <a:ext cx="5524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785"/>
          </a:bodyPr>
          <a:lstStyle xmlns:a="http://schemas.openxmlformats.org/drawingml/2006/main"/>
          <a:p xmlns:a="http://schemas.openxmlformats.org/drawingml/2006/main">
            <a:pPr algn="l">
              <a:lnSpc>
                <a:spcPct val="112000"/>
              </a:lnSpc>
              <a:buNone/>
              <a:defRPr sz="2175" b="1" i="0">
                <a:solidFill>
                  <a:srgbClr val="FCFAF5"/>
                </a:solidFill>
                <a:latin typeface="Arial"/>
                <a:ea typeface="Arial"/>
                <a:cs typeface="Arial"/>
              </a:defRPr>
            </a:pPr>
            <a:r>
              <a:rPr sz="2175" b="1" i="0">
                <a:solidFill>
                  <a:srgbClr val="FCFAF5"/>
                </a:solidFill>
                <a:latin typeface="Arial"/>
                <a:ea typeface="Arial"/>
                <a:cs typeface="Arial"/>
              </a:rPr>
              <a:t>The request already lives in the conversation.</a:t>
            </a:r>
          </a:p>
          <a:p xmlns:a="http://schemas.openxmlformats.org/drawingml/2006/main">
            <a:pPr algn="l">
              <a:lnSpc>
                <a:spcPct val="112000"/>
              </a:lnSpc>
              <a:buNone/>
              <a:defRPr sz="2175" b="1" i="0">
                <a:solidFill>
                  <a:srgbClr val="FCFAF5"/>
                </a:solidFill>
                <a:latin typeface="Arial"/>
                <a:ea typeface="Arial"/>
                <a:cs typeface="Arial"/>
              </a:defRPr>
            </a:pPr>
            <a:r>
              <a:rPr sz="2175" b="1" i="0">
                <a:solidFill>
                  <a:srgbClr val="FCFAF5"/>
                </a:solidFill>
                <a:latin typeface="Arial"/>
                <a:ea typeface="Arial"/>
                <a:cs typeface="Arial"/>
              </a:rPr>
              <a:t>The checkout should finish there too.</a:t>
            </a:r>
          </a:p>
        </p:txBody>
      </p:sp>
    </p:spTree>
    <p:extLst>
      <p:ext uri="{BB962C8B-B14F-4D97-AF65-F5344CB8AC3E}">
        <p14:creationId xmlns:p14="http://schemas.microsoft.com/office/powerpoint/2010/main" val="396361355"/>
      </p:ext>
    </p:extLst>
  </p:cSld>
</p:sld>
</file>

<file path=ppt/slides/slide6.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7" name="brand-6">
            <a:extLst xmlns:a="http://schemas.openxmlformats.org/drawingml/2006/main">
              <a:ext uri="{FF2B5EF4-FFF2-40B4-BE49-F238E27FC236}">
                <a16:creationId xmlns:a16="http://schemas.microsoft.com/office/drawing/2014/main" id="{39692806-DCFB-4FFB-95B9-0C927EFA45C1}"/>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0E4B3B"/>
                </a:solidFill>
                <a:latin typeface="Arial"/>
                <a:ea typeface="Arial"/>
                <a:cs typeface="Arial"/>
              </a:defRPr>
            </a:pPr>
            <a:r>
              <a:rPr sz="1125" b="1" i="0">
                <a:solidFill>
                  <a:srgbClr val="0E4B3B"/>
                </a:solidFill>
                <a:latin typeface="Arial"/>
                <a:ea typeface="Arial"/>
                <a:cs typeface="Arial"/>
              </a:rPr>
              <a:t>WOVEN</a:t>
            </a:r>
          </a:p>
        </p:txBody>
      </p:sp>
      <p:sp>
        <p:nvSpPr>
          <p:cNvPr id="2" name="brand-origin-6">
            <a:extLst xmlns:a="http://schemas.openxmlformats.org/drawingml/2006/main">
              <a:ext uri="{FF2B5EF4-FFF2-40B4-BE49-F238E27FC236}">
                <a16:creationId xmlns:a16="http://schemas.microsoft.com/office/drawing/2014/main" id="{5587A532-D35C-4FBB-82F5-264CAAAD9485}"/>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3" name="page-6">
            <a:extLst xmlns:a="http://schemas.openxmlformats.org/drawingml/2006/main">
              <a:ext uri="{FF2B5EF4-FFF2-40B4-BE49-F238E27FC236}">
                <a16:creationId xmlns:a16="http://schemas.microsoft.com/office/drawing/2014/main" id="{C7539837-52B8-45C5-97C8-D44DBF0C1351}"/>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6D7974"/>
                </a:solidFill>
                <a:latin typeface="Arial"/>
                <a:ea typeface="Arial"/>
                <a:cs typeface="Arial"/>
              </a:defRPr>
            </a:pPr>
            <a:r>
              <a:rPr sz="900" b="0" i="0">
                <a:solidFill>
                  <a:srgbClr val="6D7974"/>
                </a:solidFill>
                <a:latin typeface="Arial"/>
                <a:ea typeface="Arial"/>
                <a:cs typeface="Arial"/>
              </a:rPr>
              <a:t>06 / 10</a:t>
            </a:r>
          </a:p>
        </p:txBody>
      </p:sp>
      <p:sp>
        <p:nvSpPr>
          <p:cNvPr id="4" name="buyer-title">
            <a:extLst xmlns:a="http://schemas.openxmlformats.org/drawingml/2006/main">
              <a:ext uri="{FF2B5EF4-FFF2-40B4-BE49-F238E27FC236}">
                <a16:creationId xmlns:a16="http://schemas.microsoft.com/office/drawing/2014/main" id="{95E702AE-126B-4B87-BA23-7F394422B809}"/>
              </a:ext>
            </a:extLst>
          </p:cNvPr>
          <p:cNvSpPr>
            <a:spLocks xmlns:a="http://schemas.openxmlformats.org/drawingml/2006/main" noGrp="1"/>
          </p:cNvSpPr>
          <p:nvPr/>
        </p:nvSpPr>
        <p:spPr>
          <a:xfrm xmlns:a="http://schemas.openxmlformats.org/drawingml/2006/main">
            <a:off x="590550" y="7810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375" b="1" i="0">
                <a:solidFill>
                  <a:srgbClr val="0E4B3B"/>
                </a:solidFill>
                <a:latin typeface="Arial"/>
                <a:ea typeface="Arial"/>
                <a:cs typeface="Arial"/>
              </a:defRPr>
            </a:pPr>
            <a:r>
              <a:rPr sz="3375" b="1" i="0">
                <a:solidFill>
                  <a:srgbClr val="0E4B3B"/>
                </a:solidFill>
                <a:latin typeface="Arial"/>
                <a:ea typeface="Arial"/>
                <a:cs typeface="Arial"/>
              </a:rPr>
              <a:t>Woven turns the same request into complete carts.</a:t>
            </a:r>
          </a:p>
        </p:txBody>
      </p:sp>
      <p:sp>
        <p:nvSpPr>
          <p:cNvPr id="5" name="buyer-kicker">
            <a:extLst xmlns:a="http://schemas.openxmlformats.org/drawingml/2006/main">
              <a:ext uri="{FF2B5EF4-FFF2-40B4-BE49-F238E27FC236}">
                <a16:creationId xmlns:a16="http://schemas.microsoft.com/office/drawing/2014/main" id="{6C277D2B-4493-445A-9449-500472F02632}"/>
              </a:ext>
            </a:extLst>
          </p:cNvPr>
          <p:cNvSpPr>
            <a:spLocks xmlns:a="http://schemas.openxmlformats.org/drawingml/2006/main" noGrp="1"/>
          </p:cNvSpPr>
          <p:nvPr/>
        </p:nvSpPr>
        <p:spPr>
          <a:xfrm xmlns:a="http://schemas.openxmlformats.org/drawingml/2006/main">
            <a:off x="609600" y="1847850"/>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1" i="0">
                <a:solidFill>
                  <a:srgbClr val="B64032"/>
                </a:solidFill>
                <a:latin typeface="Arial"/>
                <a:ea typeface="Arial"/>
                <a:cs typeface="Arial"/>
              </a:defRPr>
            </a:pPr>
            <a:r>
              <a:rPr sz="975" b="1" i="0">
                <a:solidFill>
                  <a:srgbClr val="B64032"/>
                </a:solidFill>
                <a:latin typeface="Arial"/>
                <a:ea typeface="Arial"/>
                <a:cs typeface="Arial"/>
              </a:rPr>
              <a:t>THE TRAILHAUS BEST MATCH</a:t>
            </a:r>
          </a:p>
        </p:txBody>
      </p:sp>
      <p:sp>
        <p:nvSpPr>
          <p:cNvPr id="6" name="buyer-value-0">
            <a:extLst xmlns:a="http://schemas.openxmlformats.org/drawingml/2006/main">
              <a:ext uri="{FF2B5EF4-FFF2-40B4-BE49-F238E27FC236}">
                <a16:creationId xmlns:a16="http://schemas.microsoft.com/office/drawing/2014/main" id="{32C4959B-E543-4C8E-98D4-FAE3925ADD32}"/>
              </a:ext>
            </a:extLst>
          </p:cNvPr>
          <p:cNvSpPr>
            <a:spLocks xmlns:a="http://schemas.openxmlformats.org/drawingml/2006/main" noGrp="1"/>
          </p:cNvSpPr>
          <p:nvPr/>
        </p:nvSpPr>
        <p:spPr>
          <a:xfrm xmlns:a="http://schemas.openxmlformats.org/drawingml/2006/main">
            <a:off x="609600" y="2305050"/>
            <a:ext cx="1123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325" b="1" i="0">
                <a:solidFill>
                  <a:srgbClr val="0E4B3B"/>
                </a:solidFill>
                <a:latin typeface="Arial"/>
                <a:ea typeface="Arial"/>
                <a:cs typeface="Arial"/>
              </a:defRPr>
            </a:pPr>
            <a:r>
              <a:rPr sz="2325" b="1" i="0">
                <a:solidFill>
                  <a:srgbClr val="0E4B3B"/>
                </a:solidFill>
                <a:latin typeface="Arial"/>
                <a:ea typeface="Arial"/>
                <a:cs typeface="Arial"/>
              </a:rPr>
              <a:t>5</a:t>
            </a:r>
          </a:p>
        </p:txBody>
      </p:sp>
      <p:sp>
        <p:nvSpPr>
          <p:cNvPr id="7" name="buyer-label-0">
            <a:extLst xmlns:a="http://schemas.openxmlformats.org/drawingml/2006/main">
              <a:ext uri="{FF2B5EF4-FFF2-40B4-BE49-F238E27FC236}">
                <a16:creationId xmlns:a16="http://schemas.microsoft.com/office/drawing/2014/main" id="{417CA6FA-136E-43B7-9AD0-5D1C583BECB2}"/>
              </a:ext>
            </a:extLst>
          </p:cNvPr>
          <p:cNvSpPr>
            <a:spLocks xmlns:a="http://schemas.openxmlformats.org/drawingml/2006/main" noGrp="1"/>
          </p:cNvSpPr>
          <p:nvPr/>
        </p:nvSpPr>
        <p:spPr>
          <a:xfrm xmlns:a="http://schemas.openxmlformats.org/drawingml/2006/main">
            <a:off x="1657350" y="23431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75" b="0" i="0">
                <a:solidFill>
                  <a:srgbClr val="0A0A0A"/>
                </a:solidFill>
                <a:latin typeface="Arial"/>
                <a:ea typeface="Arial"/>
                <a:cs typeface="Arial"/>
              </a:defRPr>
            </a:pPr>
            <a:r>
              <a:rPr sz="1575" b="0" i="0">
                <a:solidFill>
                  <a:srgbClr val="0A0A0A"/>
                </a:solidFill>
                <a:latin typeface="Arial"/>
                <a:ea typeface="Arial"/>
                <a:cs typeface="Arial"/>
              </a:rPr>
              <a:t>complete one-merchant carts</a:t>
            </a:r>
          </a:p>
        </p:txBody>
      </p:sp>
      <p:sp>
        <p:nvSpPr>
          <p:cNvPr id="8" name="buyer-value-1">
            <a:extLst xmlns:a="http://schemas.openxmlformats.org/drawingml/2006/main">
              <a:ext uri="{FF2B5EF4-FFF2-40B4-BE49-F238E27FC236}">
                <a16:creationId xmlns:a16="http://schemas.microsoft.com/office/drawing/2014/main" id="{9A07F970-E901-47B0-8977-4D41BB5AA56E}"/>
              </a:ext>
            </a:extLst>
          </p:cNvPr>
          <p:cNvSpPr>
            <a:spLocks xmlns:a="http://schemas.openxmlformats.org/drawingml/2006/main" noGrp="1"/>
          </p:cNvSpPr>
          <p:nvPr/>
        </p:nvSpPr>
        <p:spPr>
          <a:xfrm xmlns:a="http://schemas.openxmlformats.org/drawingml/2006/main">
            <a:off x="609600" y="3105150"/>
            <a:ext cx="1123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325" b="1" i="0">
                <a:solidFill>
                  <a:srgbClr val="0E4B3B"/>
                </a:solidFill>
                <a:latin typeface="Arial"/>
                <a:ea typeface="Arial"/>
                <a:cs typeface="Arial"/>
              </a:defRPr>
            </a:pPr>
            <a:r>
              <a:rPr sz="2325" b="1" i="0">
                <a:solidFill>
                  <a:srgbClr val="0E4B3B"/>
                </a:solidFill>
                <a:latin typeface="Arial"/>
                <a:ea typeface="Arial"/>
                <a:cs typeface="Arial"/>
              </a:rPr>
              <a:t>7</a:t>
            </a:r>
          </a:p>
        </p:txBody>
      </p:sp>
      <p:sp>
        <p:nvSpPr>
          <p:cNvPr id="9" name="buyer-label-1">
            <a:extLst xmlns:a="http://schemas.openxmlformats.org/drawingml/2006/main">
              <a:ext uri="{FF2B5EF4-FFF2-40B4-BE49-F238E27FC236}">
                <a16:creationId xmlns:a16="http://schemas.microsoft.com/office/drawing/2014/main" id="{B27C5A50-8D72-4F3A-86FA-0A2D950D608D}"/>
              </a:ext>
            </a:extLst>
          </p:cNvPr>
          <p:cNvSpPr>
            <a:spLocks xmlns:a="http://schemas.openxmlformats.org/drawingml/2006/main" noGrp="1"/>
          </p:cNvSpPr>
          <p:nvPr/>
        </p:nvSpPr>
        <p:spPr>
          <a:xfrm xmlns:a="http://schemas.openxmlformats.org/drawingml/2006/main">
            <a:off x="1657350" y="31432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931"/>
          </a:bodyPr>
          <a:lstStyle xmlns:a="http://schemas.openxmlformats.org/drawingml/2006/main"/>
          <a:p xmlns:a="http://schemas.openxmlformats.org/drawingml/2006/main">
            <a:pPr algn="l">
              <a:lnSpc>
                <a:spcPct val="100000"/>
              </a:lnSpc>
              <a:buNone/>
              <a:defRPr sz="1575" b="0" i="0">
                <a:solidFill>
                  <a:srgbClr val="0A0A0A"/>
                </a:solidFill>
                <a:latin typeface="Arial"/>
                <a:ea typeface="Arial"/>
                <a:cs typeface="Arial"/>
              </a:defRPr>
            </a:pPr>
            <a:r>
              <a:rPr sz="1575" b="0" i="0">
                <a:solidFill>
                  <a:srgbClr val="0A0A0A"/>
                </a:solidFill>
                <a:latin typeface="Arial"/>
                <a:ea typeface="Arial"/>
                <a:cs typeface="Arial"/>
              </a:rPr>
              <a:t>required units across 5 categories</a:t>
            </a:r>
          </a:p>
        </p:txBody>
      </p:sp>
      <p:sp>
        <p:nvSpPr>
          <p:cNvPr id="10" name="buyer-value-2">
            <a:extLst xmlns:a="http://schemas.openxmlformats.org/drawingml/2006/main">
              <a:ext uri="{FF2B5EF4-FFF2-40B4-BE49-F238E27FC236}">
                <a16:creationId xmlns:a16="http://schemas.microsoft.com/office/drawing/2014/main" id="{36F0C9C5-3791-4E63-BC3F-25CBA5195DFC}"/>
              </a:ext>
            </a:extLst>
          </p:cNvPr>
          <p:cNvSpPr>
            <a:spLocks xmlns:a="http://schemas.openxmlformats.org/drawingml/2006/main" noGrp="1"/>
          </p:cNvSpPr>
          <p:nvPr/>
        </p:nvSpPr>
        <p:spPr>
          <a:xfrm xmlns:a="http://schemas.openxmlformats.org/drawingml/2006/main">
            <a:off x="609600" y="3905250"/>
            <a:ext cx="1123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325" b="1" i="0">
                <a:solidFill>
                  <a:srgbClr val="0E4B3B"/>
                </a:solidFill>
                <a:latin typeface="Arial"/>
                <a:ea typeface="Arial"/>
                <a:cs typeface="Arial"/>
              </a:defRPr>
            </a:pPr>
            <a:r>
              <a:rPr sz="2325" b="1" i="0">
                <a:solidFill>
                  <a:srgbClr val="0E4B3B"/>
                </a:solidFill>
                <a:latin typeface="Arial"/>
                <a:ea typeface="Arial"/>
                <a:cs typeface="Arial"/>
              </a:rPr>
              <a:t>89 L</a:t>
            </a:r>
          </a:p>
        </p:txBody>
      </p:sp>
      <p:sp>
        <p:nvSpPr>
          <p:cNvPr id="11" name="buyer-label-2">
            <a:extLst xmlns:a="http://schemas.openxmlformats.org/drawingml/2006/main">
              <a:ext uri="{FF2B5EF4-FFF2-40B4-BE49-F238E27FC236}">
                <a16:creationId xmlns:a16="http://schemas.microsoft.com/office/drawing/2014/main" id="{E448F92A-F372-4EB8-BDAB-FB9426C699DE}"/>
              </a:ext>
            </a:extLst>
          </p:cNvPr>
          <p:cNvSpPr>
            <a:spLocks xmlns:a="http://schemas.openxmlformats.org/drawingml/2006/main" noGrp="1"/>
          </p:cNvSpPr>
          <p:nvPr/>
        </p:nvSpPr>
        <p:spPr>
          <a:xfrm xmlns:a="http://schemas.openxmlformats.org/drawingml/2006/main">
            <a:off x="1657350" y="39433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75" b="0" i="0">
                <a:solidFill>
                  <a:srgbClr val="0A0A0A"/>
                </a:solidFill>
                <a:latin typeface="Arial"/>
                <a:ea typeface="Arial"/>
                <a:cs typeface="Arial"/>
              </a:defRPr>
            </a:pPr>
            <a:r>
              <a:rPr sz="1575" b="0" i="0">
                <a:solidFill>
                  <a:srgbClr val="0A0A0A"/>
                </a:solidFill>
                <a:latin typeface="Arial"/>
                <a:ea typeface="Arial"/>
                <a:cs typeface="Arial"/>
              </a:rPr>
              <a:t>inside the 120 L car-boot limit</a:t>
            </a:r>
          </a:p>
        </p:txBody>
      </p:sp>
      <p:sp>
        <p:nvSpPr>
          <p:cNvPr id="12" name="buyer-value-3">
            <a:extLst xmlns:a="http://schemas.openxmlformats.org/drawingml/2006/main">
              <a:ext uri="{FF2B5EF4-FFF2-40B4-BE49-F238E27FC236}">
                <a16:creationId xmlns:a16="http://schemas.microsoft.com/office/drawing/2014/main" id="{D13C8C35-37F6-4093-99E8-A7AA12FD5D19}"/>
              </a:ext>
            </a:extLst>
          </p:cNvPr>
          <p:cNvSpPr>
            <a:spLocks xmlns:a="http://schemas.openxmlformats.org/drawingml/2006/main" noGrp="1"/>
          </p:cNvSpPr>
          <p:nvPr/>
        </p:nvSpPr>
        <p:spPr>
          <a:xfrm xmlns:a="http://schemas.openxmlformats.org/drawingml/2006/main">
            <a:off x="609600" y="4705350"/>
            <a:ext cx="1123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325" b="1" i="0">
                <a:solidFill>
                  <a:srgbClr val="0E4B3B"/>
                </a:solidFill>
                <a:latin typeface="Arial"/>
                <a:ea typeface="Arial"/>
                <a:cs typeface="Arial"/>
              </a:defRPr>
            </a:pPr>
            <a:r>
              <a:rPr sz="2325" b="1" i="0">
                <a:solidFill>
                  <a:srgbClr val="0E4B3B"/>
                </a:solidFill>
                <a:latin typeface="Arial"/>
                <a:ea typeface="Arial"/>
                <a:cs typeface="Arial"/>
              </a:rPr>
              <a:t>S$231</a:t>
            </a:r>
          </a:p>
        </p:txBody>
      </p:sp>
      <p:sp>
        <p:nvSpPr>
          <p:cNvPr id="13" name="buyer-label-3">
            <a:extLst xmlns:a="http://schemas.openxmlformats.org/drawingml/2006/main">
              <a:ext uri="{FF2B5EF4-FFF2-40B4-BE49-F238E27FC236}">
                <a16:creationId xmlns:a16="http://schemas.microsoft.com/office/drawing/2014/main" id="{7D555970-C32E-4153-A788-75306E696A9A}"/>
              </a:ext>
            </a:extLst>
          </p:cNvPr>
          <p:cNvSpPr>
            <a:spLocks xmlns:a="http://schemas.openxmlformats.org/drawingml/2006/main" noGrp="1"/>
          </p:cNvSpPr>
          <p:nvPr/>
        </p:nvSpPr>
        <p:spPr>
          <a:xfrm xmlns:a="http://schemas.openxmlformats.org/drawingml/2006/main">
            <a:off x="1657350" y="47434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75" b="0" i="0">
                <a:solidFill>
                  <a:srgbClr val="0A0A0A"/>
                </a:solidFill>
                <a:latin typeface="Arial"/>
                <a:ea typeface="Arial"/>
                <a:cs typeface="Arial"/>
              </a:defRPr>
            </a:pPr>
            <a:r>
              <a:rPr sz="1575" b="0" i="0">
                <a:solidFill>
                  <a:srgbClr val="0A0A0A"/>
                </a:solidFill>
                <a:latin typeface="Arial"/>
                <a:ea typeface="Arial"/>
                <a:cs typeface="Arial"/>
              </a:rPr>
              <a:t>inside the S$300 hard budget</a:t>
            </a:r>
          </a:p>
        </p:txBody>
      </p:sp>
      <p:sp>
        <p:nvSpPr>
          <p:cNvPr id="14" name="buyer-shot-frame">
            <a:extLst xmlns:a="http://schemas.openxmlformats.org/drawingml/2006/main">
              <a:ext uri="{FF2B5EF4-FFF2-40B4-BE49-F238E27FC236}">
                <a16:creationId xmlns:a16="http://schemas.microsoft.com/office/drawing/2014/main" id="{D0EE6C11-B037-4091-820A-69ED658E34D4}"/>
              </a:ext>
            </a:extLst>
          </p:cNvPr>
          <p:cNvSpPr>
            <a:spLocks xmlns:a="http://schemas.openxmlformats.org/drawingml/2006/main" noGrp="1"/>
          </p:cNvSpPr>
          <p:nvPr/>
        </p:nvSpPr>
        <p:spPr>
          <a:xfrm xmlns:a="http://schemas.openxmlformats.org/drawingml/2006/main">
            <a:off x="4876800" y="1657350"/>
            <a:ext cx="6724650" cy="4762500"/>
          </a:xfrm>
          <a:prstGeom xmlns:a="http://schemas.openxmlformats.org/drawingml/2006/main" prst="rect">
            <a:avLst/>
          </a:prstGeom>
          <a:solidFill xmlns:a="http://schemas.openxmlformats.org/drawingml/2006/main">
            <a:srgbClr val="FCFAF5"/>
          </a:solidFill>
          <a:ln xmlns:a="http://schemas.openxmlformats.org/drawingml/2006/main" w="9525">
            <a:solidFill>
              <a:srgbClr val="DCECE5"/>
            </a:solidFill>
            <a:prstDash val="solid"/>
          </a:ln>
        </p:spPr>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b9d98ea712bb4098"/>
          <a:stretch xmlns:a="http://schemas.openxmlformats.org/drawingml/2006/main"/>
        </p:blipFill>
        <p:spPr>
          <a:xfrm xmlns:a="http://schemas.openxmlformats.org/drawingml/2006/main" flipH="0" flipV="0">
            <a:off x="5060014" y="1790700"/>
            <a:ext cx="6358222" cy="4495800"/>
          </a:xfrm>
          <a:prstGeom xmlns:a="http://schemas.openxmlformats.org/drawingml/2006/main" prst="rect">
            <a:avLst/>
          </a:prstGeom>
        </p:spPr>
      </p:pic>
      <p:sp>
        <p:nvSpPr>
          <p:cNvPr id="16" name="buyer-boundary">
            <a:extLst xmlns:a="http://schemas.openxmlformats.org/drawingml/2006/main">
              <a:ext uri="{FF2B5EF4-FFF2-40B4-BE49-F238E27FC236}">
                <a16:creationId xmlns:a16="http://schemas.microsoft.com/office/drawing/2014/main" id="{1F39227D-962A-46FA-A6C9-DB44605EC962}"/>
              </a:ext>
            </a:extLst>
          </p:cNvPr>
          <p:cNvSpPr>
            <a:spLocks xmlns:a="http://schemas.openxmlformats.org/drawingml/2006/main" noGrp="1"/>
          </p:cNvSpPr>
          <p:nvPr/>
        </p:nvSpPr>
        <p:spPr>
          <a:xfrm xmlns:a="http://schemas.openxmlformats.org/drawingml/2006/main">
            <a:off x="609600" y="59817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i="0">
                <a:solidFill>
                  <a:srgbClr val="B64032"/>
                </a:solidFill>
                <a:latin typeface="Arial"/>
                <a:ea typeface="Arial"/>
                <a:cs typeface="Arial"/>
              </a:defRPr>
            </a:pPr>
            <a:r>
              <a:rPr sz="900" b="1" i="0">
                <a:solidFill>
                  <a:srgbClr val="B64032"/>
                </a:solidFill>
                <a:latin typeface="Arial"/>
                <a:ea typeface="Arial"/>
                <a:cs typeface="Arial"/>
              </a:rPr>
              <a:t>SEEDED DEMO INVENTORY</a:t>
            </a:r>
          </a:p>
        </p:txBody>
      </p:sp>
    </p:spTree>
    <p:extLst>
      <p:ext uri="{BB962C8B-B14F-4D97-AF65-F5344CB8AC3E}">
        <p14:creationId xmlns:p14="http://schemas.microsoft.com/office/powerpoint/2010/main" val="913153569"/>
      </p:ext>
    </p:extLst>
  </p:cSld>
</p:sld>
</file>

<file path=ppt/slides/slide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34" name="brand-7">
            <a:extLst xmlns:a="http://schemas.openxmlformats.org/drawingml/2006/main">
              <a:ext uri="{FF2B5EF4-FFF2-40B4-BE49-F238E27FC236}">
                <a16:creationId xmlns:a16="http://schemas.microsoft.com/office/drawing/2014/main" id="{3769BBE9-9335-46CB-842A-8D835D1DE99F}"/>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FCFAF5"/>
                </a:solidFill>
                <a:latin typeface="Arial"/>
                <a:ea typeface="Arial"/>
                <a:cs typeface="Arial"/>
              </a:defRPr>
            </a:pPr>
            <a:r>
              <a:rPr sz="1125" b="1" i="0">
                <a:solidFill>
                  <a:srgbClr val="FCFAF5"/>
                </a:solidFill>
                <a:latin typeface="Arial"/>
                <a:ea typeface="Arial"/>
                <a:cs typeface="Arial"/>
              </a:rPr>
              <a:t>WOVEN</a:t>
            </a:r>
          </a:p>
        </p:txBody>
      </p:sp>
      <p:sp>
        <p:nvSpPr>
          <p:cNvPr id="2" name="brand-origin-7">
            <a:extLst xmlns:a="http://schemas.openxmlformats.org/drawingml/2006/main">
              <a:ext uri="{FF2B5EF4-FFF2-40B4-BE49-F238E27FC236}">
                <a16:creationId xmlns:a16="http://schemas.microsoft.com/office/drawing/2014/main" id="{AC50958A-E2D5-49A8-89F6-C07CF186AA53}"/>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3" name="page-7">
            <a:extLst xmlns:a="http://schemas.openxmlformats.org/drawingml/2006/main">
              <a:ext uri="{FF2B5EF4-FFF2-40B4-BE49-F238E27FC236}">
                <a16:creationId xmlns:a16="http://schemas.microsoft.com/office/drawing/2014/main" id="{E278A51D-528C-4F20-88A8-23454322F96E}"/>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DCECE5"/>
                </a:solidFill>
                <a:latin typeface="Arial"/>
                <a:ea typeface="Arial"/>
                <a:cs typeface="Arial"/>
              </a:defRPr>
            </a:pPr>
            <a:r>
              <a:rPr sz="900" b="0" i="0">
                <a:solidFill>
                  <a:srgbClr val="DCECE5"/>
                </a:solidFill>
                <a:latin typeface="Arial"/>
                <a:ea typeface="Arial"/>
                <a:cs typeface="Arial"/>
              </a:rPr>
              <a:t>07 / 10</a:t>
            </a:r>
          </a:p>
        </p:txBody>
      </p:sp>
      <p:sp>
        <p:nvSpPr>
          <p:cNvPr id="4" name="flow-title">
            <a:extLst xmlns:a="http://schemas.openxmlformats.org/drawingml/2006/main">
              <a:ext uri="{FF2B5EF4-FFF2-40B4-BE49-F238E27FC236}">
                <a16:creationId xmlns:a16="http://schemas.microsoft.com/office/drawing/2014/main" id="{07EEA873-1E73-4A84-9DA6-278A3A2E216D}"/>
              </a:ext>
            </a:extLst>
          </p:cNvPr>
          <p:cNvSpPr>
            <a:spLocks xmlns:a="http://schemas.openxmlformats.org/drawingml/2006/main" noGrp="1"/>
          </p:cNvSpPr>
          <p:nvPr/>
        </p:nvSpPr>
        <p:spPr>
          <a:xfrm xmlns:a="http://schemas.openxmlformats.org/drawingml/2006/main">
            <a:off x="590550" y="895350"/>
            <a:ext cx="1028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150" b="1" i="0">
                <a:solidFill>
                  <a:srgbClr val="FCFAF5"/>
                </a:solidFill>
                <a:latin typeface="Arial"/>
                <a:ea typeface="Arial"/>
                <a:cs typeface="Arial"/>
              </a:defRPr>
            </a:pPr>
            <a:r>
              <a:rPr sz="3150" b="1" i="0">
                <a:solidFill>
                  <a:srgbClr val="FCFAF5"/>
                </a:solidFill>
                <a:latin typeface="Arial"/>
                <a:ea typeface="Arial"/>
                <a:cs typeface="Arial"/>
              </a:rPr>
              <a:t>One request moves through six controlled steps.</a:t>
            </a:r>
          </a:p>
        </p:txBody>
      </p:sp>
      <p:sp>
        <p:nvSpPr>
          <p:cNvPr id="5" name="flow-subtitle">
            <a:extLst xmlns:a="http://schemas.openxmlformats.org/drawingml/2006/main">
              <a:ext uri="{FF2B5EF4-FFF2-40B4-BE49-F238E27FC236}">
                <a16:creationId xmlns:a16="http://schemas.microsoft.com/office/drawing/2014/main" id="{7FCDBCAA-A935-4187-A8A0-7FF680AFFFDF}"/>
              </a:ext>
            </a:extLst>
          </p:cNvPr>
          <p:cNvSpPr>
            <a:spLocks xmlns:a="http://schemas.openxmlformats.org/drawingml/2006/main" noGrp="1"/>
          </p:cNvSpPr>
          <p:nvPr/>
        </p:nvSpPr>
        <p:spPr>
          <a:xfrm xmlns:a="http://schemas.openxmlformats.org/drawingml/2006/main">
            <a:off x="590550" y="160020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0" i="0">
                <a:solidFill>
                  <a:srgbClr val="DCECE5"/>
                </a:solidFill>
                <a:latin typeface="Arial"/>
                <a:ea typeface="Arial"/>
                <a:cs typeface="Arial"/>
              </a:defRPr>
            </a:pPr>
            <a:r>
              <a:rPr sz="1650" b="0" i="0">
                <a:solidFill>
                  <a:srgbClr val="DCECE5"/>
                </a:solidFill>
                <a:latin typeface="Arial"/>
                <a:ea typeface="Arial"/>
                <a:cs typeface="Arial"/>
              </a:rPr>
              <a:t>The model helps. The user controls the last mile.</a:t>
            </a:r>
          </a:p>
        </p:txBody>
      </p:sp>
      <p:sp>
        <p:nvSpPr>
          <p:cNvPr id="6" name="flow-route">
            <a:extLst xmlns:a="http://schemas.openxmlformats.org/drawingml/2006/main">
              <a:ext uri="{FF2B5EF4-FFF2-40B4-BE49-F238E27FC236}">
                <a16:creationId xmlns:a16="http://schemas.microsoft.com/office/drawing/2014/main" id="{021F746F-974D-486E-8D65-29C90D76BA53}"/>
              </a:ext>
            </a:extLst>
          </p:cNvPr>
          <p:cNvSpPr>
            <a:spLocks xmlns:a="http://schemas.openxmlformats.org/drawingml/2006/main" noGrp="1"/>
          </p:cNvSpPr>
          <p:nvPr/>
        </p:nvSpPr>
        <p:spPr>
          <a:xfrm xmlns:a="http://schemas.openxmlformats.org/drawingml/2006/main">
            <a:off x="809625" y="2724150"/>
            <a:ext cx="10477500" cy="38100"/>
          </a:xfrm>
          <a:prstGeom xmlns:a="http://schemas.openxmlformats.org/drawingml/2006/main" prst="rect">
            <a:avLst/>
          </a:prstGeom>
          <a:solidFill xmlns:a="http://schemas.openxmlformats.org/drawingml/2006/main">
            <a:srgbClr val="6D7974"/>
          </a:solidFill>
          <a:ln xmlns:a="http://schemas.openxmlformats.org/drawingml/2006/main" w="0">
            <a:solidFill>
              <a:srgbClr val="6D7974"/>
            </a:solidFill>
            <a:prstDash val="solid"/>
          </a:ln>
        </p:spPr>
      </p:sp>
      <p:sp>
        <p:nvSpPr>
          <p:cNvPr id="7" name="flow-marker-0">
            <a:extLst xmlns:a="http://schemas.openxmlformats.org/drawingml/2006/main">
              <a:ext uri="{FF2B5EF4-FFF2-40B4-BE49-F238E27FC236}">
                <a16:creationId xmlns:a16="http://schemas.microsoft.com/office/drawing/2014/main" id="{6D5F04E6-362A-47D4-8D99-DCE958370F49}"/>
              </a:ext>
            </a:extLst>
          </p:cNvPr>
          <p:cNvSpPr>
            <a:spLocks xmlns:a="http://schemas.openxmlformats.org/drawingml/2006/main" noGrp="1"/>
          </p:cNvSpPr>
          <p:nvPr/>
        </p:nvSpPr>
        <p:spPr>
          <a:xfrm xmlns:a="http://schemas.openxmlformats.org/drawingml/2006/main">
            <a:off x="781050" y="2552700"/>
            <a:ext cx="381000" cy="381000"/>
          </a:xfrm>
          <a:prstGeom xmlns:a="http://schemas.openxmlformats.org/drawingml/2006/main" prst="rect">
            <a:avLst/>
          </a:prstGeom>
          <a:solidFill xmlns:a="http://schemas.openxmlformats.org/drawingml/2006/main">
            <a:srgbClr val="0E4B3B"/>
          </a:solidFill>
          <a:ln xmlns:a="http://schemas.openxmlformats.org/drawingml/2006/main" w="19050">
            <a:solidFill>
              <a:srgbClr val="6D7974"/>
            </a:solidFill>
            <a:prstDash val="solid"/>
          </a:ln>
        </p:spPr>
      </p:sp>
      <p:sp>
        <p:nvSpPr>
          <p:cNvPr id="8" name="flow-number-0">
            <a:extLst xmlns:a="http://schemas.openxmlformats.org/drawingml/2006/main">
              <a:ext uri="{FF2B5EF4-FFF2-40B4-BE49-F238E27FC236}">
                <a16:creationId xmlns:a16="http://schemas.microsoft.com/office/drawing/2014/main" id="{8B18652F-1745-48AF-9618-B8E15DB8F492}"/>
              </a:ext>
            </a:extLst>
          </p:cNvPr>
          <p:cNvSpPr>
            <a:spLocks xmlns:a="http://schemas.openxmlformats.org/drawingml/2006/main" noGrp="1"/>
          </p:cNvSpPr>
          <p:nvPr/>
        </p:nvSpPr>
        <p:spPr>
          <a:xfrm xmlns:a="http://schemas.openxmlformats.org/drawingml/2006/main">
            <a:off x="781050" y="2619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FCFAF5"/>
                </a:solidFill>
                <a:latin typeface="Arial"/>
                <a:ea typeface="Arial"/>
                <a:cs typeface="Arial"/>
              </a:defRPr>
            </a:pPr>
            <a:r>
              <a:rPr sz="975" b="1" i="0">
                <a:solidFill>
                  <a:srgbClr val="FCFAF5"/>
                </a:solidFill>
                <a:latin typeface="Arial"/>
                <a:ea typeface="Arial"/>
                <a:cs typeface="Arial"/>
              </a:rPr>
              <a:t>01</a:t>
            </a:r>
          </a:p>
        </p:txBody>
      </p:sp>
      <p:sp>
        <p:nvSpPr>
          <p:cNvPr id="9" name="flow-verb-0">
            <a:extLst xmlns:a="http://schemas.openxmlformats.org/drawingml/2006/main">
              <a:ext uri="{FF2B5EF4-FFF2-40B4-BE49-F238E27FC236}">
                <a16:creationId xmlns:a16="http://schemas.microsoft.com/office/drawing/2014/main" id="{82C6713F-0F1E-4978-A7D1-6F0F22949DB7}"/>
              </a:ext>
            </a:extLst>
          </p:cNvPr>
          <p:cNvSpPr>
            <a:spLocks xmlns:a="http://schemas.openxmlformats.org/drawingml/2006/main" noGrp="1"/>
          </p:cNvSpPr>
          <p:nvPr/>
        </p:nvSpPr>
        <p:spPr>
          <a:xfrm xmlns:a="http://schemas.openxmlformats.org/drawingml/2006/main">
            <a:off x="590550" y="3257550"/>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FCFAF5"/>
                </a:solidFill>
                <a:latin typeface="Arial"/>
                <a:ea typeface="Arial"/>
                <a:cs typeface="Arial"/>
              </a:defRPr>
            </a:pPr>
            <a:r>
              <a:rPr sz="1800" b="1" i="0">
                <a:solidFill>
                  <a:srgbClr val="FCFAF5"/>
                </a:solidFill>
                <a:latin typeface="Arial"/>
                <a:ea typeface="Arial"/>
                <a:cs typeface="Arial"/>
              </a:rPr>
              <a:t>ASK</a:t>
            </a:r>
          </a:p>
        </p:txBody>
      </p:sp>
      <p:sp>
        <p:nvSpPr>
          <p:cNvPr id="10" name="flow-copy-0">
            <a:extLst xmlns:a="http://schemas.openxmlformats.org/drawingml/2006/main">
              <a:ext uri="{FF2B5EF4-FFF2-40B4-BE49-F238E27FC236}">
                <a16:creationId xmlns:a16="http://schemas.microsoft.com/office/drawing/2014/main" id="{F164B011-36B6-4B78-92E3-D75CC503E5E1}"/>
              </a:ext>
            </a:extLst>
          </p:cNvPr>
          <p:cNvSpPr>
            <a:spLocks xmlns:a="http://schemas.openxmlformats.org/drawingml/2006/main" noGrp="1"/>
          </p:cNvSpPr>
          <p:nvPr/>
        </p:nvSpPr>
        <p:spPr>
          <a:xfrm xmlns:a="http://schemas.openxmlformats.org/drawingml/2006/main">
            <a:off x="590550" y="3752850"/>
            <a:ext cx="1619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350" b="0" i="0">
                <a:solidFill>
                  <a:srgbClr val="DCECE5"/>
                </a:solidFill>
                <a:latin typeface="Arial"/>
                <a:ea typeface="Arial"/>
                <a:cs typeface="Arial"/>
              </a:defRPr>
            </a:pPr>
            <a:r>
              <a:rPr sz="1350" b="0" i="0">
                <a:solidFill>
                  <a:srgbClr val="DCECE5"/>
                </a:solidFill>
                <a:latin typeface="Arial"/>
                <a:ea typeface="Arial"/>
                <a:cs typeface="Arial"/>
              </a:rPr>
              <a:t>One sentence with every hard constraint.</a:t>
            </a:r>
          </a:p>
        </p:txBody>
      </p:sp>
      <p:sp>
        <p:nvSpPr>
          <p:cNvPr id="11" name="flow-marker-1">
            <a:extLst xmlns:a="http://schemas.openxmlformats.org/drawingml/2006/main">
              <a:ext uri="{FF2B5EF4-FFF2-40B4-BE49-F238E27FC236}">
                <a16:creationId xmlns:a16="http://schemas.microsoft.com/office/drawing/2014/main" id="{DF3B1840-EE0C-4AFD-9CFC-236A941E014E}"/>
              </a:ext>
            </a:extLst>
          </p:cNvPr>
          <p:cNvSpPr>
            <a:spLocks xmlns:a="http://schemas.openxmlformats.org/drawingml/2006/main" noGrp="1"/>
          </p:cNvSpPr>
          <p:nvPr/>
        </p:nvSpPr>
        <p:spPr>
          <a:xfrm xmlns:a="http://schemas.openxmlformats.org/drawingml/2006/main">
            <a:off x="2647950" y="2552700"/>
            <a:ext cx="381000" cy="381000"/>
          </a:xfrm>
          <a:prstGeom xmlns:a="http://schemas.openxmlformats.org/drawingml/2006/main" prst="rect">
            <a:avLst/>
          </a:prstGeom>
          <a:solidFill xmlns:a="http://schemas.openxmlformats.org/drawingml/2006/main">
            <a:srgbClr val="0E4B3B"/>
          </a:solidFill>
          <a:ln xmlns:a="http://schemas.openxmlformats.org/drawingml/2006/main" w="19050">
            <a:solidFill>
              <a:srgbClr val="6D7974"/>
            </a:solidFill>
            <a:prstDash val="solid"/>
          </a:ln>
        </p:spPr>
      </p:sp>
      <p:sp>
        <p:nvSpPr>
          <p:cNvPr id="12" name="flow-number-1">
            <a:extLst xmlns:a="http://schemas.openxmlformats.org/drawingml/2006/main">
              <a:ext uri="{FF2B5EF4-FFF2-40B4-BE49-F238E27FC236}">
                <a16:creationId xmlns:a16="http://schemas.microsoft.com/office/drawing/2014/main" id="{6BB622E1-E853-43DB-BB5E-E9398EB7C785}"/>
              </a:ext>
            </a:extLst>
          </p:cNvPr>
          <p:cNvSpPr>
            <a:spLocks xmlns:a="http://schemas.openxmlformats.org/drawingml/2006/main" noGrp="1"/>
          </p:cNvSpPr>
          <p:nvPr/>
        </p:nvSpPr>
        <p:spPr>
          <a:xfrm xmlns:a="http://schemas.openxmlformats.org/drawingml/2006/main">
            <a:off x="2647950" y="2619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FCFAF5"/>
                </a:solidFill>
                <a:latin typeface="Arial"/>
                <a:ea typeface="Arial"/>
                <a:cs typeface="Arial"/>
              </a:defRPr>
            </a:pPr>
            <a:r>
              <a:rPr sz="975" b="1" i="0">
                <a:solidFill>
                  <a:srgbClr val="FCFAF5"/>
                </a:solidFill>
                <a:latin typeface="Arial"/>
                <a:ea typeface="Arial"/>
                <a:cs typeface="Arial"/>
              </a:rPr>
              <a:t>02</a:t>
            </a:r>
          </a:p>
        </p:txBody>
      </p:sp>
      <p:sp>
        <p:nvSpPr>
          <p:cNvPr id="13" name="flow-verb-1">
            <a:extLst xmlns:a="http://schemas.openxmlformats.org/drawingml/2006/main">
              <a:ext uri="{FF2B5EF4-FFF2-40B4-BE49-F238E27FC236}">
                <a16:creationId xmlns:a16="http://schemas.microsoft.com/office/drawing/2014/main" id="{E18496DA-D19B-443B-9A36-FE0727659D17}"/>
              </a:ext>
            </a:extLst>
          </p:cNvPr>
          <p:cNvSpPr>
            <a:spLocks xmlns:a="http://schemas.openxmlformats.org/drawingml/2006/main" noGrp="1"/>
          </p:cNvSpPr>
          <p:nvPr/>
        </p:nvSpPr>
        <p:spPr>
          <a:xfrm xmlns:a="http://schemas.openxmlformats.org/drawingml/2006/main">
            <a:off x="2457450" y="3257550"/>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FCFAF5"/>
                </a:solidFill>
                <a:latin typeface="Arial"/>
                <a:ea typeface="Arial"/>
                <a:cs typeface="Arial"/>
              </a:defRPr>
            </a:pPr>
            <a:r>
              <a:rPr sz="1800" b="1" i="0">
                <a:solidFill>
                  <a:srgbClr val="FCFAF5"/>
                </a:solidFill>
                <a:latin typeface="Arial"/>
                <a:ea typeface="Arial"/>
                <a:cs typeface="Arial"/>
              </a:rPr>
              <a:t>BUILD</a:t>
            </a:r>
          </a:p>
        </p:txBody>
      </p:sp>
      <p:sp>
        <p:nvSpPr>
          <p:cNvPr id="14" name="flow-copy-1">
            <a:extLst xmlns:a="http://schemas.openxmlformats.org/drawingml/2006/main">
              <a:ext uri="{FF2B5EF4-FFF2-40B4-BE49-F238E27FC236}">
                <a16:creationId xmlns:a16="http://schemas.microsoft.com/office/drawing/2014/main" id="{E8F9C40C-7E80-4344-A632-818E3805CC2C}"/>
              </a:ext>
            </a:extLst>
          </p:cNvPr>
          <p:cNvSpPr>
            <a:spLocks xmlns:a="http://schemas.openxmlformats.org/drawingml/2006/main" noGrp="1"/>
          </p:cNvSpPr>
          <p:nvPr/>
        </p:nvSpPr>
        <p:spPr>
          <a:xfrm xmlns:a="http://schemas.openxmlformats.org/drawingml/2006/main">
            <a:off x="2457450" y="3752850"/>
            <a:ext cx="1619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350" b="0" i="0">
                <a:solidFill>
                  <a:srgbClr val="DCECE5"/>
                </a:solidFill>
                <a:latin typeface="Arial"/>
                <a:ea typeface="Arial"/>
                <a:cs typeface="Arial"/>
              </a:defRPr>
            </a:pPr>
            <a:r>
              <a:rPr sz="1350" b="0" i="0">
                <a:solidFill>
                  <a:srgbClr val="DCECE5"/>
                </a:solidFill>
                <a:latin typeface="Arial"/>
                <a:ea typeface="Arial"/>
                <a:cs typeface="Arial"/>
              </a:rPr>
              <a:t>Complete carts from one pickup location.</a:t>
            </a:r>
          </a:p>
        </p:txBody>
      </p:sp>
      <p:sp>
        <p:nvSpPr>
          <p:cNvPr id="15" name="flow-marker-2">
            <a:extLst xmlns:a="http://schemas.openxmlformats.org/drawingml/2006/main">
              <a:ext uri="{FF2B5EF4-FFF2-40B4-BE49-F238E27FC236}">
                <a16:creationId xmlns:a16="http://schemas.microsoft.com/office/drawing/2014/main" id="{49D66E43-9D7C-47B4-BC46-CD127FB05209}"/>
              </a:ext>
            </a:extLst>
          </p:cNvPr>
          <p:cNvSpPr>
            <a:spLocks xmlns:a="http://schemas.openxmlformats.org/drawingml/2006/main" noGrp="1"/>
          </p:cNvSpPr>
          <p:nvPr/>
        </p:nvSpPr>
        <p:spPr>
          <a:xfrm xmlns:a="http://schemas.openxmlformats.org/drawingml/2006/main">
            <a:off x="4514850" y="2552700"/>
            <a:ext cx="381000" cy="381000"/>
          </a:xfrm>
          <a:prstGeom xmlns:a="http://schemas.openxmlformats.org/drawingml/2006/main" prst="rect">
            <a:avLst/>
          </a:prstGeom>
          <a:solidFill xmlns:a="http://schemas.openxmlformats.org/drawingml/2006/main">
            <a:srgbClr val="0E4B3B"/>
          </a:solidFill>
          <a:ln xmlns:a="http://schemas.openxmlformats.org/drawingml/2006/main" w="19050">
            <a:solidFill>
              <a:srgbClr val="6D7974"/>
            </a:solidFill>
            <a:prstDash val="solid"/>
          </a:ln>
        </p:spPr>
      </p:sp>
      <p:sp>
        <p:nvSpPr>
          <p:cNvPr id="16" name="flow-number-2">
            <a:extLst xmlns:a="http://schemas.openxmlformats.org/drawingml/2006/main">
              <a:ext uri="{FF2B5EF4-FFF2-40B4-BE49-F238E27FC236}">
                <a16:creationId xmlns:a16="http://schemas.microsoft.com/office/drawing/2014/main" id="{FBB64E16-B033-4525-B32B-B81FDAEC757C}"/>
              </a:ext>
            </a:extLst>
          </p:cNvPr>
          <p:cNvSpPr>
            <a:spLocks xmlns:a="http://schemas.openxmlformats.org/drawingml/2006/main" noGrp="1"/>
          </p:cNvSpPr>
          <p:nvPr/>
        </p:nvSpPr>
        <p:spPr>
          <a:xfrm xmlns:a="http://schemas.openxmlformats.org/drawingml/2006/main">
            <a:off x="4514850" y="2619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FCFAF5"/>
                </a:solidFill>
                <a:latin typeface="Arial"/>
                <a:ea typeface="Arial"/>
                <a:cs typeface="Arial"/>
              </a:defRPr>
            </a:pPr>
            <a:r>
              <a:rPr sz="975" b="1" i="0">
                <a:solidFill>
                  <a:srgbClr val="FCFAF5"/>
                </a:solidFill>
                <a:latin typeface="Arial"/>
                <a:ea typeface="Arial"/>
                <a:cs typeface="Arial"/>
              </a:rPr>
              <a:t>03</a:t>
            </a:r>
          </a:p>
        </p:txBody>
      </p:sp>
      <p:sp>
        <p:nvSpPr>
          <p:cNvPr id="17" name="flow-verb-2">
            <a:extLst xmlns:a="http://schemas.openxmlformats.org/drawingml/2006/main">
              <a:ext uri="{FF2B5EF4-FFF2-40B4-BE49-F238E27FC236}">
                <a16:creationId xmlns:a16="http://schemas.microsoft.com/office/drawing/2014/main" id="{A0ACCCB5-0246-4DA3-8DB8-B5721D10993E}"/>
              </a:ext>
            </a:extLst>
          </p:cNvPr>
          <p:cNvSpPr>
            <a:spLocks xmlns:a="http://schemas.openxmlformats.org/drawingml/2006/main" noGrp="1"/>
          </p:cNvSpPr>
          <p:nvPr/>
        </p:nvSpPr>
        <p:spPr>
          <a:xfrm xmlns:a="http://schemas.openxmlformats.org/drawingml/2006/main">
            <a:off x="4324350" y="3257550"/>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FCFAF5"/>
                </a:solidFill>
                <a:latin typeface="Arial"/>
                <a:ea typeface="Arial"/>
                <a:cs typeface="Arial"/>
              </a:defRPr>
            </a:pPr>
            <a:r>
              <a:rPr sz="1800" b="1" i="0">
                <a:solidFill>
                  <a:srgbClr val="FCFAF5"/>
                </a:solidFill>
                <a:latin typeface="Arial"/>
                <a:ea typeface="Arial"/>
                <a:cs typeface="Arial"/>
              </a:rPr>
              <a:t>PROVE</a:t>
            </a:r>
          </a:p>
        </p:txBody>
      </p:sp>
      <p:sp>
        <p:nvSpPr>
          <p:cNvPr id="18" name="flow-copy-2">
            <a:extLst xmlns:a="http://schemas.openxmlformats.org/drawingml/2006/main">
              <a:ext uri="{FF2B5EF4-FFF2-40B4-BE49-F238E27FC236}">
                <a16:creationId xmlns:a16="http://schemas.microsoft.com/office/drawing/2014/main" id="{BF199B06-3939-4C69-8C04-48BE8223643C}"/>
              </a:ext>
            </a:extLst>
          </p:cNvPr>
          <p:cNvSpPr>
            <a:spLocks xmlns:a="http://schemas.openxmlformats.org/drawingml/2006/main" noGrp="1"/>
          </p:cNvSpPr>
          <p:nvPr/>
        </p:nvSpPr>
        <p:spPr>
          <a:xfrm xmlns:a="http://schemas.openxmlformats.org/drawingml/2006/main">
            <a:off x="4324350" y="3752850"/>
            <a:ext cx="1619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350" b="0" i="0">
                <a:solidFill>
                  <a:srgbClr val="DCECE5"/>
                </a:solidFill>
                <a:latin typeface="Arial"/>
                <a:ea typeface="Arial"/>
                <a:cs typeface="Arial"/>
              </a:defRPr>
            </a:pPr>
            <a:r>
              <a:rPr sz="1350" b="0" i="0">
                <a:solidFill>
                  <a:srgbClr val="DCECE5"/>
                </a:solidFill>
                <a:latin typeface="Arial"/>
                <a:ea typeface="Arial"/>
                <a:cs typeface="Arial"/>
              </a:rPr>
              <a:t>Capacity, rain, quantities and volume checked.</a:t>
            </a:r>
          </a:p>
        </p:txBody>
      </p:sp>
      <p:sp>
        <p:nvSpPr>
          <p:cNvPr id="19" name="flow-marker-3">
            <a:extLst xmlns:a="http://schemas.openxmlformats.org/drawingml/2006/main">
              <a:ext uri="{FF2B5EF4-FFF2-40B4-BE49-F238E27FC236}">
                <a16:creationId xmlns:a16="http://schemas.microsoft.com/office/drawing/2014/main" id="{D1EECCC0-D7F4-496E-99B5-BAFDBE6C7645}"/>
              </a:ext>
            </a:extLst>
          </p:cNvPr>
          <p:cNvSpPr>
            <a:spLocks xmlns:a="http://schemas.openxmlformats.org/drawingml/2006/main" noGrp="1"/>
          </p:cNvSpPr>
          <p:nvPr/>
        </p:nvSpPr>
        <p:spPr>
          <a:xfrm xmlns:a="http://schemas.openxmlformats.org/drawingml/2006/main">
            <a:off x="6381750" y="2552700"/>
            <a:ext cx="381000" cy="381000"/>
          </a:xfrm>
          <a:prstGeom xmlns:a="http://schemas.openxmlformats.org/drawingml/2006/main" prst="rect">
            <a:avLst/>
          </a:prstGeom>
          <a:solidFill xmlns:a="http://schemas.openxmlformats.org/drawingml/2006/main">
            <a:srgbClr val="0E4B3B"/>
          </a:solidFill>
          <a:ln xmlns:a="http://schemas.openxmlformats.org/drawingml/2006/main" w="19050">
            <a:solidFill>
              <a:srgbClr val="6D7974"/>
            </a:solidFill>
            <a:prstDash val="solid"/>
          </a:ln>
        </p:spPr>
      </p:sp>
      <p:sp>
        <p:nvSpPr>
          <p:cNvPr id="20" name="flow-number-3">
            <a:extLst xmlns:a="http://schemas.openxmlformats.org/drawingml/2006/main">
              <a:ext uri="{FF2B5EF4-FFF2-40B4-BE49-F238E27FC236}">
                <a16:creationId xmlns:a16="http://schemas.microsoft.com/office/drawing/2014/main" id="{157B9F2C-C1A1-4D69-A62C-C53209DD842B}"/>
              </a:ext>
            </a:extLst>
          </p:cNvPr>
          <p:cNvSpPr>
            <a:spLocks xmlns:a="http://schemas.openxmlformats.org/drawingml/2006/main" noGrp="1"/>
          </p:cNvSpPr>
          <p:nvPr/>
        </p:nvSpPr>
        <p:spPr>
          <a:xfrm xmlns:a="http://schemas.openxmlformats.org/drawingml/2006/main">
            <a:off x="6381750" y="2619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FCFAF5"/>
                </a:solidFill>
                <a:latin typeface="Arial"/>
                <a:ea typeface="Arial"/>
                <a:cs typeface="Arial"/>
              </a:defRPr>
            </a:pPr>
            <a:r>
              <a:rPr sz="975" b="1" i="0">
                <a:solidFill>
                  <a:srgbClr val="FCFAF5"/>
                </a:solidFill>
                <a:latin typeface="Arial"/>
                <a:ea typeface="Arial"/>
                <a:cs typeface="Arial"/>
              </a:rPr>
              <a:t>04</a:t>
            </a:r>
          </a:p>
        </p:txBody>
      </p:sp>
      <p:sp>
        <p:nvSpPr>
          <p:cNvPr id="21" name="flow-verb-3">
            <a:extLst xmlns:a="http://schemas.openxmlformats.org/drawingml/2006/main">
              <a:ext uri="{FF2B5EF4-FFF2-40B4-BE49-F238E27FC236}">
                <a16:creationId xmlns:a16="http://schemas.microsoft.com/office/drawing/2014/main" id="{63763651-7DD7-40B2-ADB4-C6FBFA0C9B96}"/>
              </a:ext>
            </a:extLst>
          </p:cNvPr>
          <p:cNvSpPr>
            <a:spLocks xmlns:a="http://schemas.openxmlformats.org/drawingml/2006/main" noGrp="1"/>
          </p:cNvSpPr>
          <p:nvPr/>
        </p:nvSpPr>
        <p:spPr>
          <a:xfrm xmlns:a="http://schemas.openxmlformats.org/drawingml/2006/main">
            <a:off x="6191250" y="3257550"/>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FCFAF5"/>
                </a:solidFill>
                <a:latin typeface="Arial"/>
                <a:ea typeface="Arial"/>
                <a:cs typeface="Arial"/>
              </a:defRPr>
            </a:pPr>
            <a:r>
              <a:rPr sz="1800" b="1" i="0">
                <a:solidFill>
                  <a:srgbClr val="FCFAF5"/>
                </a:solidFill>
                <a:latin typeface="Arial"/>
                <a:ea typeface="Arial"/>
                <a:cs typeface="Arial"/>
              </a:rPr>
              <a:t>VERIFY</a:t>
            </a:r>
          </a:p>
        </p:txBody>
      </p:sp>
      <p:sp>
        <p:nvSpPr>
          <p:cNvPr id="22" name="flow-copy-3">
            <a:extLst xmlns:a="http://schemas.openxmlformats.org/drawingml/2006/main">
              <a:ext uri="{FF2B5EF4-FFF2-40B4-BE49-F238E27FC236}">
                <a16:creationId xmlns:a16="http://schemas.microsoft.com/office/drawing/2014/main" id="{A71D3B16-60EE-46E1-83BE-A89B32E74F6D}"/>
              </a:ext>
            </a:extLst>
          </p:cNvPr>
          <p:cNvSpPr>
            <a:spLocks xmlns:a="http://schemas.openxmlformats.org/drawingml/2006/main" noGrp="1"/>
          </p:cNvSpPr>
          <p:nvPr/>
        </p:nvSpPr>
        <p:spPr>
          <a:xfrm xmlns:a="http://schemas.openxmlformats.org/drawingml/2006/main">
            <a:off x="6191250" y="3752850"/>
            <a:ext cx="1619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350" b="0" i="0">
                <a:solidFill>
                  <a:srgbClr val="DCECE5"/>
                </a:solidFill>
                <a:latin typeface="Arial"/>
                <a:ea typeface="Arial"/>
                <a:cs typeface="Arial"/>
              </a:defRPr>
            </a:pPr>
            <a:r>
              <a:rPr sz="1350" b="0" i="0">
                <a:solidFill>
                  <a:srgbClr val="DCECE5"/>
                </a:solidFill>
                <a:latin typeface="Arial"/>
                <a:ea typeface="Arial"/>
                <a:cs typeface="Arial"/>
              </a:rPr>
              <a:t>Short-lived simulated demo identity.</a:t>
            </a:r>
          </a:p>
        </p:txBody>
      </p:sp>
      <p:sp>
        <p:nvSpPr>
          <p:cNvPr id="23" name="flow-marker-4">
            <a:extLst xmlns:a="http://schemas.openxmlformats.org/drawingml/2006/main">
              <a:ext uri="{FF2B5EF4-FFF2-40B4-BE49-F238E27FC236}">
                <a16:creationId xmlns:a16="http://schemas.microsoft.com/office/drawing/2014/main" id="{4D49A7D0-33E3-428A-9BD1-A67500BFC5DF}"/>
              </a:ext>
            </a:extLst>
          </p:cNvPr>
          <p:cNvSpPr>
            <a:spLocks xmlns:a="http://schemas.openxmlformats.org/drawingml/2006/main" noGrp="1"/>
          </p:cNvSpPr>
          <p:nvPr/>
        </p:nvSpPr>
        <p:spPr>
          <a:xfrm xmlns:a="http://schemas.openxmlformats.org/drawingml/2006/main">
            <a:off x="8248650" y="2552700"/>
            <a:ext cx="381000" cy="381000"/>
          </a:xfrm>
          <a:prstGeom xmlns:a="http://schemas.openxmlformats.org/drawingml/2006/main" prst="rect">
            <a:avLst/>
          </a:prstGeom>
          <a:solidFill xmlns:a="http://schemas.openxmlformats.org/drawingml/2006/main">
            <a:srgbClr val="B7F522"/>
          </a:solidFill>
          <a:ln xmlns:a="http://schemas.openxmlformats.org/drawingml/2006/main" w="19050">
            <a:solidFill>
              <a:srgbClr val="B7F522"/>
            </a:solidFill>
            <a:prstDash val="solid"/>
          </a:ln>
        </p:spPr>
      </p:sp>
      <p:sp>
        <p:nvSpPr>
          <p:cNvPr id="24" name="flow-number-4">
            <a:extLst xmlns:a="http://schemas.openxmlformats.org/drawingml/2006/main">
              <a:ext uri="{FF2B5EF4-FFF2-40B4-BE49-F238E27FC236}">
                <a16:creationId xmlns:a16="http://schemas.microsoft.com/office/drawing/2014/main" id="{782BEE89-BB8A-4EBF-B38D-C4757BF7A5B0}"/>
              </a:ext>
            </a:extLst>
          </p:cNvPr>
          <p:cNvSpPr>
            <a:spLocks xmlns:a="http://schemas.openxmlformats.org/drawingml/2006/main" noGrp="1"/>
          </p:cNvSpPr>
          <p:nvPr/>
        </p:nvSpPr>
        <p:spPr>
          <a:xfrm xmlns:a="http://schemas.openxmlformats.org/drawingml/2006/main">
            <a:off x="8248650" y="2619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0A0A0A"/>
                </a:solidFill>
                <a:latin typeface="Arial"/>
                <a:ea typeface="Arial"/>
                <a:cs typeface="Arial"/>
              </a:defRPr>
            </a:pPr>
            <a:r>
              <a:rPr sz="975" b="1" i="0">
                <a:solidFill>
                  <a:srgbClr val="0A0A0A"/>
                </a:solidFill>
                <a:latin typeface="Arial"/>
                <a:ea typeface="Arial"/>
                <a:cs typeface="Arial"/>
              </a:rPr>
              <a:t>05</a:t>
            </a:r>
          </a:p>
        </p:txBody>
      </p:sp>
      <p:sp>
        <p:nvSpPr>
          <p:cNvPr id="25" name="flow-verb-4">
            <a:extLst xmlns:a="http://schemas.openxmlformats.org/drawingml/2006/main">
              <a:ext uri="{FF2B5EF4-FFF2-40B4-BE49-F238E27FC236}">
                <a16:creationId xmlns:a16="http://schemas.microsoft.com/office/drawing/2014/main" id="{C0A186AD-742F-4D98-A969-86EC45C0068D}"/>
              </a:ext>
            </a:extLst>
          </p:cNvPr>
          <p:cNvSpPr>
            <a:spLocks xmlns:a="http://schemas.openxmlformats.org/drawingml/2006/main" noGrp="1"/>
          </p:cNvSpPr>
          <p:nvPr/>
        </p:nvSpPr>
        <p:spPr>
          <a:xfrm xmlns:a="http://schemas.openxmlformats.org/drawingml/2006/main">
            <a:off x="8058150" y="3257550"/>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B7F522"/>
                </a:solidFill>
                <a:latin typeface="Arial"/>
                <a:ea typeface="Arial"/>
                <a:cs typeface="Arial"/>
              </a:defRPr>
            </a:pPr>
            <a:r>
              <a:rPr sz="1800" b="1" i="0">
                <a:solidFill>
                  <a:srgbClr val="B7F522"/>
                </a:solidFill>
                <a:latin typeface="Arial"/>
                <a:ea typeface="Arial"/>
                <a:cs typeface="Arial"/>
              </a:rPr>
              <a:t>REVIEW</a:t>
            </a:r>
          </a:p>
        </p:txBody>
      </p:sp>
      <p:sp>
        <p:nvSpPr>
          <p:cNvPr id="26" name="flow-copy-4">
            <a:extLst xmlns:a="http://schemas.openxmlformats.org/drawingml/2006/main">
              <a:ext uri="{FF2B5EF4-FFF2-40B4-BE49-F238E27FC236}">
                <a16:creationId xmlns:a16="http://schemas.microsoft.com/office/drawing/2014/main" id="{C2658A9E-F115-4984-86DE-38FC74649FB7}"/>
              </a:ext>
            </a:extLst>
          </p:cNvPr>
          <p:cNvSpPr>
            <a:spLocks xmlns:a="http://schemas.openxmlformats.org/drawingml/2006/main" noGrp="1"/>
          </p:cNvSpPr>
          <p:nvPr/>
        </p:nvSpPr>
        <p:spPr>
          <a:xfrm xmlns:a="http://schemas.openxmlformats.org/drawingml/2006/main">
            <a:off x="8058150" y="3752850"/>
            <a:ext cx="1619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350" b="0" i="0">
                <a:solidFill>
                  <a:srgbClr val="DCECE5"/>
                </a:solidFill>
                <a:latin typeface="Arial"/>
                <a:ea typeface="Arial"/>
                <a:cs typeface="Arial"/>
              </a:defRPr>
            </a:pPr>
            <a:r>
              <a:rPr sz="1350" b="0" i="0">
                <a:solidFill>
                  <a:srgbClr val="DCECE5"/>
                </a:solidFill>
                <a:latin typeface="Arial"/>
                <a:ea typeface="Arial"/>
                <a:cs typeface="Arial"/>
              </a:rPr>
              <a:t>Price, stock and exact terms rechecked.</a:t>
            </a:r>
          </a:p>
        </p:txBody>
      </p:sp>
      <p:sp>
        <p:nvSpPr>
          <p:cNvPr id="27" name="flow-marker-5">
            <a:extLst xmlns:a="http://schemas.openxmlformats.org/drawingml/2006/main">
              <a:ext uri="{FF2B5EF4-FFF2-40B4-BE49-F238E27FC236}">
                <a16:creationId xmlns:a16="http://schemas.microsoft.com/office/drawing/2014/main" id="{2748AF72-3111-4855-90EC-03DAEDB82633}"/>
              </a:ext>
            </a:extLst>
          </p:cNvPr>
          <p:cNvSpPr>
            <a:spLocks xmlns:a="http://schemas.openxmlformats.org/drawingml/2006/main" noGrp="1"/>
          </p:cNvSpPr>
          <p:nvPr/>
        </p:nvSpPr>
        <p:spPr>
          <a:xfrm xmlns:a="http://schemas.openxmlformats.org/drawingml/2006/main">
            <a:off x="10115550" y="2552700"/>
            <a:ext cx="381000" cy="381000"/>
          </a:xfrm>
          <a:prstGeom xmlns:a="http://schemas.openxmlformats.org/drawingml/2006/main" prst="rect">
            <a:avLst/>
          </a:prstGeom>
          <a:solidFill xmlns:a="http://schemas.openxmlformats.org/drawingml/2006/main">
            <a:srgbClr val="1545E8"/>
          </a:solidFill>
          <a:ln xmlns:a="http://schemas.openxmlformats.org/drawingml/2006/main" w="19050">
            <a:solidFill>
              <a:srgbClr val="1545E8"/>
            </a:solidFill>
            <a:prstDash val="solid"/>
          </a:ln>
        </p:spPr>
      </p:sp>
      <p:sp>
        <p:nvSpPr>
          <p:cNvPr id="28" name="flow-number-5">
            <a:extLst xmlns:a="http://schemas.openxmlformats.org/drawingml/2006/main">
              <a:ext uri="{FF2B5EF4-FFF2-40B4-BE49-F238E27FC236}">
                <a16:creationId xmlns:a16="http://schemas.microsoft.com/office/drawing/2014/main" id="{145008B5-5370-4EA6-998D-DD97944FA3A7}"/>
              </a:ext>
            </a:extLst>
          </p:cNvPr>
          <p:cNvSpPr>
            <a:spLocks xmlns:a="http://schemas.openxmlformats.org/drawingml/2006/main" noGrp="1"/>
          </p:cNvSpPr>
          <p:nvPr/>
        </p:nvSpPr>
        <p:spPr>
          <a:xfrm xmlns:a="http://schemas.openxmlformats.org/drawingml/2006/main">
            <a:off x="10115550" y="2619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FCFAF5"/>
                </a:solidFill>
                <a:latin typeface="Arial"/>
                <a:ea typeface="Arial"/>
                <a:cs typeface="Arial"/>
              </a:defRPr>
            </a:pPr>
            <a:r>
              <a:rPr sz="975" b="1" i="0">
                <a:solidFill>
                  <a:srgbClr val="FCFAF5"/>
                </a:solidFill>
                <a:latin typeface="Arial"/>
                <a:ea typeface="Arial"/>
                <a:cs typeface="Arial"/>
              </a:rPr>
              <a:t>06</a:t>
            </a:r>
          </a:p>
        </p:txBody>
      </p:sp>
      <p:sp>
        <p:nvSpPr>
          <p:cNvPr id="29" name="flow-verb-5">
            <a:extLst xmlns:a="http://schemas.openxmlformats.org/drawingml/2006/main">
              <a:ext uri="{FF2B5EF4-FFF2-40B4-BE49-F238E27FC236}">
                <a16:creationId xmlns:a16="http://schemas.microsoft.com/office/drawing/2014/main" id="{E94DFB06-7027-44F3-B38D-DC2CDF69A258}"/>
              </a:ext>
            </a:extLst>
          </p:cNvPr>
          <p:cNvSpPr>
            <a:spLocks xmlns:a="http://schemas.openxmlformats.org/drawingml/2006/main" noGrp="1"/>
          </p:cNvSpPr>
          <p:nvPr/>
        </p:nvSpPr>
        <p:spPr>
          <a:xfrm xmlns:a="http://schemas.openxmlformats.org/drawingml/2006/main">
            <a:off x="9925050" y="3257550"/>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i="0">
                <a:solidFill>
                  <a:srgbClr val="1545E8"/>
                </a:solidFill>
                <a:latin typeface="Arial"/>
                <a:ea typeface="Arial"/>
                <a:cs typeface="Arial"/>
              </a:defRPr>
            </a:pPr>
            <a:r>
              <a:rPr sz="1800" b="1" i="0">
                <a:solidFill>
                  <a:srgbClr val="1545E8"/>
                </a:solidFill>
                <a:latin typeface="Arial"/>
                <a:ea typeface="Arial"/>
                <a:cs typeface="Arial"/>
              </a:rPr>
              <a:t>CONFIRM</a:t>
            </a:r>
          </a:p>
        </p:txBody>
      </p:sp>
      <p:sp>
        <p:nvSpPr>
          <p:cNvPr id="30" name="flow-copy-5">
            <a:extLst xmlns:a="http://schemas.openxmlformats.org/drawingml/2006/main">
              <a:ext uri="{FF2B5EF4-FFF2-40B4-BE49-F238E27FC236}">
                <a16:creationId xmlns:a16="http://schemas.microsoft.com/office/drawing/2014/main" id="{6C483CC3-C3ED-4BEE-9798-7B0D00AC49B9}"/>
              </a:ext>
            </a:extLst>
          </p:cNvPr>
          <p:cNvSpPr>
            <a:spLocks xmlns:a="http://schemas.openxmlformats.org/drawingml/2006/main" noGrp="1"/>
          </p:cNvSpPr>
          <p:nvPr/>
        </p:nvSpPr>
        <p:spPr>
          <a:xfrm xmlns:a="http://schemas.openxmlformats.org/drawingml/2006/main">
            <a:off x="9925050" y="3752850"/>
            <a:ext cx="1619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350" b="0" i="0">
                <a:solidFill>
                  <a:srgbClr val="DCECE5"/>
                </a:solidFill>
                <a:latin typeface="Arial"/>
                <a:ea typeface="Arial"/>
                <a:cs typeface="Arial"/>
              </a:defRPr>
            </a:pPr>
            <a:r>
              <a:rPr sz="1350" b="0" i="0">
                <a:solidFill>
                  <a:srgbClr val="DCECE5"/>
                </a:solidFill>
                <a:latin typeface="Arial"/>
                <a:ea typeface="Arial"/>
                <a:cs typeface="Arial"/>
              </a:rPr>
              <a:t>Your direct click; simulated Visa result.</a:t>
            </a:r>
          </a:p>
        </p:txBody>
      </p:sp>
      <p:sp>
        <p:nvSpPr>
          <p:cNvPr id="31" name="flow-bottom-rule">
            <a:extLst xmlns:a="http://schemas.openxmlformats.org/drawingml/2006/main">
              <a:ext uri="{FF2B5EF4-FFF2-40B4-BE49-F238E27FC236}">
                <a16:creationId xmlns:a16="http://schemas.microsoft.com/office/drawing/2014/main" id="{294568CE-24F3-4424-BB5B-D9EC4411D80D}"/>
              </a:ext>
            </a:extLst>
          </p:cNvPr>
          <p:cNvSpPr>
            <a:spLocks xmlns:a="http://schemas.openxmlformats.org/drawingml/2006/main" noGrp="1"/>
          </p:cNvSpPr>
          <p:nvPr/>
        </p:nvSpPr>
        <p:spPr>
          <a:xfrm xmlns:a="http://schemas.openxmlformats.org/drawingml/2006/main">
            <a:off x="590550" y="5429250"/>
            <a:ext cx="11010900" cy="19050"/>
          </a:xfrm>
          <a:prstGeom xmlns:a="http://schemas.openxmlformats.org/drawingml/2006/main" prst="rect">
            <a:avLst/>
          </a:prstGeom>
          <a:solidFill xmlns:a="http://schemas.openxmlformats.org/drawingml/2006/main">
            <a:srgbClr val="6D7974"/>
          </a:solidFill>
          <a:ln xmlns:a="http://schemas.openxmlformats.org/drawingml/2006/main" w="0">
            <a:solidFill>
              <a:srgbClr val="6D7974"/>
            </a:solidFill>
            <a:prstDash val="solid"/>
          </a:ln>
        </p:spPr>
      </p:sp>
      <p:sp>
        <p:nvSpPr>
          <p:cNvPr id="32" name="flow-recommendation">
            <a:extLst xmlns:a="http://schemas.openxmlformats.org/drawingml/2006/main">
              <a:ext uri="{FF2B5EF4-FFF2-40B4-BE49-F238E27FC236}">
                <a16:creationId xmlns:a16="http://schemas.microsoft.com/office/drawing/2014/main" id="{5930504F-4213-44DA-8022-0A33AA885654}"/>
              </a:ext>
            </a:extLst>
          </p:cNvPr>
          <p:cNvSpPr>
            <a:spLocks xmlns:a="http://schemas.openxmlformats.org/drawingml/2006/main" noGrp="1"/>
          </p:cNvSpPr>
          <p:nvPr/>
        </p:nvSpPr>
        <p:spPr>
          <a:xfrm xmlns:a="http://schemas.openxmlformats.org/drawingml/2006/main">
            <a:off x="590550" y="575310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1" i="0">
                <a:solidFill>
                  <a:srgbClr val="DCECE5"/>
                </a:solidFill>
                <a:latin typeface="Arial"/>
                <a:ea typeface="Arial"/>
                <a:cs typeface="Arial"/>
              </a:defRPr>
            </a:pPr>
            <a:r>
              <a:rPr sz="975" b="1" i="0">
                <a:solidFill>
                  <a:srgbClr val="DCECE5"/>
                </a:solidFill>
                <a:latin typeface="Arial"/>
                <a:ea typeface="Arial"/>
                <a:cs typeface="Arial"/>
              </a:rPr>
              <a:t>THE AI RECOMMENDS</a:t>
            </a:r>
          </a:p>
        </p:txBody>
      </p:sp>
      <p:sp>
        <p:nvSpPr>
          <p:cNvPr id="33" name="flow-authorization">
            <a:extLst xmlns:a="http://schemas.openxmlformats.org/drawingml/2006/main">
              <a:ext uri="{FF2B5EF4-FFF2-40B4-BE49-F238E27FC236}">
                <a16:creationId xmlns:a16="http://schemas.microsoft.com/office/drawing/2014/main" id="{8AC483C6-D5EA-4EBA-8960-485931814EB8}"/>
              </a:ext>
            </a:extLst>
          </p:cNvPr>
          <p:cNvSpPr>
            <a:spLocks xmlns:a="http://schemas.openxmlformats.org/drawingml/2006/main" noGrp="1"/>
          </p:cNvSpPr>
          <p:nvPr/>
        </p:nvSpPr>
        <p:spPr>
          <a:xfrm xmlns:a="http://schemas.openxmlformats.org/drawingml/2006/main">
            <a:off x="6953250" y="5753100"/>
            <a:ext cx="4648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B7F522"/>
                </a:solidFill>
                <a:latin typeface="Arial"/>
                <a:ea typeface="Arial"/>
                <a:cs typeface="Arial"/>
              </a:defRPr>
            </a:pPr>
            <a:r>
              <a:rPr sz="975" b="1" i="0">
                <a:solidFill>
                  <a:srgbClr val="B7F522"/>
                </a:solidFill>
                <a:latin typeface="Arial"/>
                <a:ea typeface="Arial"/>
                <a:cs typeface="Arial"/>
              </a:rPr>
              <a:t>IDENTITY ≠ AUTHORIZATION  ·  ONLY YOU CONFIRM</a:t>
            </a:r>
          </a:p>
        </p:txBody>
      </p:sp>
    </p:spTree>
    <p:extLst>
      <p:ext uri="{BB962C8B-B14F-4D97-AF65-F5344CB8AC3E}">
        <p14:creationId xmlns:p14="http://schemas.microsoft.com/office/powerpoint/2010/main" val="1389378021"/>
      </p:ext>
    </p:extLst>
  </p:cSld>
</p:sld>
</file>

<file path=ppt/slides/slide8.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22" name="brand-8">
            <a:extLst xmlns:a="http://schemas.openxmlformats.org/drawingml/2006/main">
              <a:ext uri="{FF2B5EF4-FFF2-40B4-BE49-F238E27FC236}">
                <a16:creationId xmlns:a16="http://schemas.microsoft.com/office/drawing/2014/main" id="{AFF0415E-4F66-455F-94D6-DCC813AEBED5}"/>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FCFAF5"/>
                </a:solidFill>
                <a:latin typeface="Arial"/>
                <a:ea typeface="Arial"/>
                <a:cs typeface="Arial"/>
              </a:defRPr>
            </a:pPr>
            <a:r>
              <a:rPr sz="1125" b="1" i="0">
                <a:solidFill>
                  <a:srgbClr val="FCFAF5"/>
                </a:solidFill>
                <a:latin typeface="Arial"/>
                <a:ea typeface="Arial"/>
                <a:cs typeface="Arial"/>
              </a:rPr>
              <a:t>WOVEN</a:t>
            </a:r>
          </a:p>
        </p:txBody>
      </p:sp>
      <p:sp>
        <p:nvSpPr>
          <p:cNvPr id="2" name="brand-origin-8">
            <a:extLst xmlns:a="http://schemas.openxmlformats.org/drawingml/2006/main">
              <a:ext uri="{FF2B5EF4-FFF2-40B4-BE49-F238E27FC236}">
                <a16:creationId xmlns:a16="http://schemas.microsoft.com/office/drawing/2014/main" id="{36DF0453-368C-41B6-8F3F-848EF6528815}"/>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3" name="page-8">
            <a:extLst xmlns:a="http://schemas.openxmlformats.org/drawingml/2006/main">
              <a:ext uri="{FF2B5EF4-FFF2-40B4-BE49-F238E27FC236}">
                <a16:creationId xmlns:a16="http://schemas.microsoft.com/office/drawing/2014/main" id="{310687E0-64EB-45C5-80C4-2DE98311EC46}"/>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DCECE5"/>
                </a:solidFill>
                <a:latin typeface="Arial"/>
                <a:ea typeface="Arial"/>
                <a:cs typeface="Arial"/>
              </a:defRPr>
            </a:pPr>
            <a:r>
              <a:rPr sz="900" b="0" i="0">
                <a:solidFill>
                  <a:srgbClr val="DCECE5"/>
                </a:solidFill>
                <a:latin typeface="Arial"/>
                <a:ea typeface="Arial"/>
                <a:cs typeface="Arial"/>
              </a:rPr>
              <a:t>08 / 10</a:t>
            </a:r>
          </a:p>
        </p:txBody>
      </p:sp>
      <p:sp>
        <p:nvSpPr>
          <p:cNvPr id="4" name="trust-title">
            <a:extLst xmlns:a="http://schemas.openxmlformats.org/drawingml/2006/main">
              <a:ext uri="{FF2B5EF4-FFF2-40B4-BE49-F238E27FC236}">
                <a16:creationId xmlns:a16="http://schemas.microsoft.com/office/drawing/2014/main" id="{57571D28-BD9A-45B0-97E7-E28CB8B18365}"/>
              </a:ext>
            </a:extLst>
          </p:cNvPr>
          <p:cNvSpPr>
            <a:spLocks xmlns:a="http://schemas.openxmlformats.org/drawingml/2006/main" noGrp="1"/>
          </p:cNvSpPr>
          <p:nvPr/>
        </p:nvSpPr>
        <p:spPr>
          <a:xfrm xmlns:a="http://schemas.openxmlformats.org/drawingml/2006/main">
            <a:off x="590550" y="876300"/>
            <a:ext cx="9906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750" b="1" i="0">
                <a:solidFill>
                  <a:srgbClr val="FCFAF5"/>
                </a:solidFill>
                <a:latin typeface="Arial"/>
                <a:ea typeface="Arial"/>
                <a:cs typeface="Arial"/>
              </a:defRPr>
            </a:pPr>
            <a:r>
              <a:rPr sz="3750" b="1" i="0">
                <a:solidFill>
                  <a:srgbClr val="FCFAF5"/>
                </a:solidFill>
                <a:latin typeface="Arial"/>
                <a:ea typeface="Arial"/>
                <a:cs typeface="Arial"/>
              </a:rPr>
              <a:t>Identity is not permission to purchase.</a:t>
            </a:r>
          </a:p>
        </p:txBody>
      </p:sp>
      <p:sp>
        <p:nvSpPr>
          <p:cNvPr id="5" name="trust-sub">
            <a:extLst xmlns:a="http://schemas.openxmlformats.org/drawingml/2006/main">
              <a:ext uri="{FF2B5EF4-FFF2-40B4-BE49-F238E27FC236}">
                <a16:creationId xmlns:a16="http://schemas.microsoft.com/office/drawing/2014/main" id="{DFB7E223-E8DD-458A-A6B9-652FEA5ED93E}"/>
              </a:ext>
            </a:extLst>
          </p:cNvPr>
          <p:cNvSpPr>
            <a:spLocks xmlns:a="http://schemas.openxmlformats.org/drawingml/2006/main" noGrp="1"/>
          </p:cNvSpPr>
          <p:nvPr/>
        </p:nvSpPr>
        <p:spPr>
          <a:xfrm xmlns:a="http://schemas.openxmlformats.org/drawingml/2006/main">
            <a:off x="590550" y="1581150"/>
            <a:ext cx="790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725" b="0" i="0">
                <a:solidFill>
                  <a:srgbClr val="DCECE5"/>
                </a:solidFill>
                <a:latin typeface="Arial"/>
                <a:ea typeface="Arial"/>
                <a:cs typeface="Arial"/>
              </a:defRPr>
            </a:pPr>
            <a:r>
              <a:rPr sz="1725" b="0" i="0">
                <a:solidFill>
                  <a:srgbClr val="DCECE5"/>
                </a:solidFill>
                <a:latin typeface="Arial"/>
                <a:ea typeface="Arial"/>
                <a:cs typeface="Arial"/>
              </a:rPr>
              <a:t>Woven keeps two trust gates separate—and binds the second to exact terms.</a:t>
            </a:r>
          </a:p>
        </p:txBody>
      </p:sp>
      <p:sp>
        <p:nvSpPr>
          <p:cNvPr id="6" name="trust-route">
            <a:extLst xmlns:a="http://schemas.openxmlformats.org/drawingml/2006/main">
              <a:ext uri="{FF2B5EF4-FFF2-40B4-BE49-F238E27FC236}">
                <a16:creationId xmlns:a16="http://schemas.microsoft.com/office/drawing/2014/main" id="{284FA715-3458-4BBF-A2C1-0077A5622FAF}"/>
              </a:ext>
            </a:extLst>
          </p:cNvPr>
          <p:cNvSpPr>
            <a:spLocks xmlns:a="http://schemas.openxmlformats.org/drawingml/2006/main" noGrp="1"/>
          </p:cNvSpPr>
          <p:nvPr/>
        </p:nvSpPr>
        <p:spPr>
          <a:xfrm xmlns:a="http://schemas.openxmlformats.org/drawingml/2006/main">
            <a:off x="781050" y="2305050"/>
            <a:ext cx="38100" cy="3219450"/>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7" name="trust-marker-0">
            <a:extLst xmlns:a="http://schemas.openxmlformats.org/drawingml/2006/main">
              <a:ext uri="{FF2B5EF4-FFF2-40B4-BE49-F238E27FC236}">
                <a16:creationId xmlns:a16="http://schemas.microsoft.com/office/drawing/2014/main" id="{625C132A-77B8-46AF-80A9-712DA96DD43F}"/>
              </a:ext>
            </a:extLst>
          </p:cNvPr>
          <p:cNvSpPr>
            <a:spLocks xmlns:a="http://schemas.openxmlformats.org/drawingml/2006/main" noGrp="1"/>
          </p:cNvSpPr>
          <p:nvPr/>
        </p:nvSpPr>
        <p:spPr>
          <a:xfrm xmlns:a="http://schemas.openxmlformats.org/drawingml/2006/main">
            <a:off x="590550" y="2247900"/>
            <a:ext cx="419100" cy="419100"/>
          </a:xfrm>
          <a:prstGeom xmlns:a="http://schemas.openxmlformats.org/drawingml/2006/main" prst="rect">
            <a:avLst/>
          </a:prstGeom>
          <a:solidFill xmlns:a="http://schemas.openxmlformats.org/drawingml/2006/main">
            <a:srgbClr val="0E4B3B"/>
          </a:solidFill>
          <a:ln xmlns:a="http://schemas.openxmlformats.org/drawingml/2006/main" w="19050">
            <a:solidFill>
              <a:srgbClr val="DCECE5"/>
            </a:solidFill>
            <a:prstDash val="solid"/>
          </a:ln>
        </p:spPr>
      </p:sp>
      <p:sp>
        <p:nvSpPr>
          <p:cNvPr id="8" name="trust-number-0">
            <a:extLst xmlns:a="http://schemas.openxmlformats.org/drawingml/2006/main">
              <a:ext uri="{FF2B5EF4-FFF2-40B4-BE49-F238E27FC236}">
                <a16:creationId xmlns:a16="http://schemas.microsoft.com/office/drawing/2014/main" id="{DB4092BF-E3FE-41A0-9E74-0E7F724A1B82}"/>
              </a:ext>
            </a:extLst>
          </p:cNvPr>
          <p:cNvSpPr>
            <a:spLocks xmlns:a="http://schemas.openxmlformats.org/drawingml/2006/main" noGrp="1"/>
          </p:cNvSpPr>
          <p:nvPr/>
        </p:nvSpPr>
        <p:spPr>
          <a:xfrm xmlns:a="http://schemas.openxmlformats.org/drawingml/2006/main">
            <a:off x="590550" y="2333625"/>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FCFAF5"/>
                </a:solidFill>
                <a:latin typeface="Arial"/>
                <a:ea typeface="Arial"/>
                <a:cs typeface="Arial"/>
              </a:defRPr>
            </a:pPr>
            <a:r>
              <a:rPr sz="975" b="1" i="0">
                <a:solidFill>
                  <a:srgbClr val="FCFAF5"/>
                </a:solidFill>
                <a:latin typeface="Arial"/>
                <a:ea typeface="Arial"/>
                <a:cs typeface="Arial"/>
              </a:rPr>
              <a:t>01</a:t>
            </a:r>
          </a:p>
        </p:txBody>
      </p:sp>
      <p:sp>
        <p:nvSpPr>
          <p:cNvPr id="9" name="trust-gate-title-0">
            <a:extLst xmlns:a="http://schemas.openxmlformats.org/drawingml/2006/main">
              <a:ext uri="{FF2B5EF4-FFF2-40B4-BE49-F238E27FC236}">
                <a16:creationId xmlns:a16="http://schemas.microsoft.com/office/drawing/2014/main" id="{6ED91F1F-912F-4649-A18E-2EA7D02FD208}"/>
              </a:ext>
            </a:extLst>
          </p:cNvPr>
          <p:cNvSpPr>
            <a:spLocks xmlns:a="http://schemas.openxmlformats.org/drawingml/2006/main" noGrp="1"/>
          </p:cNvSpPr>
          <p:nvPr/>
        </p:nvSpPr>
        <p:spPr>
          <a:xfrm xmlns:a="http://schemas.openxmlformats.org/drawingml/2006/main">
            <a:off x="1257300" y="22574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CFAF5"/>
                </a:solidFill>
                <a:latin typeface="Arial"/>
                <a:ea typeface="Arial"/>
                <a:cs typeface="Arial"/>
              </a:defRPr>
            </a:pPr>
            <a:r>
              <a:rPr sz="1500" b="1" i="0">
                <a:solidFill>
                  <a:srgbClr val="FCFAF5"/>
                </a:solidFill>
                <a:latin typeface="Arial"/>
                <a:ea typeface="Arial"/>
                <a:cs typeface="Arial"/>
              </a:rPr>
              <a:t>VERIFY DEMO IDENTITY</a:t>
            </a:r>
          </a:p>
        </p:txBody>
      </p:sp>
      <p:sp>
        <p:nvSpPr>
          <p:cNvPr id="10" name="trust-gate-copy-0">
            <a:extLst xmlns:a="http://schemas.openxmlformats.org/drawingml/2006/main">
              <a:ext uri="{FF2B5EF4-FFF2-40B4-BE49-F238E27FC236}">
                <a16:creationId xmlns:a16="http://schemas.microsoft.com/office/drawing/2014/main" id="{8C934F82-E270-459E-81E2-0DE2C62DE5CD}"/>
              </a:ext>
            </a:extLst>
          </p:cNvPr>
          <p:cNvSpPr>
            <a:spLocks xmlns:a="http://schemas.openxmlformats.org/drawingml/2006/main" noGrp="1"/>
          </p:cNvSpPr>
          <p:nvPr/>
        </p:nvSpPr>
        <p:spPr>
          <a:xfrm xmlns:a="http://schemas.openxmlformats.org/drawingml/2006/main">
            <a:off x="1257300" y="260985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i="0">
                <a:solidFill>
                  <a:srgbClr val="DCECE5"/>
                </a:solidFill>
                <a:latin typeface="Arial"/>
                <a:ea typeface="Arial"/>
                <a:cs typeface="Arial"/>
              </a:defRPr>
            </a:pPr>
            <a:r>
              <a:rPr sz="1275" b="0" i="0">
                <a:solidFill>
                  <a:srgbClr val="DCECE5"/>
                </a:solidFill>
                <a:latin typeface="Arial"/>
                <a:ea typeface="Arial"/>
                <a:cs typeface="Arial"/>
              </a:rPr>
              <a:t>Short-lived simulated handoff. No Visa account, password, card number or payment credential.</a:t>
            </a:r>
          </a:p>
        </p:txBody>
      </p:sp>
      <p:sp>
        <p:nvSpPr>
          <p:cNvPr id="11" name="trust-marker-1">
            <a:extLst xmlns:a="http://schemas.openxmlformats.org/drawingml/2006/main">
              <a:ext uri="{FF2B5EF4-FFF2-40B4-BE49-F238E27FC236}">
                <a16:creationId xmlns:a16="http://schemas.microsoft.com/office/drawing/2014/main" id="{B78CC4FE-EA4E-469A-A995-1DAB2993FDDA}"/>
              </a:ext>
            </a:extLst>
          </p:cNvPr>
          <p:cNvSpPr>
            <a:spLocks xmlns:a="http://schemas.openxmlformats.org/drawingml/2006/main" noGrp="1"/>
          </p:cNvSpPr>
          <p:nvPr/>
        </p:nvSpPr>
        <p:spPr>
          <a:xfrm xmlns:a="http://schemas.openxmlformats.org/drawingml/2006/main">
            <a:off x="590550" y="3371850"/>
            <a:ext cx="419100" cy="419100"/>
          </a:xfrm>
          <a:prstGeom xmlns:a="http://schemas.openxmlformats.org/drawingml/2006/main" prst="rect">
            <a:avLst/>
          </a:prstGeom>
          <a:solidFill xmlns:a="http://schemas.openxmlformats.org/drawingml/2006/main">
            <a:srgbClr val="0E4B3B"/>
          </a:solidFill>
          <a:ln xmlns:a="http://schemas.openxmlformats.org/drawingml/2006/main" w="19050">
            <a:solidFill>
              <a:srgbClr val="DCECE5"/>
            </a:solidFill>
            <a:prstDash val="solid"/>
          </a:ln>
        </p:spPr>
      </p:sp>
      <p:sp>
        <p:nvSpPr>
          <p:cNvPr id="12" name="trust-number-1">
            <a:extLst xmlns:a="http://schemas.openxmlformats.org/drawingml/2006/main">
              <a:ext uri="{FF2B5EF4-FFF2-40B4-BE49-F238E27FC236}">
                <a16:creationId xmlns:a16="http://schemas.microsoft.com/office/drawing/2014/main" id="{7C6EA19F-7B5C-4729-9F35-22C768C560A9}"/>
              </a:ext>
            </a:extLst>
          </p:cNvPr>
          <p:cNvSpPr>
            <a:spLocks xmlns:a="http://schemas.openxmlformats.org/drawingml/2006/main" noGrp="1"/>
          </p:cNvSpPr>
          <p:nvPr/>
        </p:nvSpPr>
        <p:spPr>
          <a:xfrm xmlns:a="http://schemas.openxmlformats.org/drawingml/2006/main">
            <a:off x="590550" y="3457575"/>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FCFAF5"/>
                </a:solidFill>
                <a:latin typeface="Arial"/>
                <a:ea typeface="Arial"/>
                <a:cs typeface="Arial"/>
              </a:defRPr>
            </a:pPr>
            <a:r>
              <a:rPr sz="975" b="1" i="0">
                <a:solidFill>
                  <a:srgbClr val="FCFAF5"/>
                </a:solidFill>
                <a:latin typeface="Arial"/>
                <a:ea typeface="Arial"/>
                <a:cs typeface="Arial"/>
              </a:rPr>
              <a:t>02</a:t>
            </a:r>
          </a:p>
        </p:txBody>
      </p:sp>
      <p:sp>
        <p:nvSpPr>
          <p:cNvPr id="13" name="trust-gate-title-1">
            <a:extLst xmlns:a="http://schemas.openxmlformats.org/drawingml/2006/main">
              <a:ext uri="{FF2B5EF4-FFF2-40B4-BE49-F238E27FC236}">
                <a16:creationId xmlns:a16="http://schemas.microsoft.com/office/drawing/2014/main" id="{D0845D35-C286-4A96-87E7-8C5AB4D4841C}"/>
              </a:ext>
            </a:extLst>
          </p:cNvPr>
          <p:cNvSpPr>
            <a:spLocks xmlns:a="http://schemas.openxmlformats.org/drawingml/2006/main" noGrp="1"/>
          </p:cNvSpPr>
          <p:nvPr/>
        </p:nvSpPr>
        <p:spPr>
          <a:xfrm xmlns:a="http://schemas.openxmlformats.org/drawingml/2006/main">
            <a:off x="1257300" y="338137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CFAF5"/>
                </a:solidFill>
                <a:latin typeface="Arial"/>
                <a:ea typeface="Arial"/>
                <a:cs typeface="Arial"/>
              </a:defRPr>
            </a:pPr>
            <a:r>
              <a:rPr sz="1500" b="1" i="0">
                <a:solidFill>
                  <a:srgbClr val="FCFAF5"/>
                </a:solidFill>
                <a:latin typeface="Arial"/>
                <a:ea typeface="Arial"/>
                <a:cs typeface="Arial"/>
              </a:rPr>
              <a:t>BIND EXACT TERMS</a:t>
            </a:r>
          </a:p>
        </p:txBody>
      </p:sp>
      <p:sp>
        <p:nvSpPr>
          <p:cNvPr id="14" name="trust-gate-copy-1">
            <a:extLst xmlns:a="http://schemas.openxmlformats.org/drawingml/2006/main">
              <a:ext uri="{FF2B5EF4-FFF2-40B4-BE49-F238E27FC236}">
                <a16:creationId xmlns:a16="http://schemas.microsoft.com/office/drawing/2014/main" id="{4D4FC1D1-2FA6-43F1-9806-D097FFF35475}"/>
              </a:ext>
            </a:extLst>
          </p:cNvPr>
          <p:cNvSpPr>
            <a:spLocks xmlns:a="http://schemas.openxmlformats.org/drawingml/2006/main" noGrp="1"/>
          </p:cNvSpPr>
          <p:nvPr/>
        </p:nvSpPr>
        <p:spPr>
          <a:xfrm xmlns:a="http://schemas.openxmlformats.org/drawingml/2006/main">
            <a:off x="1257300" y="37338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i="0">
                <a:solidFill>
                  <a:srgbClr val="DCECE5"/>
                </a:solidFill>
                <a:latin typeface="Arial"/>
                <a:ea typeface="Arial"/>
                <a:cs typeface="Arial"/>
              </a:defRPr>
            </a:pPr>
            <a:r>
              <a:rPr sz="1275" b="0" i="0">
                <a:solidFill>
                  <a:srgbClr val="DCECE5"/>
                </a:solidFill>
                <a:latin typeface="Arial"/>
                <a:ea typeface="Arial"/>
                <a:cs typeface="Arial"/>
              </a:rPr>
              <a:t>Price and stock rechecked. Merchant, seven units, amount, cart version and expiry fixed.</a:t>
            </a:r>
          </a:p>
        </p:txBody>
      </p:sp>
      <p:sp>
        <p:nvSpPr>
          <p:cNvPr id="15" name="trust-marker-2">
            <a:extLst xmlns:a="http://schemas.openxmlformats.org/drawingml/2006/main">
              <a:ext uri="{FF2B5EF4-FFF2-40B4-BE49-F238E27FC236}">
                <a16:creationId xmlns:a16="http://schemas.microsoft.com/office/drawing/2014/main" id="{1B2FCAF5-1164-45A0-B7C4-020A2B34B4A8}"/>
              </a:ext>
            </a:extLst>
          </p:cNvPr>
          <p:cNvSpPr>
            <a:spLocks xmlns:a="http://schemas.openxmlformats.org/drawingml/2006/main" noGrp="1"/>
          </p:cNvSpPr>
          <p:nvPr/>
        </p:nvSpPr>
        <p:spPr>
          <a:xfrm xmlns:a="http://schemas.openxmlformats.org/drawingml/2006/main">
            <a:off x="590550" y="4495800"/>
            <a:ext cx="419100" cy="419100"/>
          </a:xfrm>
          <a:prstGeom xmlns:a="http://schemas.openxmlformats.org/drawingml/2006/main" prst="rect">
            <a:avLst/>
          </a:prstGeom>
          <a:solidFill xmlns:a="http://schemas.openxmlformats.org/drawingml/2006/main">
            <a:srgbClr val="B7F522"/>
          </a:solidFill>
          <a:ln xmlns:a="http://schemas.openxmlformats.org/drawingml/2006/main" w="19050">
            <a:solidFill>
              <a:srgbClr val="B7F522"/>
            </a:solidFill>
            <a:prstDash val="solid"/>
          </a:ln>
        </p:spPr>
      </p:sp>
      <p:sp>
        <p:nvSpPr>
          <p:cNvPr id="16" name="trust-number-2">
            <a:extLst xmlns:a="http://schemas.openxmlformats.org/drawingml/2006/main">
              <a:ext uri="{FF2B5EF4-FFF2-40B4-BE49-F238E27FC236}">
                <a16:creationId xmlns:a16="http://schemas.microsoft.com/office/drawing/2014/main" id="{1A09E65E-5823-4EAE-93F4-7798613523BA}"/>
              </a:ext>
            </a:extLst>
          </p:cNvPr>
          <p:cNvSpPr>
            <a:spLocks xmlns:a="http://schemas.openxmlformats.org/drawingml/2006/main" noGrp="1"/>
          </p:cNvSpPr>
          <p:nvPr/>
        </p:nvSpPr>
        <p:spPr>
          <a:xfrm xmlns:a="http://schemas.openxmlformats.org/drawingml/2006/main">
            <a:off x="590550" y="4581525"/>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1" i="0">
                <a:solidFill>
                  <a:srgbClr val="0A0A0A"/>
                </a:solidFill>
                <a:latin typeface="Arial"/>
                <a:ea typeface="Arial"/>
                <a:cs typeface="Arial"/>
              </a:defRPr>
            </a:pPr>
            <a:r>
              <a:rPr sz="975" b="1" i="0">
                <a:solidFill>
                  <a:srgbClr val="0A0A0A"/>
                </a:solidFill>
                <a:latin typeface="Arial"/>
                <a:ea typeface="Arial"/>
                <a:cs typeface="Arial"/>
              </a:rPr>
              <a:t>03</a:t>
            </a:r>
          </a:p>
        </p:txBody>
      </p:sp>
      <p:sp>
        <p:nvSpPr>
          <p:cNvPr id="17" name="trust-gate-title-2">
            <a:extLst xmlns:a="http://schemas.openxmlformats.org/drawingml/2006/main">
              <a:ext uri="{FF2B5EF4-FFF2-40B4-BE49-F238E27FC236}">
                <a16:creationId xmlns:a16="http://schemas.microsoft.com/office/drawing/2014/main" id="{88706C84-28B5-46B8-8CF5-6649E4DE8BB5}"/>
              </a:ext>
            </a:extLst>
          </p:cNvPr>
          <p:cNvSpPr>
            <a:spLocks xmlns:a="http://schemas.openxmlformats.org/drawingml/2006/main" noGrp="1"/>
          </p:cNvSpPr>
          <p:nvPr/>
        </p:nvSpPr>
        <p:spPr>
          <a:xfrm xmlns:a="http://schemas.openxmlformats.org/drawingml/2006/main">
            <a:off x="1257300" y="45053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B7F522"/>
                </a:solidFill>
                <a:latin typeface="Arial"/>
                <a:ea typeface="Arial"/>
                <a:cs typeface="Arial"/>
              </a:defRPr>
            </a:pPr>
            <a:r>
              <a:rPr sz="1500" b="1" i="0">
                <a:solidFill>
                  <a:srgbClr val="B7F522"/>
                </a:solidFill>
                <a:latin typeface="Arial"/>
                <a:ea typeface="Arial"/>
                <a:cs typeface="Arial"/>
              </a:rPr>
              <a:t>YOU CONFIRM</a:t>
            </a:r>
          </a:p>
        </p:txBody>
      </p:sp>
      <p:sp>
        <p:nvSpPr>
          <p:cNvPr id="18" name="trust-gate-copy-2">
            <a:extLst xmlns:a="http://schemas.openxmlformats.org/drawingml/2006/main">
              <a:ext uri="{FF2B5EF4-FFF2-40B4-BE49-F238E27FC236}">
                <a16:creationId xmlns:a16="http://schemas.microsoft.com/office/drawing/2014/main" id="{2AF0E318-C72F-405E-9539-D98FD6514DEC}"/>
              </a:ext>
            </a:extLst>
          </p:cNvPr>
          <p:cNvSpPr>
            <a:spLocks xmlns:a="http://schemas.openxmlformats.org/drawingml/2006/main" noGrp="1"/>
          </p:cNvSpPr>
          <p:nvPr/>
        </p:nvSpPr>
        <p:spPr>
          <a:xfrm xmlns:a="http://schemas.openxmlformats.org/drawingml/2006/main">
            <a:off x="1257300" y="485775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i="0">
                <a:solidFill>
                  <a:srgbClr val="DCECE5"/>
                </a:solidFill>
                <a:latin typeface="Arial"/>
                <a:ea typeface="Arial"/>
                <a:cs typeface="Arial"/>
              </a:defRPr>
            </a:pPr>
            <a:r>
              <a:rPr sz="1275" b="0" i="0">
                <a:solidFill>
                  <a:srgbClr val="DCECE5"/>
                </a:solidFill>
                <a:latin typeface="Arial"/>
                <a:ea typeface="Arial"/>
                <a:cs typeface="Arial"/>
              </a:rPr>
              <a:t>One direct click consumes the private nonce. Only then can the simulated Visa result appear.</a:t>
            </a:r>
          </a:p>
        </p:txBody>
      </p:sp>
      <p:sp>
        <p:nvSpPr>
          <p:cNvPr id="19" name="trust-shot-frame">
            <a:extLst xmlns:a="http://schemas.openxmlformats.org/drawingml/2006/main">
              <a:ext uri="{FF2B5EF4-FFF2-40B4-BE49-F238E27FC236}">
                <a16:creationId xmlns:a16="http://schemas.microsoft.com/office/drawing/2014/main" id="{1D5F7314-B8D8-4F8A-A50D-573A87B1B252}"/>
              </a:ext>
            </a:extLst>
          </p:cNvPr>
          <p:cNvSpPr>
            <a:spLocks xmlns:a="http://schemas.openxmlformats.org/drawingml/2006/main" noGrp="1"/>
          </p:cNvSpPr>
          <p:nvPr/>
        </p:nvSpPr>
        <p:spPr>
          <a:xfrm xmlns:a="http://schemas.openxmlformats.org/drawingml/2006/main">
            <a:off x="5981700" y="2152650"/>
            <a:ext cx="5619750" cy="4000500"/>
          </a:xfrm>
          <a:prstGeom xmlns:a="http://schemas.openxmlformats.org/drawingml/2006/main" prst="rect">
            <a:avLst/>
          </a:prstGeom>
          <a:solidFill xmlns:a="http://schemas.openxmlformats.org/drawingml/2006/main">
            <a:srgbClr val="FCFAF5"/>
          </a:solidFill>
          <a:ln xmlns:a="http://schemas.openxmlformats.org/drawingml/2006/main" w="9525">
            <a:solidFill>
              <a:srgbClr val="DCECE5"/>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17700de275524a00"/>
          <a:stretch xmlns:a="http://schemas.openxmlformats.org/drawingml/2006/main"/>
        </p:blipFill>
        <p:spPr>
          <a:xfrm xmlns:a="http://schemas.openxmlformats.org/drawingml/2006/main">
            <a:off x="6927215" y="2286000"/>
            <a:ext cx="3728720" cy="3733800"/>
          </a:xfrm>
          <a:prstGeom xmlns:a="http://schemas.openxmlformats.org/drawingml/2006/main" prst="rect">
            <a:avLst/>
          </a:prstGeom>
        </p:spPr>
      </p:pic>
      <p:sp>
        <p:nvSpPr>
          <p:cNvPr id="21" name="trust-boundary">
            <a:extLst xmlns:a="http://schemas.openxmlformats.org/drawingml/2006/main">
              <a:ext uri="{FF2B5EF4-FFF2-40B4-BE49-F238E27FC236}">
                <a16:creationId xmlns:a16="http://schemas.microsoft.com/office/drawing/2014/main" id="{4E0418CD-39F9-4555-B915-1C86320FA120}"/>
              </a:ext>
            </a:extLst>
          </p:cNvPr>
          <p:cNvSpPr>
            <a:spLocks xmlns:a="http://schemas.openxmlformats.org/drawingml/2006/main" noGrp="1"/>
          </p:cNvSpPr>
          <p:nvPr/>
        </p:nvSpPr>
        <p:spPr>
          <a:xfrm xmlns:a="http://schemas.openxmlformats.org/drawingml/2006/main">
            <a:off x="6629400" y="6257925"/>
            <a:ext cx="4972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1" i="0">
                <a:solidFill>
                  <a:srgbClr val="B7F522"/>
                </a:solidFill>
                <a:latin typeface="Arial"/>
                <a:ea typeface="Arial"/>
                <a:cs typeface="Arial"/>
              </a:defRPr>
            </a:pPr>
            <a:r>
              <a:rPr sz="900" b="1" i="0">
                <a:solidFill>
                  <a:srgbClr val="B7F522"/>
                </a:solidFill>
                <a:latin typeface="Arial"/>
                <a:ea typeface="Arial"/>
                <a:cs typeface="Arial"/>
              </a:rPr>
              <a:t>DEMO IDENTITY + SIMULATED VISA  ·  NO LIVE CHARGE</a:t>
            </a:r>
          </a:p>
        </p:txBody>
      </p:sp>
    </p:spTree>
    <p:extLst>
      <p:ext uri="{BB962C8B-B14F-4D97-AF65-F5344CB8AC3E}">
        <p14:creationId xmlns:p14="http://schemas.microsoft.com/office/powerpoint/2010/main" val="2006949413"/>
      </p:ext>
    </p:extLst>
  </p:cSld>
</p:sld>
</file>

<file path=ppt/slides/slide9.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brand-9">
            <a:extLst xmlns:a="http://schemas.openxmlformats.org/drawingml/2006/main">
              <a:ext uri="{FF2B5EF4-FFF2-40B4-BE49-F238E27FC236}">
                <a16:creationId xmlns:a16="http://schemas.microsoft.com/office/drawing/2014/main" id="{D0A3809F-3F44-4CCD-B19F-C01B6A0F3590}"/>
              </a:ext>
            </a:extLst>
          </p:cNvPr>
          <p:cNvSpPr>
            <a:spLocks xmlns:a="http://schemas.openxmlformats.org/drawingml/2006/main" noGrp="1"/>
          </p:cNvSpPr>
          <p:nvPr/>
        </p:nvSpPr>
        <p:spPr>
          <a:xfrm xmlns:a="http://schemas.openxmlformats.org/drawingml/2006/main">
            <a:off x="590550" y="323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1" i="0">
                <a:solidFill>
                  <a:srgbClr val="0E4B3B"/>
                </a:solidFill>
                <a:latin typeface="Arial"/>
                <a:ea typeface="Arial"/>
                <a:cs typeface="Arial"/>
              </a:defRPr>
            </a:pPr>
            <a:r>
              <a:rPr sz="1125" b="1" i="0">
                <a:solidFill>
                  <a:srgbClr val="0E4B3B"/>
                </a:solidFill>
                <a:latin typeface="Arial"/>
                <a:ea typeface="Arial"/>
                <a:cs typeface="Arial"/>
              </a:rPr>
              <a:t>WOVEN</a:t>
            </a:r>
          </a:p>
        </p:txBody>
      </p:sp>
      <p:sp>
        <p:nvSpPr>
          <p:cNvPr id="2" name="brand-origin-9">
            <a:extLst xmlns:a="http://schemas.openxmlformats.org/drawingml/2006/main">
              <a:ext uri="{FF2B5EF4-FFF2-40B4-BE49-F238E27FC236}">
                <a16:creationId xmlns:a16="http://schemas.microsoft.com/office/drawing/2014/main" id="{B0B4A86A-315F-4FC9-9129-CD04F98F9CDC}"/>
              </a:ext>
            </a:extLst>
          </p:cNvPr>
          <p:cNvSpPr>
            <a:spLocks xmlns:a="http://schemas.openxmlformats.org/drawingml/2006/main" noGrp="1"/>
          </p:cNvSpPr>
          <p:nvPr/>
        </p:nvSpPr>
        <p:spPr>
          <a:xfrm xmlns:a="http://schemas.openxmlformats.org/drawingml/2006/main">
            <a:off x="2047875" y="400050"/>
            <a:ext cx="66675" cy="66675"/>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3" name="page-9">
            <a:extLst xmlns:a="http://schemas.openxmlformats.org/drawingml/2006/main">
              <a:ext uri="{FF2B5EF4-FFF2-40B4-BE49-F238E27FC236}">
                <a16:creationId xmlns:a16="http://schemas.microsoft.com/office/drawing/2014/main" id="{739682D1-C41A-46EA-9494-8FF58CEEF586}"/>
              </a:ext>
            </a:extLst>
          </p:cNvPr>
          <p:cNvSpPr>
            <a:spLocks xmlns:a="http://schemas.openxmlformats.org/drawingml/2006/main" noGrp="1"/>
          </p:cNvSpPr>
          <p:nvPr/>
        </p:nvSpPr>
        <p:spPr>
          <a:xfrm xmlns:a="http://schemas.openxmlformats.org/drawingml/2006/main">
            <a:off x="10744200" y="3429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00" b="0" i="0">
                <a:solidFill>
                  <a:srgbClr val="6D7974"/>
                </a:solidFill>
                <a:latin typeface="Arial"/>
                <a:ea typeface="Arial"/>
                <a:cs typeface="Arial"/>
              </a:defRPr>
            </a:pPr>
            <a:r>
              <a:rPr sz="900" b="0" i="0">
                <a:solidFill>
                  <a:srgbClr val="6D7974"/>
                </a:solidFill>
                <a:latin typeface="Arial"/>
                <a:ea typeface="Arial"/>
                <a:cs typeface="Arial"/>
              </a:rPr>
              <a:t>09 / 10</a:t>
            </a:r>
          </a:p>
        </p:txBody>
      </p:sp>
      <p:sp>
        <p:nvSpPr>
          <p:cNvPr id="4" name="merchant-title">
            <a:extLst xmlns:a="http://schemas.openxmlformats.org/drawingml/2006/main">
              <a:ext uri="{FF2B5EF4-FFF2-40B4-BE49-F238E27FC236}">
                <a16:creationId xmlns:a16="http://schemas.microsoft.com/office/drawing/2014/main" id="{D6A09207-8B71-4DD7-9ED4-6A977572F2F9}"/>
              </a:ext>
            </a:extLst>
          </p:cNvPr>
          <p:cNvSpPr>
            <a:spLocks xmlns:a="http://schemas.openxmlformats.org/drawingml/2006/main" noGrp="1"/>
          </p:cNvSpPr>
          <p:nvPr/>
        </p:nvSpPr>
        <p:spPr>
          <a:xfrm xmlns:a="http://schemas.openxmlformats.org/drawingml/2006/main">
            <a:off x="590550" y="800100"/>
            <a:ext cx="1057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150" b="1" i="0">
                <a:solidFill>
                  <a:srgbClr val="0E4B3B"/>
                </a:solidFill>
                <a:latin typeface="Arial"/>
                <a:ea typeface="Arial"/>
                <a:cs typeface="Arial"/>
              </a:defRPr>
            </a:pPr>
            <a:r>
              <a:rPr sz="3150" b="1" i="0">
                <a:solidFill>
                  <a:srgbClr val="0E4B3B"/>
                </a:solidFill>
                <a:latin typeface="Arial"/>
                <a:ea typeface="Arial"/>
                <a:cs typeface="Arial"/>
              </a:rPr>
              <a:t>Merchants control what the AI can sell.</a:t>
            </a:r>
          </a:p>
        </p:txBody>
      </p:sp>
      <p:sp>
        <p:nvSpPr>
          <p:cNvPr id="5" name="merchant-intro">
            <a:extLst xmlns:a="http://schemas.openxmlformats.org/drawingml/2006/main">
              <a:ext uri="{FF2B5EF4-FFF2-40B4-BE49-F238E27FC236}">
                <a16:creationId xmlns:a16="http://schemas.microsoft.com/office/drawing/2014/main" id="{64C4E792-DEE4-441B-9FD5-B0B64FDE4D22}"/>
              </a:ext>
            </a:extLst>
          </p:cNvPr>
          <p:cNvSpPr>
            <a:spLocks xmlns:a="http://schemas.openxmlformats.org/drawingml/2006/main" noGrp="1"/>
          </p:cNvSpPr>
          <p:nvPr/>
        </p:nvSpPr>
        <p:spPr>
          <a:xfrm xmlns:a="http://schemas.openxmlformats.org/drawingml/2006/main">
            <a:off x="590550" y="15811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725" b="0" i="0">
                <a:solidFill>
                  <a:srgbClr val="6D7974"/>
                </a:solidFill>
                <a:latin typeface="Arial"/>
                <a:ea typeface="Arial"/>
                <a:cs typeface="Arial"/>
              </a:defRPr>
            </a:pPr>
            <a:r>
              <a:rPr sz="1725" b="0" i="0">
                <a:solidFill>
                  <a:srgbClr val="6D7974"/>
                </a:solidFill>
                <a:latin typeface="Arial"/>
                <a:ea typeface="Arial"/>
                <a:cs typeface="Arial"/>
              </a:rPr>
              <a:t>One desk makes the failure paths visible on stage.</a:t>
            </a:r>
          </a:p>
        </p:txBody>
      </p:sp>
      <p:sp>
        <p:nvSpPr>
          <p:cNvPr id="6" name="merchant-control-title-0">
            <a:extLst xmlns:a="http://schemas.openxmlformats.org/drawingml/2006/main">
              <a:ext uri="{FF2B5EF4-FFF2-40B4-BE49-F238E27FC236}">
                <a16:creationId xmlns:a16="http://schemas.microsoft.com/office/drawing/2014/main" id="{A932B88F-0DAB-41A8-802A-A0D7E6C1D852}"/>
              </a:ext>
            </a:extLst>
          </p:cNvPr>
          <p:cNvSpPr>
            <a:spLocks xmlns:a="http://schemas.openxmlformats.org/drawingml/2006/main" noGrp="1"/>
          </p:cNvSpPr>
          <p:nvPr/>
        </p:nvSpPr>
        <p:spPr>
          <a:xfrm xmlns:a="http://schemas.openxmlformats.org/drawingml/2006/main">
            <a:off x="590550" y="23241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1" i="0">
                <a:solidFill>
                  <a:srgbClr val="0E4B3B"/>
                </a:solidFill>
                <a:latin typeface="Arial"/>
                <a:ea typeface="Arial"/>
                <a:cs typeface="Arial"/>
              </a:defRPr>
            </a:pPr>
            <a:r>
              <a:rPr sz="1650" b="1" i="0">
                <a:solidFill>
                  <a:srgbClr val="0E4B3B"/>
                </a:solidFill>
                <a:latin typeface="Arial"/>
                <a:ea typeface="Arial"/>
                <a:cs typeface="Arial"/>
              </a:rPr>
              <a:t>Stockout</a:t>
            </a:r>
          </a:p>
        </p:txBody>
      </p:sp>
      <p:sp>
        <p:nvSpPr>
          <p:cNvPr id="7" name="merchant-control-copy-0">
            <a:extLst xmlns:a="http://schemas.openxmlformats.org/drawingml/2006/main">
              <a:ext uri="{FF2B5EF4-FFF2-40B4-BE49-F238E27FC236}">
                <a16:creationId xmlns:a16="http://schemas.microsoft.com/office/drawing/2014/main" id="{27F197E8-C29D-4F51-9C65-FA6149E85175}"/>
              </a:ext>
            </a:extLst>
          </p:cNvPr>
          <p:cNvSpPr>
            <a:spLocks xmlns:a="http://schemas.openxmlformats.org/drawingml/2006/main" noGrp="1"/>
          </p:cNvSpPr>
          <p:nvPr/>
        </p:nvSpPr>
        <p:spPr>
          <a:xfrm xmlns:a="http://schemas.openxmlformats.org/drawingml/2006/main">
            <a:off x="590550" y="2647950"/>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0A0A0A"/>
                </a:solidFill>
                <a:latin typeface="Arial"/>
                <a:ea typeface="Arial"/>
                <a:cs typeface="Arial"/>
              </a:defRPr>
            </a:pPr>
            <a:r>
              <a:rPr sz="1350" b="0" i="0">
                <a:solidFill>
                  <a:srgbClr val="0A0A0A"/>
                </a:solidFill>
                <a:latin typeface="Arial"/>
                <a:ea typeface="Arial"/>
                <a:cs typeface="Arial"/>
              </a:rPr>
              <a:t>The top rainproof tent disappears.</a:t>
            </a:r>
          </a:p>
        </p:txBody>
      </p:sp>
      <p:sp>
        <p:nvSpPr>
          <p:cNvPr id="8" name="merchant-control-title-1">
            <a:extLst xmlns:a="http://schemas.openxmlformats.org/drawingml/2006/main">
              <a:ext uri="{FF2B5EF4-FFF2-40B4-BE49-F238E27FC236}">
                <a16:creationId xmlns:a16="http://schemas.microsoft.com/office/drawing/2014/main" id="{DB279D05-0156-4534-A99F-E8342D0F1BE7}"/>
              </a:ext>
            </a:extLst>
          </p:cNvPr>
          <p:cNvSpPr>
            <a:spLocks xmlns:a="http://schemas.openxmlformats.org/drawingml/2006/main" noGrp="1"/>
          </p:cNvSpPr>
          <p:nvPr/>
        </p:nvSpPr>
        <p:spPr>
          <a:xfrm xmlns:a="http://schemas.openxmlformats.org/drawingml/2006/main">
            <a:off x="590550" y="31242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1" i="0">
                <a:solidFill>
                  <a:srgbClr val="0E4B3B"/>
                </a:solidFill>
                <a:latin typeface="Arial"/>
                <a:ea typeface="Arial"/>
                <a:cs typeface="Arial"/>
              </a:defRPr>
            </a:pPr>
            <a:r>
              <a:rPr sz="1650" b="1" i="0">
                <a:solidFill>
                  <a:srgbClr val="0E4B3B"/>
                </a:solidFill>
                <a:latin typeface="Arial"/>
                <a:ea typeface="Arial"/>
                <a:cs typeface="Arial"/>
              </a:rPr>
              <a:t>Price change</a:t>
            </a:r>
          </a:p>
        </p:txBody>
      </p:sp>
      <p:sp>
        <p:nvSpPr>
          <p:cNvPr id="9" name="merchant-control-copy-1">
            <a:extLst xmlns:a="http://schemas.openxmlformats.org/drawingml/2006/main">
              <a:ext uri="{FF2B5EF4-FFF2-40B4-BE49-F238E27FC236}">
                <a16:creationId xmlns:a16="http://schemas.microsoft.com/office/drawing/2014/main" id="{0F0BDC81-E5EC-40EE-9284-083C77874AA2}"/>
              </a:ext>
            </a:extLst>
          </p:cNvPr>
          <p:cNvSpPr>
            <a:spLocks xmlns:a="http://schemas.openxmlformats.org/drawingml/2006/main" noGrp="1"/>
          </p:cNvSpPr>
          <p:nvPr/>
        </p:nvSpPr>
        <p:spPr>
          <a:xfrm xmlns:a="http://schemas.openxmlformats.org/drawingml/2006/main">
            <a:off x="590550" y="3448050"/>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0A0A0A"/>
                </a:solidFill>
                <a:latin typeface="Arial"/>
                <a:ea typeface="Arial"/>
                <a:cs typeface="Arial"/>
              </a:defRPr>
            </a:pPr>
            <a:r>
              <a:rPr sz="1350" b="0" i="0">
                <a:solidFill>
                  <a:srgbClr val="0A0A0A"/>
                </a:solidFill>
                <a:latin typeface="Arial"/>
                <a:ea typeface="Arial"/>
                <a:cs typeface="Arial"/>
              </a:rPr>
              <a:t>The old exact preview becomes invalid.</a:t>
            </a:r>
          </a:p>
        </p:txBody>
      </p:sp>
      <p:sp>
        <p:nvSpPr>
          <p:cNvPr id="10" name="merchant-control-title-2">
            <a:extLst xmlns:a="http://schemas.openxmlformats.org/drawingml/2006/main">
              <a:ext uri="{FF2B5EF4-FFF2-40B4-BE49-F238E27FC236}">
                <a16:creationId xmlns:a16="http://schemas.microsoft.com/office/drawing/2014/main" id="{307EAAA0-8BA9-47DE-BDA2-6D5AF6FB1FD3}"/>
              </a:ext>
            </a:extLst>
          </p:cNvPr>
          <p:cNvSpPr>
            <a:spLocks xmlns:a="http://schemas.openxmlformats.org/drawingml/2006/main" noGrp="1"/>
          </p:cNvSpPr>
          <p:nvPr/>
        </p:nvSpPr>
        <p:spPr>
          <a:xfrm xmlns:a="http://schemas.openxmlformats.org/drawingml/2006/main">
            <a:off x="590550" y="39243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1" i="0">
                <a:solidFill>
                  <a:srgbClr val="0E4B3B"/>
                </a:solidFill>
                <a:latin typeface="Arial"/>
                <a:ea typeface="Arial"/>
                <a:cs typeface="Arial"/>
              </a:defRPr>
            </a:pPr>
            <a:r>
              <a:rPr sz="1650" b="1" i="0">
                <a:solidFill>
                  <a:srgbClr val="0E4B3B"/>
                </a:solidFill>
                <a:latin typeface="Arial"/>
                <a:ea typeface="Arial"/>
                <a:cs typeface="Arial"/>
              </a:rPr>
              <a:t>Authorization decline</a:t>
            </a:r>
          </a:p>
        </p:txBody>
      </p:sp>
      <p:sp>
        <p:nvSpPr>
          <p:cNvPr id="11" name="merchant-control-copy-2">
            <a:extLst xmlns:a="http://schemas.openxmlformats.org/drawingml/2006/main">
              <a:ext uri="{FF2B5EF4-FFF2-40B4-BE49-F238E27FC236}">
                <a16:creationId xmlns:a16="http://schemas.microsoft.com/office/drawing/2014/main" id="{ADE79A39-197F-4C26-9719-F710940A3FC1}"/>
              </a:ext>
            </a:extLst>
          </p:cNvPr>
          <p:cNvSpPr>
            <a:spLocks xmlns:a="http://schemas.openxmlformats.org/drawingml/2006/main" noGrp="1"/>
          </p:cNvSpPr>
          <p:nvPr/>
        </p:nvSpPr>
        <p:spPr>
          <a:xfrm xmlns:a="http://schemas.openxmlformats.org/drawingml/2006/main">
            <a:off x="590550" y="4248150"/>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0A0A0A"/>
                </a:solidFill>
                <a:latin typeface="Arial"/>
                <a:ea typeface="Arial"/>
                <a:cs typeface="Arial"/>
              </a:defRPr>
            </a:pPr>
            <a:r>
              <a:rPr sz="1350" b="0" i="0">
                <a:solidFill>
                  <a:srgbClr val="0A0A0A"/>
                </a:solidFill>
                <a:latin typeface="Arial"/>
                <a:ea typeface="Arial"/>
                <a:cs typeface="Arial"/>
              </a:rPr>
              <a:t>No confirmed order is created.</a:t>
            </a:r>
          </a:p>
        </p:txBody>
      </p:sp>
      <p:sp>
        <p:nvSpPr>
          <p:cNvPr id="12" name="merchant-control-title-3">
            <a:extLst xmlns:a="http://schemas.openxmlformats.org/drawingml/2006/main">
              <a:ext uri="{FF2B5EF4-FFF2-40B4-BE49-F238E27FC236}">
                <a16:creationId xmlns:a16="http://schemas.microsoft.com/office/drawing/2014/main" id="{4DF8D60B-CEF9-495C-8241-1E44C9E264AD}"/>
              </a:ext>
            </a:extLst>
          </p:cNvPr>
          <p:cNvSpPr>
            <a:spLocks xmlns:a="http://schemas.openxmlformats.org/drawingml/2006/main" noGrp="1"/>
          </p:cNvSpPr>
          <p:nvPr/>
        </p:nvSpPr>
        <p:spPr>
          <a:xfrm xmlns:a="http://schemas.openxmlformats.org/drawingml/2006/main">
            <a:off x="590550" y="47244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1" i="0">
                <a:solidFill>
                  <a:srgbClr val="0E4B3B"/>
                </a:solidFill>
                <a:latin typeface="Arial"/>
                <a:ea typeface="Arial"/>
                <a:cs typeface="Arial"/>
              </a:defRPr>
            </a:pPr>
            <a:r>
              <a:rPr sz="1650" b="1" i="0">
                <a:solidFill>
                  <a:srgbClr val="0E4B3B"/>
                </a:solidFill>
                <a:latin typeface="Arial"/>
                <a:ea typeface="Arial"/>
                <a:cs typeface="Arial"/>
              </a:rPr>
              <a:t>Order failure</a:t>
            </a:r>
          </a:p>
        </p:txBody>
      </p:sp>
      <p:sp>
        <p:nvSpPr>
          <p:cNvPr id="13" name="merchant-control-copy-3">
            <a:extLst xmlns:a="http://schemas.openxmlformats.org/drawingml/2006/main">
              <a:ext uri="{FF2B5EF4-FFF2-40B4-BE49-F238E27FC236}">
                <a16:creationId xmlns:a16="http://schemas.microsoft.com/office/drawing/2014/main" id="{E646031F-6571-4292-A8B1-53D273A46B9F}"/>
              </a:ext>
            </a:extLst>
          </p:cNvPr>
          <p:cNvSpPr>
            <a:spLocks xmlns:a="http://schemas.openxmlformats.org/drawingml/2006/main" noGrp="1"/>
          </p:cNvSpPr>
          <p:nvPr/>
        </p:nvSpPr>
        <p:spPr>
          <a:xfrm xmlns:a="http://schemas.openxmlformats.org/drawingml/2006/main">
            <a:off x="590550" y="5048250"/>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0A0A0A"/>
                </a:solidFill>
                <a:latin typeface="Arial"/>
                <a:ea typeface="Arial"/>
                <a:cs typeface="Arial"/>
              </a:defRPr>
            </a:pPr>
            <a:r>
              <a:rPr sz="1350" b="0" i="0">
                <a:solidFill>
                  <a:srgbClr val="0A0A0A"/>
                </a:solidFill>
                <a:latin typeface="Arial"/>
                <a:ea typeface="Arial"/>
                <a:cs typeface="Arial"/>
              </a:rPr>
              <a:t>The simulated authorization reverses.</a:t>
            </a:r>
          </a:p>
        </p:txBody>
      </p:sp>
      <p:sp>
        <p:nvSpPr>
          <p:cNvPr id="14" name="merchant-shot-frame">
            <a:extLst xmlns:a="http://schemas.openxmlformats.org/drawingml/2006/main">
              <a:ext uri="{FF2B5EF4-FFF2-40B4-BE49-F238E27FC236}">
                <a16:creationId xmlns:a16="http://schemas.microsoft.com/office/drawing/2014/main" id="{D9339EEA-7422-4F94-9E95-52D704A8508B}"/>
              </a:ext>
            </a:extLst>
          </p:cNvPr>
          <p:cNvSpPr>
            <a:spLocks xmlns:a="http://schemas.openxmlformats.org/drawingml/2006/main" noGrp="1"/>
          </p:cNvSpPr>
          <p:nvPr/>
        </p:nvSpPr>
        <p:spPr>
          <a:xfrm xmlns:a="http://schemas.openxmlformats.org/drawingml/2006/main">
            <a:off x="6667500" y="1657350"/>
            <a:ext cx="4572000" cy="4914900"/>
          </a:xfrm>
          <a:prstGeom xmlns:a="http://schemas.openxmlformats.org/drawingml/2006/main" prst="rect">
            <a:avLst/>
          </a:prstGeom>
          <a:solidFill xmlns:a="http://schemas.openxmlformats.org/drawingml/2006/main">
            <a:srgbClr val="FCFAF5"/>
          </a:solidFill>
          <a:ln xmlns:a="http://schemas.openxmlformats.org/drawingml/2006/main" w="9525">
            <a:solidFill>
              <a:srgbClr val="DCECE5"/>
            </a:solid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92290309e2f648d4"/>
          <a:stretch xmlns:a="http://schemas.openxmlformats.org/drawingml/2006/main"/>
        </p:blipFill>
        <p:spPr>
          <a:xfrm xmlns:a="http://schemas.openxmlformats.org/drawingml/2006/main">
            <a:off x="6892164" y="1790700"/>
            <a:ext cx="4122673" cy="4648200"/>
          </a:xfrm>
          <a:prstGeom xmlns:a="http://schemas.openxmlformats.org/drawingml/2006/main" prst="rect">
            <a:avLst/>
          </a:prstGeom>
        </p:spPr>
      </p:pic>
      <p:sp>
        <p:nvSpPr>
          <p:cNvPr id="16" name="merchant-proof">
            <a:extLst xmlns:a="http://schemas.openxmlformats.org/drawingml/2006/main">
              <a:ext uri="{FF2B5EF4-FFF2-40B4-BE49-F238E27FC236}">
                <a16:creationId xmlns:a16="http://schemas.microsoft.com/office/drawing/2014/main" id="{9F5D17BB-F2EA-40A1-9165-735275FFB63B}"/>
              </a:ext>
            </a:extLst>
          </p:cNvPr>
          <p:cNvSpPr>
            <a:spLocks xmlns:a="http://schemas.openxmlformats.org/drawingml/2006/main" noGrp="1"/>
          </p:cNvSpPr>
          <p:nvPr/>
        </p:nvSpPr>
        <p:spPr>
          <a:xfrm xmlns:a="http://schemas.openxmlformats.org/drawingml/2006/main">
            <a:off x="590550" y="5857875"/>
            <a:ext cx="514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i="0">
                <a:solidFill>
                  <a:srgbClr val="0E4B3B"/>
                </a:solidFill>
                <a:latin typeface="Arial"/>
                <a:ea typeface="Arial"/>
                <a:cs typeface="Arial"/>
              </a:defRPr>
            </a:pPr>
            <a:r>
              <a:rPr sz="1425" b="1" i="0">
                <a:solidFill>
                  <a:srgbClr val="0E4B3B"/>
                </a:solidFill>
                <a:latin typeface="Arial"/>
                <a:ea typeface="Arial"/>
                <a:cs typeface="Arial"/>
              </a:rPr>
              <a:t>Inventory  ·  Price and stock  ·  Orders  ·  Audit</a:t>
            </a:r>
          </a:p>
        </p:txBody>
      </p:sp>
      <p:sp>
        <p:nvSpPr>
          <p:cNvPr id="17" name="merchant-boundary">
            <a:extLst xmlns:a="http://schemas.openxmlformats.org/drawingml/2006/main">
              <a:ext uri="{FF2B5EF4-FFF2-40B4-BE49-F238E27FC236}">
                <a16:creationId xmlns:a16="http://schemas.microsoft.com/office/drawing/2014/main" id="{75965EB6-AF1B-4085-BFDA-3AB0787196D4}"/>
              </a:ext>
            </a:extLst>
          </p:cNvPr>
          <p:cNvSpPr>
            <a:spLocks xmlns:a="http://schemas.openxmlformats.org/drawingml/2006/main" noGrp="1"/>
          </p:cNvSpPr>
          <p:nvPr/>
        </p:nvSpPr>
        <p:spPr>
          <a:xfrm xmlns:a="http://schemas.openxmlformats.org/drawingml/2006/main">
            <a:off x="590550" y="6257925"/>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i="0">
                <a:solidFill>
                  <a:srgbClr val="B64032"/>
                </a:solidFill>
                <a:latin typeface="Arial"/>
                <a:ea typeface="Arial"/>
                <a:cs typeface="Arial"/>
              </a:defRPr>
            </a:pPr>
            <a:r>
              <a:rPr sz="900" b="1" i="0">
                <a:solidFill>
                  <a:srgbClr val="B64032"/>
                </a:solidFill>
                <a:latin typeface="Arial"/>
                <a:ea typeface="Arial"/>
                <a:cs typeface="Arial"/>
              </a:rPr>
              <a:t>PROTOTYPE MERCHANT DESK</a:t>
            </a:r>
          </a:p>
        </p:txBody>
      </p:sp>
    </p:spTree>
    <p:extLst>
      <p:ext uri="{BB962C8B-B14F-4D97-AF65-F5344CB8AC3E}">
        <p14:creationId xmlns:p14="http://schemas.microsoft.com/office/powerpoint/2010/main" val="879974946"/>
      </p:ext>
    </p:extLst>
  </p:cSld>
</p:sld>
</file>

<file path=ppt/slides/slide10.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close-brand">
            <a:extLst xmlns:a="http://schemas.openxmlformats.org/drawingml/2006/main">
              <a:ext uri="{FF2B5EF4-FFF2-40B4-BE49-F238E27FC236}">
                <a16:creationId xmlns:a16="http://schemas.microsoft.com/office/drawing/2014/main" id="{07ECCFA3-B3CF-4F8F-B155-22496FD1E877}"/>
              </a:ext>
            </a:extLst>
          </p:cNvPr>
          <p:cNvSpPr>
            <a:spLocks xmlns:a="http://schemas.openxmlformats.org/drawingml/2006/main" noGrp="1"/>
          </p:cNvSpPr>
          <p:nvPr/>
        </p:nvSpPr>
        <p:spPr>
          <a:xfrm xmlns:a="http://schemas.openxmlformats.org/drawingml/2006/main">
            <a:off x="685800" y="590550"/>
            <a:ext cx="285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700" b="1" i="0">
                <a:solidFill>
                  <a:srgbClr val="FCFAF5"/>
                </a:solidFill>
                <a:latin typeface="Arial"/>
                <a:ea typeface="Arial"/>
                <a:cs typeface="Arial"/>
              </a:defRPr>
            </a:pPr>
            <a:r>
              <a:rPr sz="2700" b="1" i="0">
                <a:solidFill>
                  <a:srgbClr val="FCFAF5"/>
                </a:solidFill>
                <a:latin typeface="Arial"/>
                <a:ea typeface="Arial"/>
                <a:cs typeface="Arial"/>
              </a:rPr>
              <a:t>WOVEN</a:t>
            </a:r>
          </a:p>
        </p:txBody>
      </p:sp>
      <p:sp>
        <p:nvSpPr>
          <p:cNvPr id="2" name="close-kicker">
            <a:extLst xmlns:a="http://schemas.openxmlformats.org/drawingml/2006/main">
              <a:ext uri="{FF2B5EF4-FFF2-40B4-BE49-F238E27FC236}">
                <a16:creationId xmlns:a16="http://schemas.microsoft.com/office/drawing/2014/main" id="{8406D4D0-3BE8-4BD6-A004-4F017634AF8C}"/>
              </a:ext>
            </a:extLst>
          </p:cNvPr>
          <p:cNvSpPr>
            <a:spLocks xmlns:a="http://schemas.openxmlformats.org/drawingml/2006/main" noGrp="1"/>
          </p:cNvSpPr>
          <p:nvPr/>
        </p:nvSpPr>
        <p:spPr>
          <a:xfrm xmlns:a="http://schemas.openxmlformats.org/drawingml/2006/main">
            <a:off x="704850" y="15240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1" i="0">
                <a:solidFill>
                  <a:srgbClr val="B7F522"/>
                </a:solidFill>
                <a:latin typeface="Arial"/>
                <a:ea typeface="Arial"/>
                <a:cs typeface="Arial"/>
              </a:defRPr>
            </a:pPr>
            <a:r>
              <a:rPr sz="975" b="1" i="0">
                <a:solidFill>
                  <a:srgbClr val="B7F522"/>
                </a:solidFill>
                <a:latin typeface="Arial"/>
                <a:ea typeface="Arial"/>
                <a:cs typeface="Arial"/>
              </a:rPr>
              <a:t>THE REQUEST FINISHES HERE</a:t>
            </a:r>
          </a:p>
        </p:txBody>
      </p:sp>
      <p:sp>
        <p:nvSpPr>
          <p:cNvPr id="3" name="close-stage">
            <a:extLst xmlns:a="http://schemas.openxmlformats.org/drawingml/2006/main">
              <a:ext uri="{FF2B5EF4-FFF2-40B4-BE49-F238E27FC236}">
                <a16:creationId xmlns:a16="http://schemas.microsoft.com/office/drawing/2014/main" id="{FC9E5277-82BC-4014-8690-B6391699BBBD}"/>
              </a:ext>
            </a:extLst>
          </p:cNvPr>
          <p:cNvSpPr>
            <a:spLocks xmlns:a="http://schemas.openxmlformats.org/drawingml/2006/main" noGrp="1"/>
          </p:cNvSpPr>
          <p:nvPr/>
        </p:nvSpPr>
        <p:spPr>
          <a:xfrm xmlns:a="http://schemas.openxmlformats.org/drawingml/2006/main">
            <a:off x="685800" y="2114550"/>
            <a:ext cx="59055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3000"/>
              </a:lnSpc>
              <a:buNone/>
              <a:defRPr sz="4950" b="1" i="0">
                <a:solidFill>
                  <a:srgbClr val="FCFAF5"/>
                </a:solidFill>
                <a:latin typeface="Arial"/>
                <a:ea typeface="Arial"/>
                <a:cs typeface="Arial"/>
              </a:defRPr>
            </a:pPr>
            <a:r>
              <a:rPr sz="4950" b="1" i="0">
                <a:solidFill>
                  <a:srgbClr val="FCFAF5"/>
                </a:solidFill>
                <a:latin typeface="Arial"/>
                <a:ea typeface="Arial"/>
                <a:cs typeface="Arial"/>
              </a:rPr>
              <a:t>Ask once.</a:t>
            </a:r>
          </a:p>
          <a:p xmlns:a="http://schemas.openxmlformats.org/drawingml/2006/main">
            <a:pPr algn="l">
              <a:lnSpc>
                <a:spcPct val="93000"/>
              </a:lnSpc>
              <a:buNone/>
              <a:defRPr sz="4950" b="1" i="0">
                <a:solidFill>
                  <a:srgbClr val="FCFAF5"/>
                </a:solidFill>
                <a:latin typeface="Arial"/>
                <a:ea typeface="Arial"/>
                <a:cs typeface="Arial"/>
              </a:defRPr>
            </a:pPr>
            <a:r>
              <a:rPr sz="4950" b="1" i="0">
                <a:solidFill>
                  <a:srgbClr val="FCFAF5"/>
                </a:solidFill>
                <a:latin typeface="Arial"/>
                <a:ea typeface="Arial"/>
                <a:cs typeface="Arial"/>
              </a:rPr>
              <a:t>Review once.</a:t>
            </a:r>
          </a:p>
          <a:p xmlns:a="http://schemas.openxmlformats.org/drawingml/2006/main">
            <a:pPr algn="l">
              <a:lnSpc>
                <a:spcPct val="93000"/>
              </a:lnSpc>
              <a:buNone/>
              <a:defRPr sz="4950" b="1" i="0">
                <a:solidFill>
                  <a:srgbClr val="FCFAF5"/>
                </a:solidFill>
                <a:latin typeface="Arial"/>
                <a:ea typeface="Arial"/>
                <a:cs typeface="Arial"/>
              </a:defRPr>
            </a:pPr>
            <a:r>
              <a:rPr sz="4950" b="1" i="0">
                <a:solidFill>
                  <a:srgbClr val="FCFAF5"/>
                </a:solidFill>
                <a:latin typeface="Arial"/>
                <a:ea typeface="Arial"/>
                <a:cs typeface="Arial"/>
              </a:rPr>
              <a:t>Confirm once.</a:t>
            </a:r>
          </a:p>
        </p:txBody>
      </p:sp>
      <p:sp>
        <p:nvSpPr>
          <p:cNvPr id="4" name="close-value">
            <a:extLst xmlns:a="http://schemas.openxmlformats.org/drawingml/2006/main">
              <a:ext uri="{FF2B5EF4-FFF2-40B4-BE49-F238E27FC236}">
                <a16:creationId xmlns:a16="http://schemas.microsoft.com/office/drawing/2014/main" id="{CDED6ECD-DB6C-426B-AAAF-B258616AEBAF}"/>
              </a:ext>
            </a:extLst>
          </p:cNvPr>
          <p:cNvSpPr>
            <a:spLocks xmlns:a="http://schemas.openxmlformats.org/drawingml/2006/main" noGrp="1"/>
          </p:cNvSpPr>
          <p:nvPr/>
        </p:nvSpPr>
        <p:spPr>
          <a:xfrm xmlns:a="http://schemas.openxmlformats.org/drawingml/2006/main">
            <a:off x="685800" y="49530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2000"/>
              </a:lnSpc>
              <a:buNone/>
              <a:defRPr sz="1950" b="0" i="0">
                <a:solidFill>
                  <a:srgbClr val="DCECE5"/>
                </a:solidFill>
                <a:latin typeface="Arial"/>
                <a:ea typeface="Arial"/>
                <a:cs typeface="Arial"/>
              </a:defRPr>
            </a:pPr>
            <a:r>
              <a:rPr sz="1950" b="0" i="0">
                <a:solidFill>
                  <a:srgbClr val="DCECE5"/>
                </a:solidFill>
                <a:latin typeface="Arial"/>
                <a:ea typeface="Arial"/>
                <a:cs typeface="Arial"/>
              </a:rPr>
              <a:t>ChatGPT understands the request.</a:t>
            </a:r>
          </a:p>
          <a:p xmlns:a="http://schemas.openxmlformats.org/drawingml/2006/main">
            <a:pPr algn="l">
              <a:lnSpc>
                <a:spcPct val="112000"/>
              </a:lnSpc>
              <a:buNone/>
              <a:defRPr sz="1950" b="0" i="0">
                <a:solidFill>
                  <a:srgbClr val="DCECE5"/>
                </a:solidFill>
                <a:latin typeface="Arial"/>
                <a:ea typeface="Arial"/>
                <a:cs typeface="Arial"/>
              </a:defRPr>
            </a:pPr>
            <a:r>
              <a:rPr sz="1950" b="0" i="0">
                <a:solidFill>
                  <a:srgbClr val="DCECE5"/>
                </a:solidFill>
                <a:latin typeface="Arial"/>
                <a:ea typeface="Arial"/>
                <a:cs typeface="Arial"/>
              </a:rPr>
              <a:t>Woven builds the right cart.</a:t>
            </a:r>
          </a:p>
          <a:p xmlns:a="http://schemas.openxmlformats.org/drawingml/2006/main">
            <a:pPr algn="l">
              <a:lnSpc>
                <a:spcPct val="112000"/>
              </a:lnSpc>
              <a:buNone/>
              <a:defRPr sz="1950" b="0" i="0">
                <a:solidFill>
                  <a:srgbClr val="DCECE5"/>
                </a:solidFill>
                <a:latin typeface="Arial"/>
                <a:ea typeface="Arial"/>
                <a:cs typeface="Arial"/>
              </a:defRPr>
            </a:pPr>
            <a:r>
              <a:rPr sz="1950" b="0" i="0">
                <a:solidFill>
                  <a:srgbClr val="DCECE5"/>
                </a:solidFill>
                <a:latin typeface="Arial"/>
                <a:ea typeface="Arial"/>
                <a:cs typeface="Arial"/>
              </a:rPr>
              <a:t>The user controls authorization.</a:t>
            </a:r>
          </a:p>
        </p:txBody>
      </p:sp>
      <p:sp>
        <p:nvSpPr>
          <p:cNvPr id="5" name="close-route">
            <a:extLst xmlns:a="http://schemas.openxmlformats.org/drawingml/2006/main">
              <a:ext uri="{FF2B5EF4-FFF2-40B4-BE49-F238E27FC236}">
                <a16:creationId xmlns:a16="http://schemas.microsoft.com/office/drawing/2014/main" id="{CF0E529D-E839-4E70-980D-91438CBD6DA6}"/>
              </a:ext>
            </a:extLst>
          </p:cNvPr>
          <p:cNvSpPr>
            <a:spLocks xmlns:a="http://schemas.openxmlformats.org/drawingml/2006/main" noGrp="1"/>
          </p:cNvSpPr>
          <p:nvPr/>
        </p:nvSpPr>
        <p:spPr>
          <a:xfrm xmlns:a="http://schemas.openxmlformats.org/drawingml/2006/main">
            <a:off x="7410450" y="3562350"/>
            <a:ext cx="3333750" cy="38100"/>
          </a:xfrm>
          <a:prstGeom xmlns:a="http://schemas.openxmlformats.org/drawingml/2006/main" prst="rect">
            <a:avLst/>
          </a:prstGeom>
          <a:solidFill xmlns:a="http://schemas.openxmlformats.org/drawingml/2006/main">
            <a:srgbClr val="DCECE5"/>
          </a:solidFill>
          <a:ln xmlns:a="http://schemas.openxmlformats.org/drawingml/2006/main" w="0">
            <a:solidFill>
              <a:srgbClr val="DCECE5"/>
            </a:solidFill>
            <a:prstDash val="solid"/>
          </a:ln>
        </p:spPr>
      </p:sp>
      <p:sp>
        <p:nvSpPr>
          <p:cNvPr id="6" name="close-origin">
            <a:extLst xmlns:a="http://schemas.openxmlformats.org/drawingml/2006/main">
              <a:ext uri="{FF2B5EF4-FFF2-40B4-BE49-F238E27FC236}">
                <a16:creationId xmlns:a16="http://schemas.microsoft.com/office/drawing/2014/main" id="{A4075354-5438-425F-B90D-CCCD6D9DA1E9}"/>
              </a:ext>
            </a:extLst>
          </p:cNvPr>
          <p:cNvSpPr>
            <a:spLocks xmlns:a="http://schemas.openxmlformats.org/drawingml/2006/main" noGrp="1"/>
          </p:cNvSpPr>
          <p:nvPr/>
        </p:nvSpPr>
        <p:spPr>
          <a:xfrm xmlns:a="http://schemas.openxmlformats.org/drawingml/2006/main">
            <a:off x="7334250" y="3448050"/>
            <a:ext cx="266700" cy="266700"/>
          </a:xfrm>
          <a:prstGeom xmlns:a="http://schemas.openxmlformats.org/drawingml/2006/main" prst="rect">
            <a:avLst/>
          </a:prstGeom>
          <a:solidFill xmlns:a="http://schemas.openxmlformats.org/drawingml/2006/main">
            <a:srgbClr val="B7F522"/>
          </a:solidFill>
          <a:ln xmlns:a="http://schemas.openxmlformats.org/drawingml/2006/main" w="0">
            <a:solidFill>
              <a:srgbClr val="B7F522"/>
            </a:solidFill>
            <a:prstDash val="solid"/>
          </a:ln>
        </p:spPr>
      </p:sp>
      <p:sp>
        <p:nvSpPr>
          <p:cNvPr id="7" name="close-destination">
            <a:extLst xmlns:a="http://schemas.openxmlformats.org/drawingml/2006/main">
              <a:ext uri="{FF2B5EF4-FFF2-40B4-BE49-F238E27FC236}">
                <a16:creationId xmlns:a16="http://schemas.microsoft.com/office/drawing/2014/main" id="{F3A68ECE-CB47-41E5-ADCC-6C4008F24B5E}"/>
              </a:ext>
            </a:extLst>
          </p:cNvPr>
          <p:cNvSpPr>
            <a:spLocks xmlns:a="http://schemas.openxmlformats.org/drawingml/2006/main" noGrp="1"/>
          </p:cNvSpPr>
          <p:nvPr/>
        </p:nvSpPr>
        <p:spPr>
          <a:xfrm xmlns:a="http://schemas.openxmlformats.org/drawingml/2006/main">
            <a:off x="10591800" y="3448050"/>
            <a:ext cx="266700" cy="266700"/>
          </a:xfrm>
          <a:prstGeom xmlns:a="http://schemas.openxmlformats.org/drawingml/2006/main" prst="rect">
            <a:avLst/>
          </a:prstGeom>
          <a:solidFill xmlns:a="http://schemas.openxmlformats.org/drawingml/2006/main">
            <a:srgbClr val="1545E8"/>
          </a:solidFill>
          <a:ln xmlns:a="http://schemas.openxmlformats.org/drawingml/2006/main" w="0">
            <a:solidFill>
              <a:srgbClr val="1545E8"/>
            </a:solidFill>
            <a:prstDash val="solid"/>
          </a:ln>
        </p:spPr>
      </p:sp>
      <p:sp>
        <p:nvSpPr>
          <p:cNvPr id="8" name="close-promise">
            <a:extLst xmlns:a="http://schemas.openxmlformats.org/drawingml/2006/main">
              <a:ext uri="{FF2B5EF4-FFF2-40B4-BE49-F238E27FC236}">
                <a16:creationId xmlns:a16="http://schemas.microsoft.com/office/drawing/2014/main" id="{B74FC892-3F7F-4BDC-97E8-423F9DCCD8C1}"/>
              </a:ext>
            </a:extLst>
          </p:cNvPr>
          <p:cNvSpPr>
            <a:spLocks xmlns:a="http://schemas.openxmlformats.org/drawingml/2006/main" noGrp="1"/>
          </p:cNvSpPr>
          <p:nvPr/>
        </p:nvSpPr>
        <p:spPr>
          <a:xfrm xmlns:a="http://schemas.openxmlformats.org/drawingml/2006/main">
            <a:off x="7200900" y="400050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175"/>
          </a:bodyPr>
          <a:lstStyle xmlns:a="http://schemas.openxmlformats.org/drawingml/2006/main"/>
          <a:p xmlns:a="http://schemas.openxmlformats.org/drawingml/2006/main">
            <a:pPr algn="ctr">
              <a:lnSpc>
                <a:spcPct val="100000"/>
              </a:lnSpc>
              <a:buNone/>
              <a:defRPr sz="2550" b="1" i="0">
                <a:solidFill>
                  <a:srgbClr val="FCFAF5"/>
                </a:solidFill>
                <a:latin typeface="Arial"/>
                <a:ea typeface="Arial"/>
                <a:cs typeface="Arial"/>
              </a:defRPr>
            </a:pPr>
            <a:r>
              <a:rPr sz="2550" b="1" i="0">
                <a:solidFill>
                  <a:srgbClr val="FCFAF5"/>
                </a:solidFill>
                <a:latin typeface="Arial"/>
                <a:ea typeface="Arial"/>
                <a:cs typeface="Arial"/>
              </a:rPr>
              <a:t>Everything works together.</a:t>
            </a:r>
          </a:p>
        </p:txBody>
      </p:sp>
      <p:sp>
        <p:nvSpPr>
          <p:cNvPr id="9" name="close-boundary">
            <a:extLst xmlns:a="http://schemas.openxmlformats.org/drawingml/2006/main">
              <a:ext uri="{FF2B5EF4-FFF2-40B4-BE49-F238E27FC236}">
                <a16:creationId xmlns:a16="http://schemas.microsoft.com/office/drawing/2014/main" id="{9B517E85-F5E8-427E-BBE9-6BCA19AB5F0A}"/>
              </a:ext>
            </a:extLst>
          </p:cNvPr>
          <p:cNvSpPr>
            <a:spLocks xmlns:a="http://schemas.openxmlformats.org/drawingml/2006/main" noGrp="1"/>
          </p:cNvSpPr>
          <p:nvPr/>
        </p:nvSpPr>
        <p:spPr>
          <a:xfrm xmlns:a="http://schemas.openxmlformats.org/drawingml/2006/main">
            <a:off x="685800" y="6343650"/>
            <a:ext cx="752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i="0">
                <a:solidFill>
                  <a:srgbClr val="DCECE5"/>
                </a:solidFill>
                <a:latin typeface="Arial"/>
                <a:ea typeface="Arial"/>
                <a:cs typeface="Arial"/>
              </a:defRPr>
            </a:pPr>
            <a:r>
              <a:rPr sz="825" b="1" i="0">
                <a:solidFill>
                  <a:srgbClr val="DCECE5"/>
                </a:solidFill>
                <a:latin typeface="Arial"/>
                <a:ea typeface="Arial"/>
                <a:cs typeface="Arial"/>
              </a:rPr>
              <a:t>SEEDED INVENTORY  ·  SIMULATED IDENTITY  ·  SIMULATED VISA  ·  NO LIVE CHARGE</a:t>
            </a:r>
          </a:p>
        </p:txBody>
      </p:sp>
    </p:spTree>
    <p:extLst>
      <p:ext uri="{BB962C8B-B14F-4D97-AF65-F5344CB8AC3E}">
        <p14:creationId xmlns:p14="http://schemas.microsoft.com/office/powerpoint/2010/main" val="2305202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2026-08-30T04:04:57.0010000Z</dcterms:created>
  <dcterms:modified xsi:type="dcterms:W3CDTF">2026-08-30T04:04:57.0010000Z</dcterms:modified>
</coreProperties>
</file>
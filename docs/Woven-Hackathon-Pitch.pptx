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57ef3a39f64d56" /><Relationship Type="http://schemas.openxmlformats.org/officeDocument/2006/relationships/extended-properties" Target="/docProps/app.xml" Id="Ra69679236c9a4652" /><Relationship Type="http://schemas.openxmlformats.org/officeDocument/2006/relationships/officeDocument" Target="/ppt/presentation.xml" Id="R3fdcd14e9b2c405b" /></Relationships>
</file>

<file path=ppt/presentation.xml><?xml version="1.0" encoding="utf-8"?>
<p:presentation xmlns:p="http://schemas.openxmlformats.org/presentationml/2006/main">
  <p:sldMasterIdLst>
    <p:sldMasterId xmlns:r="http://schemas.openxmlformats.org/officeDocument/2006/relationships" id="2147483648" r:id="Rbd7b917bceef459a"/>
  </p:sldMasterIdLst>
  <p:notesMasterIdLst>
    <p:notesMasterId xmlns:r="http://schemas.openxmlformats.org/officeDocument/2006/relationships" r:id="Reb6cee3a506b43cf"/>
  </p:notesMasterIdLst>
  <p:sldIdLst>
    <p:sldId xmlns:r="http://schemas.openxmlformats.org/officeDocument/2006/relationships" id="256" r:id="R5326ca9495684228"/>
    <p:sldId xmlns:r="http://schemas.openxmlformats.org/officeDocument/2006/relationships" id="257" r:id="R7129933df5f84180"/>
    <p:sldId xmlns:r="http://schemas.openxmlformats.org/officeDocument/2006/relationships" id="258" r:id="Ree048974157b4473"/>
    <p:sldId xmlns:r="http://schemas.openxmlformats.org/officeDocument/2006/relationships" id="259" r:id="Rfbc0c85f698f4fa6"/>
    <p:sldId xmlns:r="http://schemas.openxmlformats.org/officeDocument/2006/relationships" id="260" r:id="R4aba994753af4d4e"/>
    <p:sldId xmlns:r="http://schemas.openxmlformats.org/officeDocument/2006/relationships" id="261" r:id="R1293d76b0bb24c15"/>
    <p:sldId xmlns:r="http://schemas.openxmlformats.org/officeDocument/2006/relationships" id="262" r:id="R7b5ce42f81a54f6f"/>
    <p:sldId xmlns:r="http://schemas.openxmlformats.org/officeDocument/2006/relationships" id="263" r:id="R42e87175a6a34fd9"/>
    <p:sldId xmlns:r="http://schemas.openxmlformats.org/officeDocument/2006/relationships" id="264" r:id="R37dfb12e7e61470d"/>
    <p:sldId xmlns:r="http://schemas.openxmlformats.org/officeDocument/2006/relationships" id="267" r:id="Rab12cd34ef567801"/>
    <p:sldId xmlns:r="http://schemas.openxmlformats.org/officeDocument/2006/relationships" id="265" r:id="R43bbd7ed52b947d6"/>
    <p:sldId xmlns:r="http://schemas.openxmlformats.org/officeDocument/2006/relationships" id="266" r:id="R6026b644a94e4a7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42bf00387c43fe" /><Relationship Type="http://schemas.openxmlformats.org/officeDocument/2006/relationships/slideMaster" Target="/ppt/slideMasters/slideMaster1.xml" Id="Rbd7b917bceef459a" /><Relationship Type="http://schemas.openxmlformats.org/officeDocument/2006/relationships/notesMaster" Target="/ppt/notesMasters/notesMaster1.xml" Id="Reb6cee3a506b43cf" /><Relationship Type="http://schemas.openxmlformats.org/officeDocument/2006/relationships/presProps" Target="/ppt/presProps.xml" Id="R484b7f859871409a" /><Relationship Type="http://schemas.openxmlformats.org/officeDocument/2006/relationships/tableStyles" Target="/ppt/tableStyles.xml" Id="Rdea7382bb3ce4922" /><Relationship Type="http://schemas.openxmlformats.org/officeDocument/2006/relationships/slide" Target="/ppt/slides/slide1.xml" Id="R5326ca9495684228" /><Relationship Type="http://schemas.openxmlformats.org/officeDocument/2006/relationships/slide" Target="/ppt/slides/slide2.xml" Id="R7129933df5f84180" /><Relationship Type="http://schemas.openxmlformats.org/officeDocument/2006/relationships/slide" Target="/ppt/slides/slide3.xml" Id="Ree048974157b4473" /><Relationship Type="http://schemas.openxmlformats.org/officeDocument/2006/relationships/slide" Target="/ppt/slides/slide4.xml" Id="Rfbc0c85f698f4fa6" /><Relationship Type="http://schemas.openxmlformats.org/officeDocument/2006/relationships/slide" Target="/ppt/slides/slide5.xml" Id="R4aba994753af4d4e" /><Relationship Type="http://schemas.openxmlformats.org/officeDocument/2006/relationships/slide" Target="/ppt/slides/slide6.xml" Id="R1293d76b0bb24c15" /><Relationship Type="http://schemas.openxmlformats.org/officeDocument/2006/relationships/slide" Target="/ppt/slides/slide7.xml" Id="R7b5ce42f81a54f6f" /><Relationship Type="http://schemas.openxmlformats.org/officeDocument/2006/relationships/slide" Target="/ppt/slides/slide8.xml" Id="R42e87175a6a34fd9" /><Relationship Type="http://schemas.openxmlformats.org/officeDocument/2006/relationships/slide" Target="/ppt/slides/slide9.xml" Id="R37dfb12e7e61470d" /><Relationship Type="http://schemas.openxmlformats.org/officeDocument/2006/relationships/slide" Target="/ppt/slides/slide10.xml" Id="R43bbd7ed52b947d6" /><Relationship Type="http://schemas.openxmlformats.org/officeDocument/2006/relationships/slide" Target="/ppt/slides/slide12.xml" Id="Rab12cd34ef567801" /><Relationship Type="http://schemas.openxmlformats.org/officeDocument/2006/relationships/slide" Target="/ppt/slides/slide11.xml" Id="R6026b644a94e4a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aeaa9e17bc4f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1d0119fea24d83" /><Relationship Type="http://schemas.openxmlformats.org/officeDocument/2006/relationships/notesMaster" Target="/ppt/notesMasters/notesMaster1.xml" Id="Rfade9c2f514944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8b3128746247f1" /><Relationship Type="http://schemas.openxmlformats.org/officeDocument/2006/relationships/notesMaster" Target="/ppt/notesMasters/notesMaster1.xml" Id="R7e1534cca796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ed7ebc76ee46ca" /><Relationship Type="http://schemas.openxmlformats.org/officeDocument/2006/relationships/notesMaster" Target="/ppt/notesMasters/notesMaster1.xml" Id="R9b75f042d01844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bd50b3f1414995" /><Relationship Type="http://schemas.openxmlformats.org/officeDocument/2006/relationships/notesMaster" Target="/ppt/notesMasters/notesMaster1.xml" Id="R1b5e064cbd7f41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e2522f83664b9d" /><Relationship Type="http://schemas.openxmlformats.org/officeDocument/2006/relationships/notesMaster" Target="/ppt/notesMasters/notesMaster1.xml" Id="R4322c2a762ff45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68f65ea3a340c7" /><Relationship Type="http://schemas.openxmlformats.org/officeDocument/2006/relationships/notesMaster" Target="/ppt/notesMasters/notesMaster1.xml" Id="R2d05c65e800d40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ff676be38a431a" /><Relationship Type="http://schemas.openxmlformats.org/officeDocument/2006/relationships/notesMaster" Target="/ppt/notesMasters/notesMaster1.xml" Id="Re6ac309a4b1a42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44f92011e94ac7" /><Relationship Type="http://schemas.openxmlformats.org/officeDocument/2006/relationships/notesMaster" Target="/ppt/notesMasters/notesMaster1.xml" Id="Rf26a2ef84f4442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d5f2ed9e184a60" /><Relationship Type="http://schemas.openxmlformats.org/officeDocument/2006/relationships/notesMaster" Target="/ppt/notesMasters/notesMaster1.xml" Id="Rcdabf697232c40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8dda6276e24b68" /><Relationship Type="http://schemas.openxmlformats.org/officeDocument/2006/relationships/notesMaster" Target="/ppt/notesMasters/notesMaster1.xml" Id="R3d7ed13374f049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f3a7478e504b7b" /><Relationship Type="http://schemas.openxmlformats.org/officeDocument/2006/relationships/notesMaster" Target="/ppt/notesMasters/notesMaster1.xml" Id="R3acaaa4cba094c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0:00–0:12</a:t>
            </a:r>
          </a:p>
          <a:p xmlns:a="http://schemas.openxmlformats.org/drawingml/2006/main">
            <a:r>
              <a:t>NARRATIVE JOB</a:t>
            </a:r>
          </a:p>
          <a:p xmlns:a="http://schemas.openxmlformats.org/drawingml/2006/main">
            <a:r>
              <a:t>Establish that shopping should start and finish in the conversation where the need was expressed.</a:t>
            </a:r>
          </a:p>
          <a:p xmlns:a="http://schemas.openxmlformats.org/drawingml/2006/main">
            <a:r>
              <a:t/>
            </a:r>
          </a:p>
          <a:p xmlns:a="http://schemas.openxmlformats.org/drawingml/2006/main">
            <a:r>
              <a:t>SAY</a:t>
            </a:r>
          </a:p>
          <a:p xmlns:a="http://schemas.openxmlformats.org/drawingml/2006/main">
            <a:r>
              <a:t>“We already ask ChatGPT what to buy. But actually buying still means opening tabs, checking compatibility, finding stock, and rebuilding everything at checkout. We built Woven to finish that process.”</a:t>
            </a:r>
          </a:p>
          <a:p xmlns:a="http://schemas.openxmlformats.org/drawingml/2006/main">
            <a:r>
              <a:t/>
            </a:r>
          </a:p>
          <a:p xmlns:a="http://schemas.openxmlformats.org/drawingml/2006/main">
            <a:r>
              <a:t>STAGE CUE</a:t>
            </a:r>
          </a:p>
          <a:p xmlns:a="http://schemas.openxmlformats.org/drawingml/2006/main">
            <a:r>
              <a:t>Hold this slide for the full opening. The Flightpath hero is illustrative brand artwork; the working product proof begins on slide 3.</a:t>
            </a:r>
          </a:p>
          <a:p xmlns:a="http://schemas.openxmlformats.org/drawingml/2006/main">
            <a:r>
              <a:t/>
            </a:r>
          </a:p>
          <a:p xmlns:a="http://schemas.openxmlformats.org/drawingml/2006/main">
            <a:r>
              <a:t>TRANSITION</a:t>
            </a:r>
          </a:p>
          <a:p xmlns:a="http://schemas.openxmlformats.org/drawingml/2006/main">
            <a:r>
              <a:t>“The hard part is not finding a product. It is completing the whole mission.”</a:t>
            </a:r>
          </a:p>
          <a:p xmlns:a="http://schemas.openxmlformats.org/drawingml/2006/main">
            <a:r>
              <a:t/>
            </a:r>
          </a:p>
          <a:p xmlns:a="http://schemas.openxmlformats.org/drawingml/2006/main">
            <a:r>
              <a:t>[Sources]</a:t>
            </a:r>
          </a:p>
          <a:p xmlns:a="http://schemas.openxmlformats.org/drawingml/2006/main">
            <a:r>
              <a:t>- script.md — 0:00–0:12 opening</a:t>
            </a:r>
          </a:p>
          <a:p xmlns:a="http://schemas.openxmlformats.org/drawingml/2006/main">
            <a:r>
              <a:t>- docs/assets/brand/woven-hero-flightpath.png</a:t>
            </a:r>
          </a:p>
          <a:p xmlns:a="http://schemas.openxmlformats.org/drawingml/2006/main">
            <a:r>
              <a:t>- docs/BRAND_GUIDE.md — Product promise and visual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0:12–0:30</a:t>
            </a:r>
          </a:p>
          <a:p xmlns:a="http://schemas.openxmlformats.org/drawingml/2006/main">
            <a:r>
              <a:t>NARRATIVE JOB</a:t>
            </a:r>
          </a:p>
          <a:p xmlns:a="http://schemas.openxmlformats.org/drawingml/2006/main">
            <a:r>
              <a:t>Make the unfinished work after search concrete.</a:t>
            </a:r>
          </a:p>
          <a:p xmlns:a="http://schemas.openxmlformats.org/drawingml/2006/main">
            <a:r>
              <a:t/>
            </a:r>
          </a:p>
          <a:p xmlns:a="http://schemas.openxmlformats.org/drawingml/2006/main">
            <a:r>
              <a:t>SAY</a:t>
            </a:r>
          </a:p>
          <a:p xmlns:a="http://schemas.openxmlformats.org/drawingml/2006/main">
            <a:r>
              <a:t>“Imagine flying tonight and needing a charger for three devices. Search can recommend individual products, but it does not guarantee that everything works together, fits your budget, is available today, and can be collected from one place.”</a:t>
            </a:r>
          </a:p>
          <a:p xmlns:a="http://schemas.openxmlformats.org/drawingml/2006/main">
            <a:r>
              <a:t/>
            </a:r>
          </a:p>
          <a:p xmlns:a="http://schemas.openxmlformats.org/drawingml/2006/main">
            <a:r>
              <a:t>POINT TO</a:t>
            </a:r>
          </a:p>
          <a:p xmlns:a="http://schemas.openxmlformats.org/drawingml/2006/main">
            <a:r>
              <a:t>Compare products. Check compatibility. Find one store. The user still has to rebuild the cart at checkout.</a:t>
            </a:r>
          </a:p>
          <a:p xmlns:a="http://schemas.openxmlformats.org/drawingml/2006/main">
            <a:r>
              <a:t/>
            </a:r>
          </a:p>
          <a:p xmlns:a="http://schemas.openxmlformats.org/drawingml/2006/main">
            <a:r>
              <a:t>TRANSITION</a:t>
            </a:r>
          </a:p>
          <a:p xmlns:a="http://schemas.openxmlformats.org/drawingml/2006/main">
            <a:r>
              <a:t>“Woven resolves those constraints together.”</a:t>
            </a:r>
          </a:p>
          <a:p xmlns:a="http://schemas.openxmlformats.org/drawingml/2006/main">
            <a:r>
              <a:t/>
            </a:r>
          </a:p>
          <a:p xmlns:a="http://schemas.openxmlformats.org/drawingml/2006/main">
            <a:r>
              <a:t>[Sources]</a:t>
            </a:r>
          </a:p>
          <a:p xmlns:a="http://schemas.openxmlformats.org/drawingml/2006/main">
            <a:r>
              <a:t>- script.md — 0:12–0:30 problem framing</a:t>
            </a:r>
          </a:p>
          <a:p xmlns:a="http://schemas.openxmlformats.org/drawingml/2006/main">
            <a:r>
              <a:t>- docs/PRD.md — Primary persona and canonical mission</a:t>
            </a:r>
          </a:p>
          <a:p xmlns:a="http://schemas.openxmlformats.org/drawingml/2006/main">
            <a:r>
              <a:t>- README.md — Product search versus Woven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0:30–0:48</a:t>
            </a:r>
          </a:p>
          <a:p xmlns:a="http://schemas.openxmlformats.org/drawingml/2006/main">
            <a:r>
              <a:t>NARRATIVE JOB</a:t>
            </a:r>
          </a:p>
          <a:p xmlns:a="http://schemas.openxmlformats.org/drawingml/2006/main">
            <a:r>
              <a:t>Reveal Woven’s cart-level difference before switching to the product.</a:t>
            </a:r>
          </a:p>
          <a:p xmlns:a="http://schemas.openxmlformats.org/drawingml/2006/main">
            <a:r>
              <a:t/>
            </a:r>
          </a:p>
          <a:p xmlns:a="http://schemas.openxmlformats.org/drawingml/2006/main">
            <a:r>
              <a:t>SAY</a:t>
            </a:r>
          </a:p>
          <a:p xmlns:a="http://schemas.openxmlformats.org/drawingml/2006/main">
            <a:r>
              <a:t>“Woven understands the complete request, eliminates incompatible combinations, and creates ready-to-buy carts. Every cart comes from one merchant and one location, with an explanation of why every component works.”</a:t>
            </a:r>
          </a:p>
          <a:p xmlns:a="http://schemas.openxmlformats.org/drawingml/2006/main">
            <a:r>
              <a:t/>
            </a:r>
          </a:p>
          <a:p xmlns:a="http://schemas.openxmlformats.org/drawingml/2006/main">
            <a:r>
              <a:t>POINT TO</a:t>
            </a:r>
          </a:p>
          <a:p xmlns:a="http://schemas.openxmlformats.org/drawingml/2006/main">
            <a:r>
              <a:t>One merchant and pickup point. Four compatible components. S$133 total. Pickup today.</a:t>
            </a:r>
          </a:p>
          <a:p xmlns:a="http://schemas.openxmlformats.org/drawingml/2006/main">
            <a:r>
              <a:t/>
            </a:r>
          </a:p>
          <a:p xmlns:a="http://schemas.openxmlformats.org/drawingml/2006/main">
            <a:r>
              <a:t>TRANSITION</a:t>
            </a:r>
          </a:p>
          <a:p xmlns:a="http://schemas.openxmlformats.org/drawingml/2006/main">
            <a:r>
              <a:t>“Let me show you.”</a:t>
            </a:r>
          </a:p>
          <a:p xmlns:a="http://schemas.openxmlformats.org/drawingml/2006/main">
            <a:r>
              <a:t/>
            </a:r>
          </a:p>
          <a:p xmlns:a="http://schemas.openxmlformats.org/drawingml/2006/main">
            <a:r>
              <a:t>[Sources]</a:t>
            </a:r>
          </a:p>
          <a:p xmlns:a="http://schemas.openxmlformats.org/drawingml/2006/main">
            <a:r>
              <a:t>- script.md — 0:30–0:48 product reveal</a:t>
            </a:r>
          </a:p>
          <a:p xmlns:a="http://schemas.openxmlformats.org/drawingml/2006/main">
            <a:r>
              <a:t>- docs/assets/screenshots/buyer-overview.png</a:t>
            </a:r>
          </a:p>
          <a:p xmlns:a="http://schemas.openxmlformats.org/drawingml/2006/main">
            <a:r>
              <a:t>- docs/PRD.md — Complete-cart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0:48–1:30</a:t>
            </a:r>
          </a:p>
          <a:p xmlns:a="http://schemas.openxmlformats.org/drawingml/2006/main">
            <a:r>
              <a:t>NARRATIVE JOB</a:t>
            </a:r>
          </a:p>
          <a:p xmlns:a="http://schemas.openxmlformats.org/drawingml/2006/main">
            <a:r>
              <a:t>Hand off to the working MCP App or the /demo fallback and let the result prove the value.</a:t>
            </a:r>
          </a:p>
          <a:p xmlns:a="http://schemas.openxmlformats.org/drawingml/2006/main">
            <a:r>
              <a:t/>
            </a:r>
          </a:p>
          <a:p xmlns:a="http://schemas.openxmlformats.org/drawingml/2006/main">
            <a:r>
              <a:t>ENTER OR REVEAL</a:t>
            </a:r>
          </a:p>
          <a:p xmlns:a="http://schemas.openxmlformats.org/drawingml/2006/main">
            <a:r>
              <a:t>“I fly to Tokyo tonight. Build a charging kit for my MacBook Air, iPhone and AirPods under S$150, with pickup today.”</a:t>
            </a:r>
          </a:p>
          <a:p xmlns:a="http://schemas.openxmlformats.org/drawingml/2006/main">
            <a:r>
              <a:t/>
            </a:r>
          </a:p>
          <a:p xmlns:a="http://schemas.openxmlformats.org/drawingml/2006/main">
            <a:r>
              <a:t>DEMO ACTIONS</a:t>
            </a:r>
          </a:p>
          <a:p xmlns:a="http://schemas.openxmlformats.org/drawingml/2006/main">
            <a:r>
              <a:t>1. Show the three ranked, one-merchant carts.</a:t>
            </a:r>
          </a:p>
          <a:p xmlns:a="http://schemas.openxmlformats.org/drawingml/2006/main">
            <a:r>
              <a:t>2. Select ByteRoute.</a:t>
            </a:r>
          </a:p>
          <a:p xmlns:a="http://schemas.openxmlformats.org/drawingml/2006/main">
            <a:r>
              <a:t>3. Point to charger wattage and voltage, both required cables, the Japan adapter, one pickup location, seeded demo stock, and the S$133 total.</a:t>
            </a:r>
          </a:p>
          <a:p xmlns:a="http://schemas.openxmlformats.org/drawingml/2006/main">
            <a:r>
              <a:t/>
            </a:r>
          </a:p>
          <a:p xmlns:a="http://schemas.openxmlformats.org/drawingml/2006/main">
            <a:r>
              <a:t>SAY</a:t>
            </a:r>
          </a:p>
          <a:p xmlns:a="http://schemas.openxmlformats.org/drawingml/2006/main">
            <a:r>
              <a:t>“Woven returned three complete options—not loose product links. This S$133 cart includes the charger, both required cables, and the Japan adapter. Everything is compatible, under budget, available in our demo inventory, and ready at one pickup location.”</a:t>
            </a:r>
          </a:p>
          <a:p xmlns:a="http://schemas.openxmlformats.org/drawingml/2006/main">
            <a:r>
              <a:t/>
            </a:r>
          </a:p>
          <a:p xmlns:a="http://schemas.openxmlformats.org/drawingml/2006/main">
            <a:r>
              <a:t>STAGE GUARDRAIL</a:t>
            </a:r>
          </a:p>
          <a:p xmlns:a="http://schemas.openxmlformats.org/drawingml/2006/main">
            <a:r>
              <a:t>Do not explain the ranking algorithm unless asked. If the MCP host fails, move immediately to /demo; it uses the same backend.</a:t>
            </a:r>
          </a:p>
          <a:p xmlns:a="http://schemas.openxmlformats.org/drawingml/2006/main">
            <a:r>
              <a:t/>
            </a:r>
          </a:p>
          <a:p xmlns:a="http://schemas.openxmlformats.org/drawingml/2006/main">
            <a:r>
              <a:t>[Sources]</a:t>
            </a:r>
          </a:p>
          <a:p xmlns:a="http://schemas.openxmlformats.org/drawingml/2006/main">
            <a:r>
              <a:t>- script.md — 0:48–1:30 live demo</a:t>
            </a:r>
          </a:p>
          <a:p xmlns:a="http://schemas.openxmlformats.org/drawingml/2006/main">
            <a:r>
              <a:t>- docs/HANDOVER.md — Canonical demo and fallback</a:t>
            </a:r>
          </a:p>
          <a:p xmlns:a="http://schemas.openxmlformats.org/drawingml/2006/main">
            <a:r>
              <a:t>- docs/PRD.md — Canonical story and cart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1:30–2:15</a:t>
            </a:r>
          </a:p>
          <a:p xmlns:a="http://schemas.openxmlformats.org/drawingml/2006/main">
            <a:r>
              <a:t>NARRATIVE JOB</a:t>
            </a:r>
          </a:p>
          <a:p xmlns:a="http://schemas.openxmlformats.org/drawingml/2006/main">
            <a:r>
              <a:t>Draw the authorization boundary: the AI recommends; the user authorizes the exact purchase.</a:t>
            </a:r>
          </a:p>
          <a:p xmlns:a="http://schemas.openxmlformats.org/drawingml/2006/main">
            <a:r>
              <a:t/>
            </a:r>
          </a:p>
          <a:p xmlns:a="http://schemas.openxmlformats.org/drawingml/2006/main">
            <a:r>
              <a:t>WORKING DEMO ACTIONS — USE NOW</a:t>
            </a:r>
          </a:p>
          <a:p xmlns:a="http://schemas.openxmlformats.org/drawingml/2006/main">
            <a:r>
              <a:t>1. Click Review checkout.</a:t>
            </a:r>
          </a:p>
          <a:p xmlns:a="http://schemas.openxmlformats.org/drawingml/2006/main">
            <a:r>
              <a:t>2. Show the exact merchant, items, pickup location, total, cart version, and expiry.</a:t>
            </a:r>
          </a:p>
          <a:p xmlns:a="http://schemas.openxmlformats.org/drawingml/2006/main">
            <a:r>
              <a:t>3. Pause before clicking Confirm S$133.00.</a:t>
            </a:r>
          </a:p>
          <a:p xmlns:a="http://schemas.openxmlformats.org/drawingml/2006/main">
            <a:r>
              <a:t>4. Confirm and show the simulated Visa authorization result and pickup receipt.</a:t>
            </a:r>
          </a:p>
          <a:p xmlns:a="http://schemas.openxmlformats.org/drawingml/2006/main">
            <a:r>
              <a:t/>
            </a:r>
          </a:p>
          <a:p xmlns:a="http://schemas.openxmlformats.org/drawingml/2006/main">
            <a:r>
              <a:t>SAY</a:t>
            </a:r>
          </a:p>
          <a:p xmlns:a="http://schemas.openxmlformats.org/drawingml/2006/main">
            <a:r>
              <a:t>“Woven rechecks the price and stock, then creates an exact ten-minute checkout preview. The AI recommended this cart, but it cannot approve it. The user sees the merchant, every item, the pickup location, and the S$133 total before one direct confirmation.”</a:t>
            </a:r>
          </a:p>
          <a:p xmlns:a="http://schemas.openxmlformats.org/drawingml/2006/main">
            <a:r>
              <a:t/>
            </a:r>
          </a:p>
          <a:p xmlns:a="http://schemas.openxmlformats.org/drawingml/2006/main">
            <a:r>
              <a:t>“Only after that click does Woven produce a simulated Visa authorization and pickup receipt. No card details enter Woven, and no live charge occurs.”</a:t>
            </a:r>
          </a:p>
          <a:p xmlns:a="http://schemas.openxmlformats.org/drawingml/2006/main">
            <a:r>
              <a:t/>
            </a:r>
          </a:p>
          <a:p xmlns:a="http://schemas.openxmlformats.org/drawingml/2006/main">
            <a:r>
              <a:t>TRUTH BOUNDARY</a:t>
            </a:r>
          </a:p>
          <a:p xmlns:a="http://schemas.openxmlformats.org/drawingml/2006/main">
            <a:r>
              <a:t>Identity verification is planned and not in the live build. Do not show a static identity mock as verification. After server enforcement exists, insert the connector-style demo identity check before exact-term review and keep it separate from final confirmation.</a:t>
            </a:r>
          </a:p>
          <a:p xmlns:a="http://schemas.openxmlformats.org/drawingml/2006/main">
            <a:r>
              <a:t/>
            </a:r>
          </a:p>
          <a:p xmlns:a="http://schemas.openxmlformats.org/drawingml/2006/main">
            <a:r>
              <a:t>TRANSITION</a:t>
            </a:r>
          </a:p>
          <a:p xmlns:a="http://schemas.openxmlformats.org/drawingml/2006/main">
            <a:r>
              <a:t>“The same controls are visible on the merchant side.”</a:t>
            </a:r>
          </a:p>
          <a:p xmlns:a="http://schemas.openxmlformats.org/drawingml/2006/main">
            <a:r>
              <a:t/>
            </a:r>
          </a:p>
          <a:p xmlns:a="http://schemas.openxmlformats.org/drawingml/2006/main">
            <a:r>
              <a:t>[Sources]</a:t>
            </a:r>
          </a:p>
          <a:p xmlns:a="http://schemas.openxmlformats.org/drawingml/2006/main">
            <a:r>
              <a:t>- script.md — Working checkout block and target identity block</a:t>
            </a:r>
          </a:p>
          <a:p xmlns:a="http://schemas.openxmlformats.org/drawingml/2006/main">
            <a:r>
              <a:t>- docs/architecture.md — Confirmation boundary and mandate binding</a:t>
            </a:r>
          </a:p>
          <a:p xmlns:a="http://schemas.openxmlformats.org/drawingml/2006/main">
            <a:r>
              <a:t>- docs/PRD.md — Truth and safety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2:15–2:35</a:t>
            </a:r>
          </a:p>
          <a:p xmlns:a="http://schemas.openxmlformats.org/drawingml/2006/main">
            <a:r>
              <a:t>NARRATIVE JOB</a:t>
            </a:r>
          </a:p>
          <a:p xmlns:a="http://schemas.openxmlformats.org/drawingml/2006/main">
            <a:r>
              <a:t>Prove that merchants control inventory, scenarios, orders, and auditability.</a:t>
            </a:r>
          </a:p>
          <a:p xmlns:a="http://schemas.openxmlformats.org/drawingml/2006/main">
            <a:r>
              <a:t/>
            </a:r>
          </a:p>
          <a:p xmlns:a="http://schemas.openxmlformats.org/drawingml/2006/main">
            <a:r>
              <a:t>DEMO ACTIONS</a:t>
            </a:r>
          </a:p>
          <a:p xmlns:a="http://schemas.openxmlformats.org/drawingml/2006/main">
            <a:r>
              <a:t>Open the Merchant Desk. Show inventory and price controls, confirmed orders, the audit trail, and the stockout, price-change, decline, and reversal scenarios.</a:t>
            </a:r>
          </a:p>
          <a:p xmlns:a="http://schemas.openxmlformats.org/drawingml/2006/main">
            <a:r>
              <a:t/>
            </a:r>
          </a:p>
          <a:p xmlns:a="http://schemas.openxmlformats.org/drawingml/2006/main">
            <a:r>
              <a:t>SAY</a:t>
            </a:r>
          </a:p>
          <a:p xmlns:a="http://schemas.openxmlformats.org/drawingml/2006/main">
            <a:r>
              <a:t>“On the merchant side, Woven already supports inventory import, price and stock controls, orders, and an audit trail. Merchants can simulate a price change, stockout, authorization decline, or reversal without changing code.”</a:t>
            </a:r>
          </a:p>
          <a:p xmlns:a="http://schemas.openxmlformats.org/drawingml/2006/main">
            <a:r>
              <a:t/>
            </a:r>
          </a:p>
          <a:p xmlns:a="http://schemas.openxmlformats.org/drawingml/2006/main">
            <a:r>
              <a:t>TRUTH BOUNDARY</a:t>
            </a:r>
          </a:p>
          <a:p xmlns:a="http://schemas.openxmlformats.org/drawingml/2006/main">
            <a:r>
              <a:t>Call the current values seeded demo data. Do not call the CSV workflow a production merchant integration or imply a live payment rail.</a:t>
            </a:r>
          </a:p>
          <a:p xmlns:a="http://schemas.openxmlformats.org/drawingml/2006/main">
            <a:r>
              <a:t/>
            </a:r>
          </a:p>
          <a:p xmlns:a="http://schemas.openxmlformats.org/drawingml/2006/main">
            <a:r>
              <a:t>TRANSITION</a:t>
            </a:r>
          </a:p>
          <a:p xmlns:a="http://schemas.openxmlformats.org/drawingml/2006/main">
            <a:r>
              <a:t>“That brings us back to why this belongs inside ChatGPT.”</a:t>
            </a:r>
          </a:p>
          <a:p xmlns:a="http://schemas.openxmlformats.org/drawingml/2006/main">
            <a:r>
              <a:t/>
            </a:r>
          </a:p>
          <a:p xmlns:a="http://schemas.openxmlformats.org/drawingml/2006/main">
            <a:r>
              <a:t>[Sources]</a:t>
            </a:r>
          </a:p>
          <a:p xmlns:a="http://schemas.openxmlformats.org/drawingml/2006/main">
            <a:r>
              <a:t>- script.md — 2:15–2:35 merchant operations</a:t>
            </a:r>
          </a:p>
          <a:p xmlns:a="http://schemas.openxmlformats.org/drawingml/2006/main">
            <a:r>
              <a:t>- docs/assets/screenshots/merchant-dashboard.png</a:t>
            </a:r>
          </a:p>
          <a:p xmlns:a="http://schemas.openxmlformats.org/drawingml/2006/main">
            <a:r>
              <a:t>- docs/architecture.md — Merchant state and failure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2:35–3:00</a:t>
            </a:r>
          </a:p>
          <a:p xmlns:a="http://schemas.openxmlformats.org/drawingml/2006/main">
            <a:r>
              <a:t>NARRATIVE JOB</a:t>
            </a:r>
          </a:p>
          <a:p xmlns:a="http://schemas.openxmlformats.org/drawingml/2006/main">
            <a:r>
              <a:t>Resolve the opening thesis and land the memorable close.</a:t>
            </a:r>
          </a:p>
          <a:p xmlns:a="http://schemas.openxmlformats.org/drawingml/2006/main">
            <a:r>
              <a:t/>
            </a:r>
          </a:p>
          <a:p xmlns:a="http://schemas.openxmlformats.org/drawingml/2006/main">
            <a:r>
              <a:t>SAY</a:t>
            </a:r>
          </a:p>
          <a:p xmlns:a="http://schemas.openxmlformats.org/drawingml/2006/main">
            <a:r>
              <a:t>“Why ChatGPT? Because that is where the user’s request already exists. Why a plugin? Because Woven can turn that conversation into merchant actions and a reviewable checkout without asking the user to start again.”</a:t>
            </a:r>
          </a:p>
          <a:p xmlns:a="http://schemas.openxmlformats.org/drawingml/2006/main">
            <a:r>
              <a:t/>
            </a:r>
          </a:p>
          <a:p xmlns:a="http://schemas.openxmlformats.org/drawingml/2006/main">
            <a:r>
              <a:t>“This prototype uses seeded inventory and a simulated Visa authorization; no live charge occurs. Our next trust step is the connector-style demo identity check.”</a:t>
            </a:r>
          </a:p>
          <a:p xmlns:a="http://schemas.openxmlformats.org/drawingml/2006/main">
            <a:r>
              <a:t/>
            </a:r>
          </a:p>
          <a:p xmlns:a="http://schemas.openxmlformats.org/drawingml/2006/main">
            <a:r>
              <a:t>“Woven makes shopping through AI simple enough to use—and controlled enough to trust.”</a:t>
            </a:r>
          </a:p>
          <a:p xmlns:a="http://schemas.openxmlformats.org/drawingml/2006/main">
            <a:r>
              <a:t/>
            </a:r>
          </a:p>
          <a:p xmlns:a="http://schemas.openxmlformats.org/drawingml/2006/main">
            <a:r>
              <a:t>CLOSE</a:t>
            </a:r>
          </a:p>
          <a:p xmlns:a="http://schemas.openxmlformats.org/drawingml/2006/main">
            <a:r>
              <a:t>Ask once. Review once. Confirm once.</a:t>
            </a:r>
          </a:p>
          <a:p xmlns:a="http://schemas.openxmlformats.org/drawingml/2006/main">
            <a:r>
              <a:t/>
            </a:r>
          </a:p>
          <a:p xmlns:a="http://schemas.openxmlformats.org/drawingml/2006/main">
            <a:r>
              <a:t>STAGE CUE</a:t>
            </a:r>
          </a:p>
          <a:p xmlns:a="http://schemas.openxmlformats.org/drawingml/2006/main">
            <a:r>
              <a:t>End the three-minute pitch here. Slides 8–11 are Q&amp;A backups only.</a:t>
            </a:r>
          </a:p>
          <a:p xmlns:a="http://schemas.openxmlformats.org/drawingml/2006/main">
            <a:r>
              <a:t/>
            </a:r>
          </a:p>
          <a:p xmlns:a="http://schemas.openxmlformats.org/drawingml/2006/main">
            <a:r>
              <a:t>[Sources]</a:t>
            </a:r>
          </a:p>
          <a:p xmlns:a="http://schemas.openxmlformats.org/drawingml/2006/main">
            <a:r>
              <a:t>- script.md — 2:35–3:00 closing</a:t>
            </a:r>
          </a:p>
          <a:p xmlns:a="http://schemas.openxmlformats.org/drawingml/2006/main">
            <a:r>
              <a:t>- docs/assets/screenshots/order-success.png</a:t>
            </a:r>
          </a:p>
          <a:p xmlns:a="http://schemas.openxmlformats.org/drawingml/2006/main">
            <a:r>
              <a:t>- docs/DEVPOST_SUBMISSION.md — Three-minute judge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 Q&amp;A — WHAT IS REAL</a:t>
            </a:r>
          </a:p>
          <a:p xmlns:a="http://schemas.openxmlformats.org/drawingml/2006/main">
            <a:r>
              <a:t>The working prototype includes the MCP App and browser fallback, complete one-merchant carts, compatibility and budget proof, exact expiring checkout terms, direct confirmation, idempotency, merchant operations, failure scenarios, and an audit trail.</a:t>
            </a:r>
          </a:p>
          <a:p xmlns:a="http://schemas.openxmlformats.org/drawingml/2006/main">
            <a:r>
              <a:t/>
            </a:r>
          </a:p>
          <a:p xmlns:a="http://schemas.openxmlformats.org/drawingml/2006/main">
            <a:r>
              <a:t>JUDGE ANSWER</a:t>
            </a:r>
          </a:p>
          <a:p xmlns:a="http://schemas.openxmlformats.org/drawingml/2006/main">
            <a:r>
              <a:t>“The core journey is working end to end with seeded demo inventory and a simulated payment boundary. The primary product is the MCP App; /demo is the same backend over HTTP for stage reliability.”</a:t>
            </a:r>
          </a:p>
          <a:p xmlns:a="http://schemas.openxmlformats.org/drawingml/2006/main">
            <a:r>
              <a:t/>
            </a:r>
          </a:p>
          <a:p xmlns:a="http://schemas.openxmlformats.org/drawingml/2006/main">
            <a:r>
              <a:t>[Sources]</a:t>
            </a:r>
          </a:p>
          <a:p xmlns:a="http://schemas.openxmlformats.org/drawingml/2006/main">
            <a:r>
              <a:t>- README.md — Implemented surfaces and workflow</a:t>
            </a:r>
          </a:p>
          <a:p xmlns:a="http://schemas.openxmlformats.org/drawingml/2006/main">
            <a:r>
              <a:t>- docs/PRD.md — Acceptance criteria</a:t>
            </a:r>
          </a:p>
          <a:p xmlns:a="http://schemas.openxmlformats.org/drawingml/2006/main">
            <a:r>
              <a:t>- docs/architecture.md — State machine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 Q&amp;A — WHAT IS SIMULATED</a:t>
            </a:r>
          </a:p>
          <a:p xmlns:a="http://schemas.openxmlformats.org/drawingml/2006/main">
            <a:r>
              <a:t>Inventory and pickup estimates are seeded. Identity verification is a planned product direction, not a live feature. Visa approval, decline, and reversal are simulated. No Visa account is accessed, no payment credentials are collected, and no live charge or partnership is claimed.</a:t>
            </a:r>
          </a:p>
          <a:p xmlns:a="http://schemas.openxmlformats.org/drawingml/2006/main">
            <a:r>
              <a:t/>
            </a:r>
          </a:p>
          <a:p xmlns:a="http://schemas.openxmlformats.org/drawingml/2006/main">
            <a:r>
              <a:t>JUDGE ANSWER</a:t>
            </a:r>
          </a:p>
          <a:p xmlns:a="http://schemas.openxmlformats.org/drawingml/2006/main">
            <a:r>
              <a:t>“The trust boundary is explicit: the working product binds exact terms and requires direct confirmation; identity is next, and the payment rail is clearly simulated.”</a:t>
            </a:r>
          </a:p>
          <a:p xmlns:a="http://schemas.openxmlformats.org/drawingml/2006/main">
            <a:r>
              <a:t/>
            </a:r>
          </a:p>
          <a:p xmlns:a="http://schemas.openxmlformats.org/drawingml/2006/main">
            <a:r>
              <a:t>[Sources]</a:t>
            </a:r>
          </a:p>
          <a:p xmlns:a="http://schemas.openxmlformats.org/drawingml/2006/main">
            <a:r>
              <a:t>- README.md — Prototype boundary</a:t>
            </a:r>
          </a:p>
          <a:p xmlns:a="http://schemas.openxmlformats.org/drawingml/2006/main">
            <a:r>
              <a:t>- script.md — Truth guardrails</a:t>
            </a:r>
          </a:p>
          <a:p xmlns:a="http://schemas.openxmlformats.org/drawingml/2006/main">
            <a:r>
              <a:t>- docs/PRD.md — Non-goals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 TECHNICAL Q&amp;A — ARCHITECTURE</a:t>
            </a:r>
          </a:p>
          <a:p xmlns:a="http://schemas.openxmlformats.org/drawingml/2006/main">
            <a:r>
              <a:t>The ChatGPT or Codex host invokes Woven’s MCP tools. One Node.js service owns cart construction, checkout mandate binding, confirmation, order state, merchant operations, and the simulated Visa adapter. The browser demo is a second transport over the same backend, not a separate product.</a:t>
            </a:r>
          </a:p>
          <a:p xmlns:a="http://schemas.openxmlformats.org/drawingml/2006/main">
            <a:r>
              <a:t/>
            </a:r>
          </a:p>
          <a:p xmlns:a="http://schemas.openxmlformats.org/drawingml/2006/main">
            <a:r>
              <a:t>POINT TO</a:t>
            </a:r>
          </a:p>
          <a:p xmlns:a="http://schemas.openxmlformats.org/drawingml/2006/main">
            <a:r>
              <a:t>MCP and HTTP transports. Mission and cart engine. Checkout guard. Node SQLite atomic inventory and order transaction. Simulated Visa boundary.</a:t>
            </a:r>
          </a:p>
          <a:p xmlns:a="http://schemas.openxmlformats.org/drawingml/2006/main">
            <a:r>
              <a:t/>
            </a:r>
          </a:p>
          <a:p xmlns:a="http://schemas.openxmlformats.org/drawingml/2006/main">
            <a:r>
              <a:t>[Sources]</a:t>
            </a:r>
          </a:p>
          <a:p xmlns:a="http://schemas.openxmlformats.org/drawingml/2006/main">
            <a:r>
              <a:t>- docs/assets/devpost/woven-architecture.png</a:t>
            </a:r>
          </a:p>
          <a:p xmlns:a="http://schemas.openxmlformats.org/drawingml/2006/main">
            <a:r>
              <a:t>- docs/architecture.md — System architecture and trust boundaries</a:t>
            </a:r>
          </a:p>
          <a:p xmlns:a="http://schemas.openxmlformats.org/drawingml/2006/main">
            <a:r>
              <a:t>- docs/HANDOVER.md — One-service product invariant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 TRUST AND SAFETY Q&amp;A</a:t>
            </a:r>
          </a:p>
          <a:p xmlns:a="http://schemas.openxmlformats.org/drawingml/2006/main">
            <a:r>
              <a:t>Current controls bind merchant, cart version, amount, expiry, nonce, and idempotency key; recheck price and stock; keep the confirmation nonce outside model-visible tool arguments; and simulate reversal after downstream merchant failure. Identity is a planned pre-checkout control and is not implemented.</a:t>
            </a:r>
          </a:p>
          <a:p xmlns:a="http://schemas.openxmlformats.org/drawingml/2006/main">
            <a:r>
              <a:t/>
            </a:r>
          </a:p>
          <a:p xmlns:a="http://schemas.openxmlformats.org/drawingml/2006/main">
            <a:r>
              <a:t>JUDGE ANSWER</a:t>
            </a:r>
          </a:p>
          <a:p xmlns:a="http://schemas.openxmlformats.org/drawingml/2006/main">
            <a:r>
              <a:t>“The model never gets the final yes. It can recommend, but only the widget receives the private confirmation value, and only a direct user action can consume it for the exact displayed terms.”</a:t>
            </a:r>
          </a:p>
          <a:p xmlns:a="http://schemas.openxmlformats.org/drawingml/2006/main">
            <a:r>
              <a:t/>
            </a:r>
          </a:p>
          <a:p xmlns:a="http://schemas.openxmlformats.org/drawingml/2006/main">
            <a:r>
              <a:t>[Sources]</a:t>
            </a:r>
          </a:p>
          <a:p xmlns:a="http://schemas.openxmlformats.org/drawingml/2006/main">
            <a:r>
              <a:t>- docs/assets/devpost/woven-trust-boundary.png</a:t>
            </a:r>
          </a:p>
          <a:p xmlns:a="http://schemas.openxmlformats.org/drawingml/2006/main">
            <a:r>
              <a:t>- docs/architecture.md — Mandate, nonce, idempotency, and reversal state machine</a:t>
            </a:r>
          </a:p>
          <a:p xmlns:a="http://schemas.openxmlformats.org/drawingml/2006/main">
            <a:r>
              <a:t>- docs/PRD.md — Trust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a53155b6448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06f064529c4f19" /><Relationship Type="http://schemas.openxmlformats.org/officeDocument/2006/relationships/slideLayout" Target="/ppt/slideLayouts/slideLayout1.xml" Id="R02831dc36adb41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831dc36adb41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7fe3105793466a" /><Relationship Type="http://schemas.openxmlformats.org/officeDocument/2006/relationships/image" Target="/ppt/media/image.png" Id="R64deff9c5da942be" /><Relationship Type="http://schemas.openxmlformats.org/officeDocument/2006/relationships/notesSlide" Target="/ppt/notesSlides/notesSlide1.xml" Id="R1f09b79554f041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0088609f1047cf" /><Relationship Type="http://schemas.openxmlformats.org/officeDocument/2006/relationships/notesSlide" Target="/ppt/notesSlides/notesSlide2.xml" Id="R72a109e7dd8942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fc22fe28b244d9" /><Relationship Type="http://schemas.openxmlformats.org/officeDocument/2006/relationships/image" Target="/ppt/media/image2.png" Id="R815bc04db61343b4" /><Relationship Type="http://schemas.openxmlformats.org/officeDocument/2006/relationships/notesSlide" Target="/ppt/notesSlides/notesSlide3.xml" Id="R2ca3b37c736945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0c694972e14758" /><Relationship Type="http://schemas.openxmlformats.org/officeDocument/2006/relationships/notesSlide" Target="/ppt/notesSlides/notesSlide4.xml" Id="R3633bc93d34240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d61609c4224303" /><Relationship Type="http://schemas.openxmlformats.org/officeDocument/2006/relationships/notesSlide" Target="/ppt/notesSlides/notesSlide5.xml" Id="Rc3c0c2eda48d4a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3a0589a6984bac" /><Relationship Type="http://schemas.openxmlformats.org/officeDocument/2006/relationships/image" Target="/ppt/media/image3.png" Id="Rf6c24c0f2c7d4d70" /><Relationship Type="http://schemas.openxmlformats.org/officeDocument/2006/relationships/notesSlide" Target="/ppt/notesSlides/notesSlide6.xml" Id="Rad36abecc00d4e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db3346f0124581" /><Relationship Type="http://schemas.openxmlformats.org/officeDocument/2006/relationships/image" Target="/ppt/media/image4.png" Id="R442128613b45476b" /><Relationship Type="http://schemas.openxmlformats.org/officeDocument/2006/relationships/notesSlide" Target="/ppt/notesSlides/notesSlide7.xml" Id="R4069bf0e26b643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98723aa28f4fbe" /><Relationship Type="http://schemas.openxmlformats.org/officeDocument/2006/relationships/notesSlide" Target="/ppt/notesSlides/notesSlide8.xml" Id="Rf8792fa7d41e41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1c4565304f4f9b" /><Relationship Type="http://schemas.openxmlformats.org/officeDocument/2006/relationships/notesSlide" Target="/ppt/notesSlides/notesSlide9.xml" Id="Rb30119999dc745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d8cd88ae7e4d16" /><Relationship Type="http://schemas.openxmlformats.org/officeDocument/2006/relationships/image" Target="/ppt/media/image5.png" Id="R9bffdb01cf344feb" /><Relationship Type="http://schemas.openxmlformats.org/officeDocument/2006/relationships/notesSlide" Target="/ppt/notesSlides/notesSlide10.xml" Id="R3e1019faf00d47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adf76ed55b489e" /><Relationship Type="http://schemas.openxmlformats.org/officeDocument/2006/relationships/image" Target="/ppt/media/image6.png" Id="R3785bd862f514d5a" /><Relationship Type="http://schemas.openxmlformats.org/officeDocument/2006/relationships/notesSlide" Target="/ppt/notesSlides/notesSlide11.xml" Id="R063f98bc9aae48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d8cd88ae7e4d16" /><Relationship Type="http://schemas.openxmlformats.org/officeDocument/2006/relationships/image" Target="/ppt/media/image7.png" Id="R9bffdb01cf344feb" /></Relationships>
</file>

<file path=ppt/slides/slide1.xml><?xml version="1.0" encoding="utf-8"?>
<p:sld xmlns:p="http://schemas.openxmlformats.org/presentationml/2006/main">
  <p:cSld>
    <p:bg>
      <p:bgPr>
        <a:solidFill xmlns:a="http://schemas.openxmlformats.org/drawingml/2006/main">
          <a:srgbClr val="0E4B3B"/>
        </a:solidFill>
      </p:bgPr>
    </p:bg>
    <p:spTree>
      <p:nvGrpSpPr>
        <p:cNvPr id="1" name=""/>
        <p:cNvGrpSpPr/>
        <p:nvPr/>
      </p:nvGrpSpPr>
      <p:grpSpPr>
        <a:xfrm xmlns:a="http://schemas.openxmlformats.org/drawingml/2006/main"/>
      </p:grpSpPr>
      <p:sp>
        <p:nvSpPr>
          <p:cNvPr id="10" name="eyebrow-The takeaway">
            <a:extLst xmlns:a="http://schemas.openxmlformats.org/drawingml/2006/main">
              <a:ext uri="{FF2B5EF4-FFF2-40B4-BE49-F238E27FC236}">
                <a16:creationId xmlns:a16="http://schemas.microsoft.com/office/drawing/2014/main" id="{127A4371-AA64-41B4-BB82-2074B9A226A8}"/>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B7F522"/>
                </a:solidFill>
                <a:latin typeface="Menlo"/>
                <a:ea typeface="Menlo"/>
                <a:cs typeface="Menlo"/>
              </a:defRPr>
            </a:pPr>
            <a:r>
              <a:rPr sz="1350" b="1">
                <a:solidFill>
                  <a:srgbClr val="B7F522"/>
                </a:solidFill>
                <a:latin typeface="Menlo"/>
                <a:ea typeface="Menlo"/>
                <a:cs typeface="Menlo"/>
              </a:rPr>
              <a:t>WOVEN / CHATGPT SHOPPING APP</a:t>
            </a:r>
          </a:p>
        </p:txBody>
      </p:sp>
      <p:sp>
        <p:nvSpPr>
          <p:cNvPr id="2" name="closing-title">
            <a:extLst xmlns:a="http://schemas.openxmlformats.org/drawingml/2006/main">
              <a:ext uri="{FF2B5EF4-FFF2-40B4-BE49-F238E27FC236}">
                <a16:creationId xmlns:a16="http://schemas.microsoft.com/office/drawing/2014/main" id="{96611E61-644B-4FDB-B197-448F38D56EC2}"/>
              </a:ext>
            </a:extLst>
          </p:cNvPr>
          <p:cNvSpPr>
            <a:spLocks xmlns:a="http://schemas.openxmlformats.org/drawingml/2006/main" noGrp="1"/>
          </p:cNvSpPr>
          <p:nvPr/>
        </p:nvSpPr>
        <p:spPr>
          <a:xfrm xmlns:a="http://schemas.openxmlformats.org/drawingml/2006/main">
            <a:off x="838200" y="1314450"/>
            <a:ext cx="657225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Shopping should start</a:t>
            </a:r>
          </a:p>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and finish with</a:t>
            </a:r>
          </a:p>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one request.</a:t>
            </a:r>
          </a:p>
        </p:txBody>
      </p:sp>
      <p:sp>
        <p:nvSpPr>
          <p:cNvPr id="3" name="closing-tagline">
            <a:extLst xmlns:a="http://schemas.openxmlformats.org/drawingml/2006/main">
              <a:ext uri="{FF2B5EF4-FFF2-40B4-BE49-F238E27FC236}">
                <a16:creationId xmlns:a16="http://schemas.microsoft.com/office/drawing/2014/main" id="{6EC2DC6F-0A7B-4F6E-BD30-C7C0CF8409EC}"/>
              </a:ext>
            </a:extLst>
          </p:cNvPr>
          <p:cNvSpPr>
            <a:spLocks xmlns:a="http://schemas.openxmlformats.org/drawingml/2006/main" noGrp="1"/>
          </p:cNvSpPr>
          <p:nvPr/>
        </p:nvSpPr>
        <p:spPr>
          <a:xfrm xmlns:a="http://schemas.openxmlformats.org/drawingml/2006/main">
            <a:off x="838200" y="443865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1">
                <a:solidFill>
                  <a:srgbClr val="B7F522"/>
                </a:solidFill>
                <a:latin typeface="Avenir Next"/>
                <a:ea typeface="Avenir Next"/>
                <a:cs typeface="Avenir Next"/>
              </a:defRPr>
            </a:pPr>
            <a:r>
              <a:rPr sz="2100" b="1">
                <a:solidFill>
                  <a:srgbClr val="B7F522"/>
                </a:solidFill>
                <a:latin typeface="Avenir Next"/>
                <a:ea typeface="Avenir Next"/>
                <a:cs typeface="Avenir Next"/>
              </a:rPr>
              <a:t>Everything works together.</a:t>
            </a:r>
          </a:p>
        </p:txBody>
      </p:sp>
      <p:sp>
        <p:nvSpPr>
          <p:cNvPr id="4" name="closing-triad">
            <a:extLst xmlns:a="http://schemas.openxmlformats.org/drawingml/2006/main">
              <a:ext uri="{FF2B5EF4-FFF2-40B4-BE49-F238E27FC236}">
                <a16:creationId xmlns:a16="http://schemas.microsoft.com/office/drawing/2014/main" id="{72F89658-D2BF-4658-B511-4AA10AF9E935}"/>
              </a:ext>
            </a:extLst>
          </p:cNvPr>
          <p:cNvSpPr>
            <a:spLocks xmlns:a="http://schemas.openxmlformats.org/drawingml/2006/main" noGrp="1"/>
          </p:cNvSpPr>
          <p:nvPr/>
        </p:nvSpPr>
        <p:spPr>
          <a:xfrm xmlns:a="http://schemas.openxmlformats.org/drawingml/2006/main">
            <a:off x="838200" y="5810250"/>
            <a:ext cx="5334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Ask once.</a:t>
            </a:r>
          </a:p>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Review once.</a:t>
            </a:r>
          </a:p>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Confirm once.</a:t>
            </a:r>
          </a:p>
        </p:txBody>
      </p:sp>
      <p:sp>
        <p:nvSpPr>
          <p:cNvPr id="5" name="Woven simulated authorization result and pickup receipt-backplate">
            <a:extLst xmlns:a="http://schemas.openxmlformats.org/drawingml/2006/main">
              <a:ext uri="{FF2B5EF4-FFF2-40B4-BE49-F238E27FC236}">
                <a16:creationId xmlns:a16="http://schemas.microsoft.com/office/drawing/2014/main" id="{6657EEA8-CC04-4F82-BABF-52A8AB7EB24E}"/>
              </a:ext>
            </a:extLst>
          </p:cNvPr>
          <p:cNvSpPr>
            <a:spLocks xmlns:a="http://schemas.openxmlformats.org/drawingml/2006/main" noGrp="1"/>
          </p:cNvSpPr>
          <p:nvPr/>
        </p:nvSpPr>
        <p:spPr>
          <a:xfrm xmlns:a="http://schemas.openxmlformats.org/drawingml/2006/main">
            <a:off x="7620000" y="2381250"/>
            <a:ext cx="6858000" cy="39433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7" name="closing-boundary">
            <a:extLst xmlns:a="http://schemas.openxmlformats.org/drawingml/2006/main">
              <a:ext uri="{FF2B5EF4-FFF2-40B4-BE49-F238E27FC236}">
                <a16:creationId xmlns:a16="http://schemas.microsoft.com/office/drawing/2014/main" id="{F366E3E1-58EC-4B9E-85AC-84B9FDF83536}"/>
              </a:ext>
            </a:extLst>
          </p:cNvPr>
          <p:cNvSpPr>
            <a:spLocks xmlns:a="http://schemas.openxmlformats.org/drawingml/2006/main" noGrp="1"/>
          </p:cNvSpPr>
          <p:nvPr/>
        </p:nvSpPr>
        <p:spPr>
          <a:xfrm xmlns:a="http://schemas.openxmlformats.org/drawingml/2006/main">
            <a:off x="8401050" y="65722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ctr">
              <a:buNone/>
              <a:defRPr sz="1200" b="1">
                <a:solidFill>
                  <a:srgbClr val="B7F522"/>
                </a:solidFill>
                <a:latin typeface="Menlo"/>
                <a:ea typeface="Menlo"/>
                <a:cs typeface="Menlo"/>
              </a:defRPr>
            </a:pPr>
            <a:r>
              <a:rPr sz="1200" b="1">
                <a:solidFill>
                  <a:srgbClr val="B7F522"/>
                </a:solidFill>
                <a:latin typeface="Menlo"/>
                <a:ea typeface="Menlo"/>
                <a:cs typeface="Menlo"/>
              </a:rPr>
              <a:t>WORKING MCP APP · SEEDED DEMO DATA</a:t>
            </a:r>
          </a:p>
        </p:txBody>
      </p:sp>
      <p:sp>
        <p:nvSpPr>
          <p:cNvPr id="8" name="footer-label-9">
            <a:extLst xmlns:a="http://schemas.openxmlformats.org/drawingml/2006/main">
              <a:ext uri="{FF2B5EF4-FFF2-40B4-BE49-F238E27FC236}">
                <a16:creationId xmlns:a16="http://schemas.microsoft.com/office/drawing/2014/main" id="{D2647B79-80DB-4F8E-8A2F-05922DDDED74}"/>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DCECE5"/>
                </a:solidFill>
                <a:latin typeface="Menlo"/>
                <a:ea typeface="Menlo"/>
                <a:cs typeface="Menlo"/>
              </a:defRPr>
            </a:pPr>
            <a:r>
              <a:rPr sz="1200" b="1">
                <a:solidFill>
                  <a:srgbClr val="DCECE5"/>
                </a:solidFill>
                <a:latin typeface="Menlo"/>
                <a:ea typeface="Menlo"/>
                <a:cs typeface="Menlo"/>
              </a:rPr>
              <a:t>WOVEN  /  LIFEHACK 2026</a:t>
            </a:r>
          </a:p>
        </p:txBody>
      </p:sp>
      <p:sp>
        <p:nvSpPr>
          <p:cNvPr id="9" name="footer-number-9">
            <a:extLst xmlns:a="http://schemas.openxmlformats.org/drawingml/2006/main">
              <a:ext uri="{FF2B5EF4-FFF2-40B4-BE49-F238E27FC236}">
                <a16:creationId xmlns:a16="http://schemas.microsoft.com/office/drawing/2014/main" id="{62445167-1406-4B61-A1CF-80F49583F03F}"/>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DCECE5"/>
                </a:solidFill>
                <a:latin typeface="Menlo"/>
                <a:ea typeface="Menlo"/>
                <a:cs typeface="Menlo"/>
              </a:defRPr>
            </a:pPr>
            <a:r>
              <a:rPr sz="1350" b="1">
                <a:solidFill>
                  <a:srgbClr val="DCECE5"/>
                </a:solidFill>
                <a:latin typeface="Menlo"/>
                <a:ea typeface="Menlo"/>
                <a:cs typeface="Menlo"/>
              </a:rPr>
              <a:t>01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4deff9c5da942be"/>
          <a:srcRect xmlns:a="http://schemas.openxmlformats.org/drawingml/2006/main" l="12000" t="0" r="2000" b="0"/>
          <a:stretch xmlns:a="http://schemas.openxmlformats.org/drawingml/2006/main">
            <a:fillRect l="0" t="0" r="0" b="0"/>
          </a:stretch>
        </p:blipFill>
        <p:spPr>
          <a:xfrm xmlns:a="http://schemas.openxmlformats.org/drawingml/2006/main" flipH="0" flipV="0">
            <a:off x="7715250" y="2477691"/>
            <a:ext cx="6667500" cy="3750469"/>
          </a:xfrm>
          <a:prstGeom xmlns:a="http://schemas.openxmlformats.org/drawingml/2006/main" prst="roundRect">
            <a:avLst/>
          </a:prstGeom>
        </p:spPr>
      </p:pic>
    </p:spTree>
    <p:extLst>
      <p:ext uri="{BB962C8B-B14F-4D97-AF65-F5344CB8AC3E}">
        <p14:creationId xmlns:p14="http://schemas.microsoft.com/office/powerpoint/2010/main" val="1060689594"/>
      </p:ext>
    </p:extLst>
  </p:cSld>
</p:sld>
</file>

<file path=ppt/slides/slide2.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8" name="eyebrow-The problem">
            <a:extLst xmlns:a="http://schemas.openxmlformats.org/drawingml/2006/main">
              <a:ext uri="{FF2B5EF4-FFF2-40B4-BE49-F238E27FC236}">
                <a16:creationId xmlns:a16="http://schemas.microsoft.com/office/drawing/2014/main" id="{44E2CD68-0B5C-4392-A350-CCF598C308CA}"/>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THE FRICTION</a:t>
            </a:r>
          </a:p>
        </p:txBody>
      </p:sp>
      <p:sp>
        <p:nvSpPr>
          <p:cNvPr id="2" name="title-Search finds products. People need complete outcomes.">
            <a:extLst xmlns:a="http://schemas.openxmlformats.org/drawingml/2006/main">
              <a:ext uri="{FF2B5EF4-FFF2-40B4-BE49-F238E27FC236}">
                <a16:creationId xmlns:a16="http://schemas.microsoft.com/office/drawing/2014/main" id="{68D09165-98E1-4BBB-8261-E28C47B97877}"/>
              </a:ext>
            </a:extLst>
          </p:cNvPr>
          <p:cNvSpPr>
            <a:spLocks xmlns:a="http://schemas.openxmlformats.org/drawingml/2006/main" noGrp="1"/>
          </p:cNvSpPr>
          <p:nvPr/>
        </p:nvSpPr>
        <p:spPr>
          <a:xfrm xmlns:a="http://schemas.openxmlformats.org/drawingml/2006/main">
            <a:off x="838200" y="990600"/>
            <a:ext cx="13525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Search gives you links. Buying still takes work.</a:t>
            </a:r>
          </a:p>
        </p:txBody>
      </p:sp>
      <p:sp>
        <p:nvSpPr>
          <p:cNvPr id="3" name="problem-big-claim">
            <a:extLst xmlns:a="http://schemas.openxmlformats.org/drawingml/2006/main">
              <a:ext uri="{FF2B5EF4-FFF2-40B4-BE49-F238E27FC236}">
                <a16:creationId xmlns:a16="http://schemas.microsoft.com/office/drawing/2014/main" id="{859D58A8-50A8-4A2E-A3EB-F5B97876071B}"/>
              </a:ext>
            </a:extLst>
          </p:cNvPr>
          <p:cNvSpPr>
            <a:spLocks xmlns:a="http://schemas.openxmlformats.org/drawingml/2006/main" noGrp="1"/>
          </p:cNvSpPr>
          <p:nvPr/>
        </p:nvSpPr>
        <p:spPr>
          <a:xfrm xmlns:a="http://schemas.openxmlformats.org/drawingml/2006/main">
            <a:off x="838200" y="2628900"/>
            <a:ext cx="5429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6000"/>
              </a:lnSpc>
              <a:buNone/>
              <a:defRPr sz="3600" b="1">
                <a:solidFill>
                  <a:srgbClr val="B64032"/>
                </a:solidFill>
                <a:latin typeface="Georgia"/>
                <a:ea typeface="Georgia"/>
                <a:cs typeface="Georgia"/>
              </a:defRPr>
            </a:pPr>
            <a:r>
              <a:rPr sz="3600" b="1">
                <a:solidFill>
                  <a:srgbClr val="B64032"/>
                </a:solidFill>
                <a:latin typeface="Georgia"/>
                <a:ea typeface="Georgia"/>
                <a:cs typeface="Georgia"/>
              </a:rPr>
              <a:t>Rebuild the cart
at checkout.</a:t>
            </a:r>
          </a:p>
        </p:txBody>
      </p:sp>
      <p:sp>
        <p:nvSpPr>
          <p:cNvPr id="4" name="problem-line-0">
            <a:extLst xmlns:a="http://schemas.openxmlformats.org/drawingml/2006/main">
              <a:ext uri="{FF2B5EF4-FFF2-40B4-BE49-F238E27FC236}">
                <a16:creationId xmlns:a16="http://schemas.microsoft.com/office/drawing/2014/main" id="{F6EFC167-1810-4F7B-8BCB-F004476B0D78}"/>
              </a:ext>
            </a:extLst>
          </p:cNvPr>
          <p:cNvSpPr>
            <a:spLocks xmlns:a="http://schemas.openxmlformats.org/drawingml/2006/main" noGrp="1"/>
          </p:cNvSpPr>
          <p:nvPr/>
        </p:nvSpPr>
        <p:spPr>
          <a:xfrm xmlns:a="http://schemas.openxmlformats.org/drawingml/2006/main">
            <a:off x="7029450" y="2495550"/>
            <a:ext cx="7239000" cy="0"/>
          </a:xfrm>
          <a:prstGeom xmlns:a="http://schemas.openxmlformats.org/drawingml/2006/main" prst="line">
            <a:avLst/>
          </a:prstGeom>
          <a:noFill xmlns:a="http://schemas.openxmlformats.org/drawingml/2006/main"/>
          <a:ln xmlns:a="http://schemas.openxmlformats.org/drawingml/2006/main" w="47625">
            <a:solidFill>
              <a:srgbClr val="B7F522"/>
            </a:solidFill>
            <a:prstDash val="solid"/>
          </a:ln>
        </p:spPr>
      </p:sp>
      <p:sp>
        <p:nvSpPr>
          <p:cNvPr id="5" name="problem-num-0">
            <a:extLst xmlns:a="http://schemas.openxmlformats.org/drawingml/2006/main">
              <a:ext uri="{FF2B5EF4-FFF2-40B4-BE49-F238E27FC236}">
                <a16:creationId xmlns:a16="http://schemas.microsoft.com/office/drawing/2014/main" id="{49F19DE5-0CDD-49DA-B021-0FD522A3AA82}"/>
              </a:ext>
            </a:extLst>
          </p:cNvPr>
          <p:cNvSpPr>
            <a:spLocks xmlns:a="http://schemas.openxmlformats.org/drawingml/2006/main" noGrp="1"/>
          </p:cNvSpPr>
          <p:nvPr/>
        </p:nvSpPr>
        <p:spPr>
          <a:xfrm xmlns:a="http://schemas.openxmlformats.org/drawingml/2006/main">
            <a:off x="7029450" y="269557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01</a:t>
            </a:r>
          </a:p>
        </p:txBody>
      </p:sp>
      <p:sp>
        <p:nvSpPr>
          <p:cNvPr id="6" name="problem-heading-0">
            <a:extLst xmlns:a="http://schemas.openxmlformats.org/drawingml/2006/main">
              <a:ext uri="{FF2B5EF4-FFF2-40B4-BE49-F238E27FC236}">
                <a16:creationId xmlns:a16="http://schemas.microsoft.com/office/drawing/2014/main" id="{CE772126-66DC-4086-BD1B-464082B7C4AB}"/>
              </a:ext>
            </a:extLst>
          </p:cNvPr>
          <p:cNvSpPr>
            <a:spLocks xmlns:a="http://schemas.openxmlformats.org/drawingml/2006/main" noGrp="1"/>
          </p:cNvSpPr>
          <p:nvPr/>
        </p:nvSpPr>
        <p:spPr>
          <a:xfrm xmlns:a="http://schemas.openxmlformats.org/drawingml/2006/main">
            <a:off x="7905750" y="2667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Compare products</a:t>
            </a:r>
          </a:p>
        </p:txBody>
      </p:sp>
      <p:sp>
        <p:nvSpPr>
          <p:cNvPr id="7" name="problem-body-0">
            <a:extLst xmlns:a="http://schemas.openxmlformats.org/drawingml/2006/main">
              <a:ext uri="{FF2B5EF4-FFF2-40B4-BE49-F238E27FC236}">
                <a16:creationId xmlns:a16="http://schemas.microsoft.com/office/drawing/2014/main" id="{0B2C2F14-6ADC-4106-8ED7-26997B86B0E4}"/>
              </a:ext>
            </a:extLst>
          </p:cNvPr>
          <p:cNvSpPr>
            <a:spLocks xmlns:a="http://schemas.openxmlformats.org/drawingml/2006/main" noGrp="1"/>
          </p:cNvSpPr>
          <p:nvPr/>
        </p:nvSpPr>
        <p:spPr>
          <a:xfrm xmlns:a="http://schemas.openxmlformats.org/drawingml/2006/main">
            <a:off x="7905750" y="313372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You still open tabs and evaluate individual options.</a:t>
            </a:r>
          </a:p>
        </p:txBody>
      </p:sp>
      <p:sp>
        <p:nvSpPr>
          <p:cNvPr id="8" name="problem-line-1">
            <a:extLst xmlns:a="http://schemas.openxmlformats.org/drawingml/2006/main">
              <a:ext uri="{FF2B5EF4-FFF2-40B4-BE49-F238E27FC236}">
                <a16:creationId xmlns:a16="http://schemas.microsoft.com/office/drawing/2014/main" id="{6AFC7403-25EE-4D0D-9379-D3185F74FF6C}"/>
              </a:ext>
            </a:extLst>
          </p:cNvPr>
          <p:cNvSpPr>
            <a:spLocks xmlns:a="http://schemas.openxmlformats.org/drawingml/2006/main" noGrp="1"/>
          </p:cNvSpPr>
          <p:nvPr/>
        </p:nvSpPr>
        <p:spPr>
          <a:xfrm xmlns:a="http://schemas.openxmlformats.org/drawingml/2006/main">
            <a:off x="7029450" y="3848100"/>
            <a:ext cx="72390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9" name="problem-num-1">
            <a:extLst xmlns:a="http://schemas.openxmlformats.org/drawingml/2006/main">
              <a:ext uri="{FF2B5EF4-FFF2-40B4-BE49-F238E27FC236}">
                <a16:creationId xmlns:a16="http://schemas.microsoft.com/office/drawing/2014/main" id="{CD09E3EF-D7BF-45D7-93B8-4B0261FFB98C}"/>
              </a:ext>
            </a:extLst>
          </p:cNvPr>
          <p:cNvSpPr>
            <a:spLocks xmlns:a="http://schemas.openxmlformats.org/drawingml/2006/main" noGrp="1"/>
          </p:cNvSpPr>
          <p:nvPr/>
        </p:nvSpPr>
        <p:spPr>
          <a:xfrm xmlns:a="http://schemas.openxmlformats.org/drawingml/2006/main">
            <a:off x="7029450" y="404812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02</a:t>
            </a:r>
          </a:p>
        </p:txBody>
      </p:sp>
      <p:sp>
        <p:nvSpPr>
          <p:cNvPr id="10" name="problem-heading-1">
            <a:extLst xmlns:a="http://schemas.openxmlformats.org/drawingml/2006/main">
              <a:ext uri="{FF2B5EF4-FFF2-40B4-BE49-F238E27FC236}">
                <a16:creationId xmlns:a16="http://schemas.microsoft.com/office/drawing/2014/main" id="{52462AF3-882B-4600-9871-095535CD92EF}"/>
              </a:ext>
            </a:extLst>
          </p:cNvPr>
          <p:cNvSpPr>
            <a:spLocks xmlns:a="http://schemas.openxmlformats.org/drawingml/2006/main" noGrp="1"/>
          </p:cNvSpPr>
          <p:nvPr/>
        </p:nvSpPr>
        <p:spPr>
          <a:xfrm xmlns:a="http://schemas.openxmlformats.org/drawingml/2006/main">
            <a:off x="7905750" y="401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Check compatibility</a:t>
            </a:r>
          </a:p>
        </p:txBody>
      </p:sp>
      <p:sp>
        <p:nvSpPr>
          <p:cNvPr id="11" name="problem-body-1">
            <a:extLst xmlns:a="http://schemas.openxmlformats.org/drawingml/2006/main">
              <a:ext uri="{FF2B5EF4-FFF2-40B4-BE49-F238E27FC236}">
                <a16:creationId xmlns:a16="http://schemas.microsoft.com/office/drawing/2014/main" id="{6431976A-9D94-46B7-9EE9-6E234B727F82}"/>
              </a:ext>
            </a:extLst>
          </p:cNvPr>
          <p:cNvSpPr>
            <a:spLocks xmlns:a="http://schemas.openxmlformats.org/drawingml/2006/main" noGrp="1"/>
          </p:cNvSpPr>
          <p:nvPr/>
        </p:nvSpPr>
        <p:spPr>
          <a:xfrm xmlns:a="http://schemas.openxmlformats.org/drawingml/2006/main">
            <a:off x="7905750" y="448627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One wrong cable or adapter breaks the whole kit.</a:t>
            </a:r>
          </a:p>
        </p:txBody>
      </p:sp>
      <p:sp>
        <p:nvSpPr>
          <p:cNvPr id="12" name="problem-line-2">
            <a:extLst xmlns:a="http://schemas.openxmlformats.org/drawingml/2006/main">
              <a:ext uri="{FF2B5EF4-FFF2-40B4-BE49-F238E27FC236}">
                <a16:creationId xmlns:a16="http://schemas.microsoft.com/office/drawing/2014/main" id="{5101FF83-153A-4FDA-AF88-2D2B9204F4AA}"/>
              </a:ext>
            </a:extLst>
          </p:cNvPr>
          <p:cNvSpPr>
            <a:spLocks xmlns:a="http://schemas.openxmlformats.org/drawingml/2006/main" noGrp="1"/>
          </p:cNvSpPr>
          <p:nvPr/>
        </p:nvSpPr>
        <p:spPr>
          <a:xfrm xmlns:a="http://schemas.openxmlformats.org/drawingml/2006/main">
            <a:off x="7029450" y="5200650"/>
            <a:ext cx="72390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13" name="problem-num-2">
            <a:extLst xmlns:a="http://schemas.openxmlformats.org/drawingml/2006/main">
              <a:ext uri="{FF2B5EF4-FFF2-40B4-BE49-F238E27FC236}">
                <a16:creationId xmlns:a16="http://schemas.microsoft.com/office/drawing/2014/main" id="{ECDCB99E-A360-423B-A36F-EB5A299BE325}"/>
              </a:ext>
            </a:extLst>
          </p:cNvPr>
          <p:cNvSpPr>
            <a:spLocks xmlns:a="http://schemas.openxmlformats.org/drawingml/2006/main" noGrp="1"/>
          </p:cNvSpPr>
          <p:nvPr/>
        </p:nvSpPr>
        <p:spPr>
          <a:xfrm xmlns:a="http://schemas.openxmlformats.org/drawingml/2006/main">
            <a:off x="7029450" y="540067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03</a:t>
            </a:r>
          </a:p>
        </p:txBody>
      </p:sp>
      <p:sp>
        <p:nvSpPr>
          <p:cNvPr id="14" name="problem-heading-2">
            <a:extLst xmlns:a="http://schemas.openxmlformats.org/drawingml/2006/main">
              <a:ext uri="{FF2B5EF4-FFF2-40B4-BE49-F238E27FC236}">
                <a16:creationId xmlns:a16="http://schemas.microsoft.com/office/drawing/2014/main" id="{65A5D0AE-23F4-44CE-AAA0-004FA07BB143}"/>
              </a:ext>
            </a:extLst>
          </p:cNvPr>
          <p:cNvSpPr>
            <a:spLocks xmlns:a="http://schemas.openxmlformats.org/drawingml/2006/main" noGrp="1"/>
          </p:cNvSpPr>
          <p:nvPr/>
        </p:nvSpPr>
        <p:spPr>
          <a:xfrm xmlns:a="http://schemas.openxmlformats.org/drawingml/2006/main">
            <a:off x="7905750" y="53721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Find one store</a:t>
            </a:r>
          </a:p>
        </p:txBody>
      </p:sp>
      <p:sp>
        <p:nvSpPr>
          <p:cNvPr id="15" name="problem-body-2">
            <a:extLst xmlns:a="http://schemas.openxmlformats.org/drawingml/2006/main">
              <a:ext uri="{FF2B5EF4-FFF2-40B4-BE49-F238E27FC236}">
                <a16:creationId xmlns:a16="http://schemas.microsoft.com/office/drawing/2014/main" id="{AFFD3B42-B59D-49D8-984E-64CB04792A63}"/>
              </a:ext>
            </a:extLst>
          </p:cNvPr>
          <p:cNvSpPr>
            <a:spLocks xmlns:a="http://schemas.openxmlformats.org/drawingml/2006/main" noGrp="1"/>
          </p:cNvSpPr>
          <p:nvPr/>
        </p:nvSpPr>
        <p:spPr>
          <a:xfrm xmlns:a="http://schemas.openxmlformats.org/drawingml/2006/main">
            <a:off x="7905750" y="583882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Everything must be available today at one pickup location.</a:t>
            </a:r>
          </a:p>
        </p:txBody>
      </p:sp>
      <p:sp>
        <p:nvSpPr>
          <p:cNvPr id="16" name="footer-label-2">
            <a:extLst xmlns:a="http://schemas.openxmlformats.org/drawingml/2006/main">
              <a:ext uri="{FF2B5EF4-FFF2-40B4-BE49-F238E27FC236}">
                <a16:creationId xmlns:a16="http://schemas.microsoft.com/office/drawing/2014/main" id="{6611CBBE-57D8-4F17-ACC1-D8FE5180BE38}"/>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7" name="footer-number-2">
            <a:extLst xmlns:a="http://schemas.openxmlformats.org/drawingml/2006/main">
              <a:ext uri="{FF2B5EF4-FFF2-40B4-BE49-F238E27FC236}">
                <a16:creationId xmlns:a16="http://schemas.microsoft.com/office/drawing/2014/main" id="{2AA90FA9-EF01-40BA-9259-56908DEFC5BF}"/>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02</a:t>
            </a:r>
          </a:p>
        </p:txBody>
      </p:sp>
    </p:spTree>
    <p:extLst>
      <p:ext uri="{BB962C8B-B14F-4D97-AF65-F5344CB8AC3E}">
        <p14:creationId xmlns:p14="http://schemas.microsoft.com/office/powerpoint/2010/main" val="619982641"/>
      </p:ext>
    </p:extLst>
  </p:cSld>
</p:sld>
</file>

<file path=ppt/slides/slide3.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3" name="eyebrow-The product">
            <a:extLst xmlns:a="http://schemas.openxmlformats.org/drawingml/2006/main">
              <a:ext uri="{FF2B5EF4-FFF2-40B4-BE49-F238E27FC236}">
                <a16:creationId xmlns:a16="http://schemas.microsoft.com/office/drawing/2014/main" id="{07A88F95-BFF8-48C4-862D-F9984BCFD9CA}"/>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THE COMPLETE CART</a:t>
            </a:r>
          </a:p>
        </p:txBody>
      </p:sp>
      <p:sp>
        <p:nvSpPr>
          <p:cNvPr id="2" name="title-Woven turns intent into a complete cart.">
            <a:extLst xmlns:a="http://schemas.openxmlformats.org/drawingml/2006/main">
              <a:ext uri="{FF2B5EF4-FFF2-40B4-BE49-F238E27FC236}">
                <a16:creationId xmlns:a16="http://schemas.microsoft.com/office/drawing/2014/main" id="{044C183A-E528-4271-8878-340DBD49AD32}"/>
              </a:ext>
            </a:extLst>
          </p:cNvPr>
          <p:cNvSpPr>
            <a:spLocks xmlns:a="http://schemas.openxmlformats.org/drawingml/2006/main" noGrp="1"/>
          </p:cNvSpPr>
          <p:nvPr/>
        </p:nvSpPr>
        <p:spPr>
          <a:xfrm xmlns:a="http://schemas.openxmlformats.org/drawingml/2006/main">
            <a:off x="838200" y="990600"/>
            <a:ext cx="1323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Woven returns a complete cart—not another list.</a:t>
            </a:r>
          </a:p>
        </p:txBody>
      </p:sp>
      <p:sp>
        <p:nvSpPr>
          <p:cNvPr id="3" name="metric-value-0">
            <a:extLst xmlns:a="http://schemas.openxmlformats.org/drawingml/2006/main">
              <a:ext uri="{FF2B5EF4-FFF2-40B4-BE49-F238E27FC236}">
                <a16:creationId xmlns:a16="http://schemas.microsoft.com/office/drawing/2014/main" id="{E720D8B4-0DC5-4C28-87E9-44D51229EF85}"/>
              </a:ext>
            </a:extLst>
          </p:cNvPr>
          <p:cNvSpPr>
            <a:spLocks xmlns:a="http://schemas.openxmlformats.org/drawingml/2006/main" noGrp="1"/>
          </p:cNvSpPr>
          <p:nvPr/>
        </p:nvSpPr>
        <p:spPr>
          <a:xfrm xmlns:a="http://schemas.openxmlformats.org/drawingml/2006/main">
            <a:off x="838200" y="278130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4350" b="1">
                <a:solidFill>
                  <a:srgbClr val="0E4B3B"/>
                </a:solidFill>
                <a:latin typeface="Georgia"/>
                <a:ea typeface="Georgia"/>
                <a:cs typeface="Georgia"/>
              </a:defRPr>
            </a:pPr>
            <a:r>
              <a:rPr sz="4350" b="1">
                <a:solidFill>
                  <a:srgbClr val="0E4B3B"/>
                </a:solidFill>
                <a:latin typeface="Georgia"/>
                <a:ea typeface="Georgia"/>
                <a:cs typeface="Georgia"/>
              </a:rPr>
              <a:t>1</a:t>
            </a:r>
          </a:p>
        </p:txBody>
      </p:sp>
      <p:sp>
        <p:nvSpPr>
          <p:cNvPr id="4" name="metric-label-0">
            <a:extLst xmlns:a="http://schemas.openxmlformats.org/drawingml/2006/main">
              <a:ext uri="{FF2B5EF4-FFF2-40B4-BE49-F238E27FC236}">
                <a16:creationId xmlns:a16="http://schemas.microsoft.com/office/drawing/2014/main" id="{94B9C37E-E44A-4911-823F-0818603B6764}"/>
              </a:ext>
            </a:extLst>
          </p:cNvPr>
          <p:cNvSpPr>
            <a:spLocks xmlns:a="http://schemas.openxmlformats.org/drawingml/2006/main" noGrp="1"/>
          </p:cNvSpPr>
          <p:nvPr/>
        </p:nvSpPr>
        <p:spPr>
          <a:xfrm xmlns:a="http://schemas.openxmlformats.org/drawingml/2006/main">
            <a:off x="838200" y="3467100"/>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merchant and pickup point</a:t>
            </a:r>
          </a:p>
        </p:txBody>
      </p:sp>
      <p:sp>
        <p:nvSpPr>
          <p:cNvPr id="5" name="metric-value-1">
            <a:extLst xmlns:a="http://schemas.openxmlformats.org/drawingml/2006/main">
              <a:ext uri="{FF2B5EF4-FFF2-40B4-BE49-F238E27FC236}">
                <a16:creationId xmlns:a16="http://schemas.microsoft.com/office/drawing/2014/main" id="{C9AA5B59-8D6D-4578-BE98-DA2CCD78BACE}"/>
              </a:ext>
            </a:extLst>
          </p:cNvPr>
          <p:cNvSpPr>
            <a:spLocks xmlns:a="http://schemas.openxmlformats.org/drawingml/2006/main" noGrp="1"/>
          </p:cNvSpPr>
          <p:nvPr/>
        </p:nvSpPr>
        <p:spPr>
          <a:xfrm xmlns:a="http://schemas.openxmlformats.org/drawingml/2006/main">
            <a:off x="838200" y="413385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4350" b="1">
                <a:solidFill>
                  <a:srgbClr val="0E4B3B"/>
                </a:solidFill>
                <a:latin typeface="Georgia"/>
                <a:ea typeface="Georgia"/>
                <a:cs typeface="Georgia"/>
              </a:defRPr>
            </a:pPr>
            <a:r>
              <a:rPr sz="4350" b="1">
                <a:solidFill>
                  <a:srgbClr val="0E4B3B"/>
                </a:solidFill>
                <a:latin typeface="Georgia"/>
                <a:ea typeface="Georgia"/>
                <a:cs typeface="Georgia"/>
              </a:rPr>
              <a:t>4</a:t>
            </a:r>
          </a:p>
        </p:txBody>
      </p:sp>
      <p:sp>
        <p:nvSpPr>
          <p:cNvPr id="6" name="metric-label-1">
            <a:extLst xmlns:a="http://schemas.openxmlformats.org/drawingml/2006/main">
              <a:ext uri="{FF2B5EF4-FFF2-40B4-BE49-F238E27FC236}">
                <a16:creationId xmlns:a16="http://schemas.microsoft.com/office/drawing/2014/main" id="{D67D50E1-2330-405F-9814-8A977683F612}"/>
              </a:ext>
            </a:extLst>
          </p:cNvPr>
          <p:cNvSpPr>
            <a:spLocks xmlns:a="http://schemas.openxmlformats.org/drawingml/2006/main" noGrp="1"/>
          </p:cNvSpPr>
          <p:nvPr/>
        </p:nvSpPr>
        <p:spPr>
          <a:xfrm xmlns:a="http://schemas.openxmlformats.org/drawingml/2006/main">
            <a:off x="838200" y="4819650"/>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compatible components</a:t>
            </a:r>
          </a:p>
        </p:txBody>
      </p:sp>
      <p:sp>
        <p:nvSpPr>
          <p:cNvPr id="7" name="metric-value-2">
            <a:extLst xmlns:a="http://schemas.openxmlformats.org/drawingml/2006/main">
              <a:ext uri="{FF2B5EF4-FFF2-40B4-BE49-F238E27FC236}">
                <a16:creationId xmlns:a16="http://schemas.microsoft.com/office/drawing/2014/main" id="{34A2351A-08FA-41EA-9E37-D15FDFEC6DD9}"/>
              </a:ext>
            </a:extLst>
          </p:cNvPr>
          <p:cNvSpPr>
            <a:spLocks xmlns:a="http://schemas.openxmlformats.org/drawingml/2006/main" noGrp="1"/>
          </p:cNvSpPr>
          <p:nvPr/>
        </p:nvSpPr>
        <p:spPr>
          <a:xfrm xmlns:a="http://schemas.openxmlformats.org/drawingml/2006/main">
            <a:off x="838200" y="548640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4350" b="1">
                <a:solidFill>
                  <a:srgbClr val="B64032"/>
                </a:solidFill>
                <a:latin typeface="Georgia"/>
                <a:ea typeface="Georgia"/>
                <a:cs typeface="Georgia"/>
              </a:defRPr>
            </a:pPr>
            <a:r>
              <a:rPr sz="4350" b="1">
                <a:solidFill>
                  <a:srgbClr val="B64032"/>
                </a:solidFill>
                <a:latin typeface="Georgia"/>
                <a:ea typeface="Georgia"/>
                <a:cs typeface="Georgia"/>
              </a:rPr>
              <a:t>S$133</a:t>
            </a:r>
          </a:p>
        </p:txBody>
      </p:sp>
      <p:sp>
        <p:nvSpPr>
          <p:cNvPr id="8" name="metric-label-2">
            <a:extLst xmlns:a="http://schemas.openxmlformats.org/drawingml/2006/main">
              <a:ext uri="{FF2B5EF4-FFF2-40B4-BE49-F238E27FC236}">
                <a16:creationId xmlns:a16="http://schemas.microsoft.com/office/drawing/2014/main" id="{E17DFFAD-5854-4414-BDBD-56E6D52F7CF6}"/>
              </a:ext>
            </a:extLst>
          </p:cNvPr>
          <p:cNvSpPr>
            <a:spLocks xmlns:a="http://schemas.openxmlformats.org/drawingml/2006/main" noGrp="1"/>
          </p:cNvSpPr>
          <p:nvPr/>
        </p:nvSpPr>
        <p:spPr>
          <a:xfrm xmlns:a="http://schemas.openxmlformats.org/drawingml/2006/main">
            <a:off x="838200" y="6172200"/>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under budget · pickup today</a:t>
            </a:r>
          </a:p>
        </p:txBody>
      </p:sp>
      <p:sp>
        <p:nvSpPr>
          <p:cNvPr id="9" name="Woven buyer view showing the mission and three complete carts-backplate">
            <a:extLst xmlns:a="http://schemas.openxmlformats.org/drawingml/2006/main">
              <a:ext uri="{FF2B5EF4-FFF2-40B4-BE49-F238E27FC236}">
                <a16:creationId xmlns:a16="http://schemas.microsoft.com/office/drawing/2014/main" id="{ABE8B1E6-CCF5-4ADE-BE71-0884CDDECEDA}"/>
              </a:ext>
            </a:extLst>
          </p:cNvPr>
          <p:cNvSpPr>
            <a:spLocks xmlns:a="http://schemas.openxmlformats.org/drawingml/2006/main" noGrp="1"/>
          </p:cNvSpPr>
          <p:nvPr/>
        </p:nvSpPr>
        <p:spPr>
          <a:xfrm xmlns:a="http://schemas.openxmlformats.org/drawingml/2006/main">
            <a:off x="4762500" y="2381250"/>
            <a:ext cx="9525000" cy="5438775"/>
          </a:xfrm>
          <a:prstGeom xmlns:a="http://schemas.openxmlformats.org/drawingml/2006/main" prst="roundRect">
            <a:avLst>
              <a:gd name="adj" fmla="val 4203"/>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15bc04db61343b4"/>
          <a:stretch xmlns:a="http://schemas.openxmlformats.org/drawingml/2006/main"/>
        </p:blipFill>
        <p:spPr>
          <a:xfrm xmlns:a="http://schemas.openxmlformats.org/drawingml/2006/main" flipH="0" flipV="0">
            <a:off x="4859867" y="2476500"/>
            <a:ext cx="9330267" cy="5248275"/>
          </a:xfrm>
          <a:prstGeom xmlns:a="http://schemas.openxmlformats.org/drawingml/2006/main" prst="roundRect">
            <a:avLst/>
          </a:prstGeom>
        </p:spPr>
      </p:pic>
      <p:sp>
        <p:nvSpPr>
          <p:cNvPr id="11" name="footer-label-4">
            <a:extLst xmlns:a="http://schemas.openxmlformats.org/drawingml/2006/main">
              <a:ext uri="{FF2B5EF4-FFF2-40B4-BE49-F238E27FC236}">
                <a16:creationId xmlns:a16="http://schemas.microsoft.com/office/drawing/2014/main" id="{0BF00BD6-0EB2-48D5-B38D-D1AF7B5A15E4}"/>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2" name="footer-number-4">
            <a:extLst xmlns:a="http://schemas.openxmlformats.org/drawingml/2006/main">
              <a:ext uri="{FF2B5EF4-FFF2-40B4-BE49-F238E27FC236}">
                <a16:creationId xmlns:a16="http://schemas.microsoft.com/office/drawing/2014/main" id="{3F952AB5-B91A-4BD1-8A1D-8B5E6278D833}"/>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03</a:t>
            </a:r>
          </a:p>
        </p:txBody>
      </p:sp>
    </p:spTree>
    <p:extLst>
      <p:ext uri="{BB962C8B-B14F-4D97-AF65-F5344CB8AC3E}">
        <p14:creationId xmlns:p14="http://schemas.microsoft.com/office/powerpoint/2010/main" val="512233516"/>
      </p:ext>
    </p:extLst>
  </p:cSld>
</p:sld>
</file>

<file path=ppt/slides/slide4.xml><?xml version="1.0" encoding="utf-8"?>
<p:sld xmlns:p="http://schemas.openxmlformats.org/presentationml/2006/main">
  <p:cSld>
    <p:bg>
      <p:bgPr>
        <a:solidFill xmlns:a="http://schemas.openxmlformats.org/drawingml/2006/main">
          <a:srgbClr val="0E4B3B"/>
        </a:solidFill>
      </p:bgPr>
    </p:bg>
    <p:spTree>
      <p:nvGrpSpPr>
        <p:cNvPr id="1" name=""/>
        <p:cNvGrpSpPr/>
        <p:nvPr/>
      </p:nvGrpSpPr>
      <p:grpSpPr>
        <a:xfrm xmlns:a="http://schemas.openxmlformats.org/drawingml/2006/main"/>
      </p:grpSpPr>
      <p:sp>
        <p:nvSpPr>
          <p:cNvPr id="16" name="eyebrow-The insight">
            <a:extLst xmlns:a="http://schemas.openxmlformats.org/drawingml/2006/main">
              <a:ext uri="{FF2B5EF4-FFF2-40B4-BE49-F238E27FC236}">
                <a16:creationId xmlns:a16="http://schemas.microsoft.com/office/drawing/2014/main" id="{0E9A20C0-1257-4684-8F68-81D3C29EF240}"/>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B7F522"/>
                </a:solidFill>
                <a:latin typeface="Menlo"/>
                <a:ea typeface="Menlo"/>
                <a:cs typeface="Menlo"/>
              </a:defRPr>
            </a:pPr>
            <a:r>
              <a:rPr sz="1350" b="1">
                <a:solidFill>
                  <a:srgbClr val="B7F522"/>
                </a:solidFill>
                <a:latin typeface="Menlo"/>
                <a:ea typeface="Menlo"/>
                <a:cs typeface="Menlo"/>
              </a:rPr>
              <a:t>LIVE DEMONSTRATION</a:t>
            </a:r>
          </a:p>
        </p:txBody>
      </p:sp>
      <p:sp>
        <p:nvSpPr>
          <p:cNvPr id="2" name="title-The next storefront is the conversation.">
            <a:extLst xmlns:a="http://schemas.openxmlformats.org/drawingml/2006/main">
              <a:ext uri="{FF2B5EF4-FFF2-40B4-BE49-F238E27FC236}">
                <a16:creationId xmlns:a16="http://schemas.microsoft.com/office/drawing/2014/main" id="{969BE9F7-A93F-4601-A652-3DE21C19653C}"/>
              </a:ext>
            </a:extLst>
          </p:cNvPr>
          <p:cNvSpPr>
            <a:spLocks xmlns:a="http://schemas.openxmlformats.org/drawingml/2006/main" noGrp="1"/>
          </p:cNvSpPr>
          <p:nvPr/>
        </p:nvSpPr>
        <p:spPr>
          <a:xfrm xmlns:a="http://schemas.openxmlformats.org/drawingml/2006/main">
            <a:off x="838200" y="990600"/>
            <a:ext cx="1257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FFFFFF"/>
                </a:solidFill>
                <a:latin typeface="Georgia"/>
                <a:ea typeface="Georgia"/>
                <a:cs typeface="Georgia"/>
              </a:defRPr>
            </a:pPr>
            <a:r>
              <a:rPr sz="4650" b="1">
                <a:solidFill>
                  <a:srgbClr val="FFFFFF"/>
                </a:solidFill>
                <a:latin typeface="Georgia"/>
                <a:ea typeface="Georgia"/>
                <a:cs typeface="Georgia"/>
              </a:rPr>
              <a:t>Ask once. Let the result prove the value.</a:t>
            </a:r>
          </a:p>
        </p:txBody>
      </p:sp>
      <p:sp>
        <p:nvSpPr>
          <p:cNvPr id="3" name="mission-quote">
            <a:extLst xmlns:a="http://schemas.openxmlformats.org/drawingml/2006/main">
              <a:ext uri="{FF2B5EF4-FFF2-40B4-BE49-F238E27FC236}">
                <a16:creationId xmlns:a16="http://schemas.microsoft.com/office/drawing/2014/main" id="{2EFDEF0A-10CB-4EF5-B352-9F246A44681A}"/>
              </a:ext>
            </a:extLst>
          </p:cNvPr>
          <p:cNvSpPr>
            <a:spLocks xmlns:a="http://schemas.openxmlformats.org/drawingml/2006/main" noGrp="1"/>
          </p:cNvSpPr>
          <p:nvPr/>
        </p:nvSpPr>
        <p:spPr>
          <a:xfrm xmlns:a="http://schemas.openxmlformats.org/drawingml/2006/main">
            <a:off x="838200" y="2571750"/>
            <a:ext cx="9620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4000"/>
              </a:lnSpc>
              <a:buNone/>
              <a:defRPr sz="3900">
                <a:solidFill>
                  <a:srgbClr val="FFFFFF"/>
                </a:solidFill>
                <a:latin typeface="Georgia"/>
                <a:ea typeface="Georgia"/>
                <a:cs typeface="Georgia"/>
              </a:defRPr>
            </a:pPr>
            <a:r>
              <a:rPr sz="3900">
                <a:solidFill>
                  <a:srgbClr val="FFFFFF"/>
                </a:solidFill>
                <a:latin typeface="Georgia"/>
                <a:ea typeface="Georgia"/>
                <a:cs typeface="Georgia"/>
              </a:rPr>
              <a:t>“I fly to Tokyo tonight. Build a charging kit for my MacBook Air, iPhone and AirPods </a:t>
            </a:r>
            <a:r>
              <a:rPr sz="3900" b="1">
                <a:solidFill>
                  <a:srgbClr val="FFFFFF"/>
                </a:solidFill>
                <a:latin typeface="Georgia"/>
                <a:ea typeface="Georgia"/>
                <a:cs typeface="Georgia"/>
              </a:rPr>
              <a:t>under S$150</a:t>
            </a:r>
            <a:r>
              <a:rPr sz="3900">
                <a:solidFill>
                  <a:srgbClr val="FFFFFF"/>
                </a:solidFill>
                <a:latin typeface="Georgia"/>
                <a:ea typeface="Georgia"/>
                <a:cs typeface="Georgia"/>
              </a:rPr>
              <a:t>, with pickup today.”</a:t>
            </a:r>
          </a:p>
        </p:txBody>
      </p:sp>
      <p:sp>
        <p:nvSpPr>
          <p:cNvPr id="4" name="constraint-rail">
            <a:extLst xmlns:a="http://schemas.openxmlformats.org/drawingml/2006/main">
              <a:ext uri="{FF2B5EF4-FFF2-40B4-BE49-F238E27FC236}">
                <a16:creationId xmlns:a16="http://schemas.microsoft.com/office/drawing/2014/main" id="{C7427611-62AF-49F3-96D4-D2F722F44F43}"/>
              </a:ext>
            </a:extLst>
          </p:cNvPr>
          <p:cNvSpPr>
            <a:spLocks xmlns:a="http://schemas.openxmlformats.org/drawingml/2006/main" noGrp="1"/>
          </p:cNvSpPr>
          <p:nvPr/>
        </p:nvSpPr>
        <p:spPr>
          <a:xfrm xmlns:a="http://schemas.openxmlformats.org/drawingml/2006/main">
            <a:off x="11239500" y="2571750"/>
            <a:ext cx="57150" cy="3476625"/>
          </a:xfrm>
          <a:prstGeom xmlns:a="http://schemas.openxmlformats.org/drawingml/2006/main" prst="rect">
            <a:avLst/>
          </a:prstGeom>
          <a:solidFill xmlns:a="http://schemas.openxmlformats.org/drawingml/2006/main">
            <a:srgbClr val="B7F522"/>
          </a:solidFill>
          <a:ln xmlns:a="http://schemas.openxmlformats.org/drawingml/2006/main" w="0">
            <a:noFill/>
            <a:prstDash val="solid"/>
          </a:ln>
        </p:spPr>
      </p:sp>
      <p:sp>
        <p:nvSpPr>
          <p:cNvPr id="5" name="constraint-label-0">
            <a:extLst xmlns:a="http://schemas.openxmlformats.org/drawingml/2006/main">
              <a:ext uri="{FF2B5EF4-FFF2-40B4-BE49-F238E27FC236}">
                <a16:creationId xmlns:a16="http://schemas.microsoft.com/office/drawing/2014/main" id="{7AA39BE2-FA59-4EFF-91F8-6C0E2FD0DD98}"/>
              </a:ext>
            </a:extLst>
          </p:cNvPr>
          <p:cNvSpPr>
            <a:spLocks xmlns:a="http://schemas.openxmlformats.org/drawingml/2006/main" noGrp="1"/>
          </p:cNvSpPr>
          <p:nvPr/>
        </p:nvSpPr>
        <p:spPr>
          <a:xfrm xmlns:a="http://schemas.openxmlformats.org/drawingml/2006/main">
            <a:off x="11668125" y="26479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DCECE5"/>
                </a:solidFill>
                <a:latin typeface="Menlo"/>
                <a:ea typeface="Menlo"/>
                <a:cs typeface="Menlo"/>
              </a:defRPr>
            </a:pPr>
            <a:r>
              <a:rPr sz="1125" b="1">
                <a:solidFill>
                  <a:srgbClr val="DCECE5"/>
                </a:solidFill>
                <a:latin typeface="Menlo"/>
                <a:ea typeface="Menlo"/>
                <a:cs typeface="Menlo"/>
              </a:rPr>
              <a:t>DESTINATION</a:t>
            </a:r>
          </a:p>
        </p:txBody>
      </p:sp>
      <p:sp>
        <p:nvSpPr>
          <p:cNvPr id="6" name="constraint-value-0">
            <a:extLst xmlns:a="http://schemas.openxmlformats.org/drawingml/2006/main">
              <a:ext uri="{FF2B5EF4-FFF2-40B4-BE49-F238E27FC236}">
                <a16:creationId xmlns:a16="http://schemas.microsoft.com/office/drawing/2014/main" id="{DC158097-6463-4A7F-95C3-AE1BAEB9BC75}"/>
              </a:ext>
            </a:extLst>
          </p:cNvPr>
          <p:cNvSpPr>
            <a:spLocks xmlns:a="http://schemas.openxmlformats.org/drawingml/2006/main" noGrp="1"/>
          </p:cNvSpPr>
          <p:nvPr/>
        </p:nvSpPr>
        <p:spPr>
          <a:xfrm xmlns:a="http://schemas.openxmlformats.org/drawingml/2006/main">
            <a:off x="11668125" y="29241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Tokyo</a:t>
            </a:r>
          </a:p>
        </p:txBody>
      </p:sp>
      <p:sp>
        <p:nvSpPr>
          <p:cNvPr id="7" name="constraint-label-1">
            <a:extLst xmlns:a="http://schemas.openxmlformats.org/drawingml/2006/main">
              <a:ext uri="{FF2B5EF4-FFF2-40B4-BE49-F238E27FC236}">
                <a16:creationId xmlns:a16="http://schemas.microsoft.com/office/drawing/2014/main" id="{3A9CCD6B-D9ED-4458-B40A-4A9942E747D6}"/>
              </a:ext>
            </a:extLst>
          </p:cNvPr>
          <p:cNvSpPr>
            <a:spLocks xmlns:a="http://schemas.openxmlformats.org/drawingml/2006/main" noGrp="1"/>
          </p:cNvSpPr>
          <p:nvPr/>
        </p:nvSpPr>
        <p:spPr>
          <a:xfrm xmlns:a="http://schemas.openxmlformats.org/drawingml/2006/main">
            <a:off x="11668125" y="3486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DCECE5"/>
                </a:solidFill>
                <a:latin typeface="Menlo"/>
                <a:ea typeface="Menlo"/>
                <a:cs typeface="Menlo"/>
              </a:defRPr>
            </a:pPr>
            <a:r>
              <a:rPr sz="1125" b="1">
                <a:solidFill>
                  <a:srgbClr val="DCECE5"/>
                </a:solidFill>
                <a:latin typeface="Menlo"/>
                <a:ea typeface="Menlo"/>
                <a:cs typeface="Menlo"/>
              </a:rPr>
              <a:t>DEVICES</a:t>
            </a:r>
          </a:p>
        </p:txBody>
      </p:sp>
      <p:sp>
        <p:nvSpPr>
          <p:cNvPr id="8" name="constraint-value-1">
            <a:extLst xmlns:a="http://schemas.openxmlformats.org/drawingml/2006/main">
              <a:ext uri="{FF2B5EF4-FFF2-40B4-BE49-F238E27FC236}">
                <a16:creationId xmlns:a16="http://schemas.microsoft.com/office/drawing/2014/main" id="{9C92FC46-5FC9-460B-9B88-20B0C150CD90}"/>
              </a:ext>
            </a:extLst>
          </p:cNvPr>
          <p:cNvSpPr>
            <a:spLocks xmlns:a="http://schemas.openxmlformats.org/drawingml/2006/main" noGrp="1"/>
          </p:cNvSpPr>
          <p:nvPr/>
        </p:nvSpPr>
        <p:spPr>
          <a:xfrm xmlns:a="http://schemas.openxmlformats.org/drawingml/2006/main">
            <a:off x="11668125" y="37623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MacBook · iPhone · AirPods</a:t>
            </a:r>
          </a:p>
        </p:txBody>
      </p:sp>
      <p:sp>
        <p:nvSpPr>
          <p:cNvPr id="9" name="constraint-label-2">
            <a:extLst xmlns:a="http://schemas.openxmlformats.org/drawingml/2006/main">
              <a:ext uri="{FF2B5EF4-FFF2-40B4-BE49-F238E27FC236}">
                <a16:creationId xmlns:a16="http://schemas.microsoft.com/office/drawing/2014/main" id="{08595B41-1CA9-4968-A357-7F0F4F054E80}"/>
              </a:ext>
            </a:extLst>
          </p:cNvPr>
          <p:cNvSpPr>
            <a:spLocks xmlns:a="http://schemas.openxmlformats.org/drawingml/2006/main" noGrp="1"/>
          </p:cNvSpPr>
          <p:nvPr/>
        </p:nvSpPr>
        <p:spPr>
          <a:xfrm xmlns:a="http://schemas.openxmlformats.org/drawingml/2006/main">
            <a:off x="11668125" y="43243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DCECE5"/>
                </a:solidFill>
                <a:latin typeface="Menlo"/>
                <a:ea typeface="Menlo"/>
                <a:cs typeface="Menlo"/>
              </a:defRPr>
            </a:pPr>
            <a:r>
              <a:rPr sz="1125" b="1">
                <a:solidFill>
                  <a:srgbClr val="DCECE5"/>
                </a:solidFill>
                <a:latin typeface="Menlo"/>
                <a:ea typeface="Menlo"/>
                <a:cs typeface="Menlo"/>
              </a:rPr>
              <a:t>BUDGET</a:t>
            </a:r>
          </a:p>
        </p:txBody>
      </p:sp>
      <p:sp>
        <p:nvSpPr>
          <p:cNvPr id="10" name="constraint-value-2">
            <a:extLst xmlns:a="http://schemas.openxmlformats.org/drawingml/2006/main">
              <a:ext uri="{FF2B5EF4-FFF2-40B4-BE49-F238E27FC236}">
                <a16:creationId xmlns:a16="http://schemas.microsoft.com/office/drawing/2014/main" id="{DA463453-F3EC-4FC9-ADA5-A68745001B79}"/>
              </a:ext>
            </a:extLst>
          </p:cNvPr>
          <p:cNvSpPr>
            <a:spLocks xmlns:a="http://schemas.openxmlformats.org/drawingml/2006/main" noGrp="1"/>
          </p:cNvSpPr>
          <p:nvPr/>
        </p:nvSpPr>
        <p:spPr>
          <a:xfrm xmlns:a="http://schemas.openxmlformats.org/drawingml/2006/main">
            <a:off x="11668125" y="46005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S$150 hard cap</a:t>
            </a:r>
          </a:p>
        </p:txBody>
      </p:sp>
      <p:sp>
        <p:nvSpPr>
          <p:cNvPr id="11" name="constraint-label-3">
            <a:extLst xmlns:a="http://schemas.openxmlformats.org/drawingml/2006/main">
              <a:ext uri="{FF2B5EF4-FFF2-40B4-BE49-F238E27FC236}">
                <a16:creationId xmlns:a16="http://schemas.microsoft.com/office/drawing/2014/main" id="{8A77585B-BD13-4C6C-A109-3B4EFDB67C55}"/>
              </a:ext>
            </a:extLst>
          </p:cNvPr>
          <p:cNvSpPr>
            <a:spLocks xmlns:a="http://schemas.openxmlformats.org/drawingml/2006/main" noGrp="1"/>
          </p:cNvSpPr>
          <p:nvPr/>
        </p:nvSpPr>
        <p:spPr>
          <a:xfrm xmlns:a="http://schemas.openxmlformats.org/drawingml/2006/main">
            <a:off x="11668125" y="51625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DCECE5"/>
                </a:solidFill>
                <a:latin typeface="Menlo"/>
                <a:ea typeface="Menlo"/>
                <a:cs typeface="Menlo"/>
              </a:defRPr>
            </a:pPr>
            <a:r>
              <a:rPr sz="1125" b="1">
                <a:solidFill>
                  <a:srgbClr val="DCECE5"/>
                </a:solidFill>
                <a:latin typeface="Menlo"/>
                <a:ea typeface="Menlo"/>
                <a:cs typeface="Menlo"/>
              </a:rPr>
              <a:t>DEADLINE</a:t>
            </a:r>
          </a:p>
        </p:txBody>
      </p:sp>
      <p:sp>
        <p:nvSpPr>
          <p:cNvPr id="12" name="constraint-value-3">
            <a:extLst xmlns:a="http://schemas.openxmlformats.org/drawingml/2006/main">
              <a:ext uri="{FF2B5EF4-FFF2-40B4-BE49-F238E27FC236}">
                <a16:creationId xmlns:a16="http://schemas.microsoft.com/office/drawing/2014/main" id="{F23B21D7-5C5A-4190-8CAC-D7BC67758A37}"/>
              </a:ext>
            </a:extLst>
          </p:cNvPr>
          <p:cNvSpPr>
            <a:spLocks xmlns:a="http://schemas.openxmlformats.org/drawingml/2006/main" noGrp="1"/>
          </p:cNvSpPr>
          <p:nvPr/>
        </p:nvSpPr>
        <p:spPr>
          <a:xfrm xmlns:a="http://schemas.openxmlformats.org/drawingml/2006/main">
            <a:off x="11668125" y="54387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Pickup today</a:t>
            </a:r>
          </a:p>
        </p:txBody>
      </p:sp>
      <p:sp>
        <p:nvSpPr>
          <p:cNvPr id="13" name="constraint-summary">
            <a:extLst xmlns:a="http://schemas.openxmlformats.org/drawingml/2006/main">
              <a:ext uri="{FF2B5EF4-FFF2-40B4-BE49-F238E27FC236}">
                <a16:creationId xmlns:a16="http://schemas.microsoft.com/office/drawing/2014/main" id="{4A3F781E-6DB6-4EF9-B02D-DAB3997EC1E5}"/>
              </a:ext>
            </a:extLst>
          </p:cNvPr>
          <p:cNvSpPr>
            <a:spLocks xmlns:a="http://schemas.openxmlformats.org/drawingml/2006/main" noGrp="1"/>
          </p:cNvSpPr>
          <p:nvPr/>
        </p:nvSpPr>
        <p:spPr>
          <a:xfrm xmlns:a="http://schemas.openxmlformats.org/drawingml/2006/main">
            <a:off x="838200" y="657225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B7F522"/>
                </a:solidFill>
                <a:latin typeface="Menlo"/>
                <a:ea typeface="Menlo"/>
                <a:cs typeface="Menlo"/>
              </a:defRPr>
            </a:pPr>
            <a:r>
              <a:rPr sz="2100" b="1">
                <a:solidFill>
                  <a:srgbClr val="B7F522"/>
                </a:solidFill>
                <a:latin typeface="Menlo"/>
                <a:ea typeface="Menlo"/>
                <a:cs typeface="Menlo"/>
              </a:rPr>
              <a:t>3 complete carts. 1 natural sentence.</a:t>
            </a:r>
          </a:p>
        </p:txBody>
      </p:sp>
      <p:sp>
        <p:nvSpPr>
          <p:cNvPr id="14" name="footer-label-3">
            <a:extLst xmlns:a="http://schemas.openxmlformats.org/drawingml/2006/main">
              <a:ext uri="{FF2B5EF4-FFF2-40B4-BE49-F238E27FC236}">
                <a16:creationId xmlns:a16="http://schemas.microsoft.com/office/drawing/2014/main" id="{DA4AB16A-877D-4B6F-96E4-5CF2F9C6A2BB}"/>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DCECE5"/>
                </a:solidFill>
                <a:latin typeface="Menlo"/>
                <a:ea typeface="Menlo"/>
                <a:cs typeface="Menlo"/>
              </a:defRPr>
            </a:pPr>
            <a:r>
              <a:rPr sz="1200" b="1">
                <a:solidFill>
                  <a:srgbClr val="DCECE5"/>
                </a:solidFill>
                <a:latin typeface="Menlo"/>
                <a:ea typeface="Menlo"/>
                <a:cs typeface="Menlo"/>
              </a:rPr>
              <a:t>WOVEN  /  LIFEHACK 2026</a:t>
            </a:r>
          </a:p>
        </p:txBody>
      </p:sp>
      <p:sp>
        <p:nvSpPr>
          <p:cNvPr id="15" name="footer-number-3">
            <a:extLst xmlns:a="http://schemas.openxmlformats.org/drawingml/2006/main">
              <a:ext uri="{FF2B5EF4-FFF2-40B4-BE49-F238E27FC236}">
                <a16:creationId xmlns:a16="http://schemas.microsoft.com/office/drawing/2014/main" id="{CC0E83F2-9BAD-48DD-80E2-9CAD950547D7}"/>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DCECE5"/>
                </a:solidFill>
                <a:latin typeface="Menlo"/>
                <a:ea typeface="Menlo"/>
                <a:cs typeface="Menlo"/>
              </a:defRPr>
            </a:pPr>
            <a:r>
              <a:rPr sz="1350" b="1">
                <a:solidFill>
                  <a:srgbClr val="DCECE5"/>
                </a:solidFill>
                <a:latin typeface="Menlo"/>
                <a:ea typeface="Menlo"/>
                <a:cs typeface="Menlo"/>
              </a:rPr>
              <a:t>04</a:t>
            </a:r>
          </a:p>
        </p:txBody>
      </p:sp>
    </p:spTree>
    <p:extLst>
      <p:ext uri="{BB962C8B-B14F-4D97-AF65-F5344CB8AC3E}">
        <p14:creationId xmlns:p14="http://schemas.microsoft.com/office/powerpoint/2010/main" val="740310197"/>
      </p:ext>
    </p:extLst>
  </p:cSld>
</p:sld>
</file>

<file path=ppt/slides/slide5.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8" name="eyebrow-The problem">
            <a:extLst xmlns:a="http://schemas.openxmlformats.org/drawingml/2006/main">
              <a:ext uri="{FF2B5EF4-FFF2-40B4-BE49-F238E27FC236}">
                <a16:creationId xmlns:a16="http://schemas.microsoft.com/office/drawing/2014/main" id="{44E2CD68-0B5C-4392-A350-CCF598C308CA}"/>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THE TRUST BOUNDARY</a:t>
            </a:r>
          </a:p>
        </p:txBody>
      </p:sp>
      <p:sp>
        <p:nvSpPr>
          <p:cNvPr id="2" name="title-Search finds products. People need complete outcomes.">
            <a:extLst xmlns:a="http://schemas.openxmlformats.org/drawingml/2006/main">
              <a:ext uri="{FF2B5EF4-FFF2-40B4-BE49-F238E27FC236}">
                <a16:creationId xmlns:a16="http://schemas.microsoft.com/office/drawing/2014/main" id="{68D09165-98E1-4BBB-8261-E28C47B97877}"/>
              </a:ext>
            </a:extLst>
          </p:cNvPr>
          <p:cNvSpPr>
            <a:spLocks xmlns:a="http://schemas.openxmlformats.org/drawingml/2006/main" noGrp="1"/>
          </p:cNvSpPr>
          <p:nvPr/>
        </p:nvSpPr>
        <p:spPr>
          <a:xfrm xmlns:a="http://schemas.openxmlformats.org/drawingml/2006/main">
            <a:off x="838200" y="990600"/>
            <a:ext cx="13525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The AI recommends. The user authorizes.</a:t>
            </a:r>
          </a:p>
        </p:txBody>
      </p:sp>
      <p:sp>
        <p:nvSpPr>
          <p:cNvPr id="3" name="problem-big-claim">
            <a:extLst xmlns:a="http://schemas.openxmlformats.org/drawingml/2006/main">
              <a:ext uri="{FF2B5EF4-FFF2-40B4-BE49-F238E27FC236}">
                <a16:creationId xmlns:a16="http://schemas.microsoft.com/office/drawing/2014/main" id="{859D58A8-50A8-4A2E-A3EB-F5B97876071B}"/>
              </a:ext>
            </a:extLst>
          </p:cNvPr>
          <p:cNvSpPr>
            <a:spLocks xmlns:a="http://schemas.openxmlformats.org/drawingml/2006/main" noGrp="1"/>
          </p:cNvSpPr>
          <p:nvPr/>
        </p:nvSpPr>
        <p:spPr>
          <a:xfrm xmlns:a="http://schemas.openxmlformats.org/drawingml/2006/main">
            <a:off x="838200" y="2628900"/>
            <a:ext cx="5429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6000"/>
              </a:lnSpc>
              <a:buNone/>
              <a:defRPr sz="3600" b="1">
                <a:solidFill>
                  <a:srgbClr val="B64032"/>
                </a:solidFill>
                <a:latin typeface="Georgia"/>
                <a:ea typeface="Georgia"/>
                <a:cs typeface="Georgia"/>
              </a:defRPr>
            </a:pPr>
            <a:r>
              <a:rPr sz="3600" b="1">
                <a:solidFill>
                  <a:srgbClr val="B64032"/>
                </a:solidFill>
                <a:latin typeface="Georgia"/>
                <a:ea typeface="Georgia"/>
                <a:cs typeface="Georgia"/>
              </a:rPr>
              <a:t>Identity is the
next integration.</a:t>
            </a:r>
          </a:p>
        </p:txBody>
      </p:sp>
      <p:sp>
        <p:nvSpPr>
          <p:cNvPr id="4" name="problem-line-0">
            <a:extLst xmlns:a="http://schemas.openxmlformats.org/drawingml/2006/main">
              <a:ext uri="{FF2B5EF4-FFF2-40B4-BE49-F238E27FC236}">
                <a16:creationId xmlns:a16="http://schemas.microsoft.com/office/drawing/2014/main" id="{F6EFC167-1810-4F7B-8BCB-F004476B0D78}"/>
              </a:ext>
            </a:extLst>
          </p:cNvPr>
          <p:cNvSpPr>
            <a:spLocks xmlns:a="http://schemas.openxmlformats.org/drawingml/2006/main" noGrp="1"/>
          </p:cNvSpPr>
          <p:nvPr/>
        </p:nvSpPr>
        <p:spPr>
          <a:xfrm xmlns:a="http://schemas.openxmlformats.org/drawingml/2006/main">
            <a:off x="7029450" y="2495550"/>
            <a:ext cx="7239000" cy="0"/>
          </a:xfrm>
          <a:prstGeom xmlns:a="http://schemas.openxmlformats.org/drawingml/2006/main" prst="line">
            <a:avLst/>
          </a:prstGeom>
          <a:noFill xmlns:a="http://schemas.openxmlformats.org/drawingml/2006/main"/>
          <a:ln xmlns:a="http://schemas.openxmlformats.org/drawingml/2006/main" w="47625">
            <a:solidFill>
              <a:srgbClr val="B7F522"/>
            </a:solidFill>
            <a:prstDash val="solid"/>
          </a:ln>
        </p:spPr>
      </p:sp>
      <p:sp>
        <p:nvSpPr>
          <p:cNvPr id="5" name="problem-num-0">
            <a:extLst xmlns:a="http://schemas.openxmlformats.org/drawingml/2006/main">
              <a:ext uri="{FF2B5EF4-FFF2-40B4-BE49-F238E27FC236}">
                <a16:creationId xmlns:a16="http://schemas.microsoft.com/office/drawing/2014/main" id="{49F19DE5-0CDD-49DA-B021-0FD522A3AA82}"/>
              </a:ext>
            </a:extLst>
          </p:cNvPr>
          <p:cNvSpPr>
            <a:spLocks xmlns:a="http://schemas.openxmlformats.org/drawingml/2006/main" noGrp="1"/>
          </p:cNvSpPr>
          <p:nvPr/>
        </p:nvSpPr>
        <p:spPr>
          <a:xfrm xmlns:a="http://schemas.openxmlformats.org/drawingml/2006/main">
            <a:off x="7029450" y="269557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01</a:t>
            </a:r>
          </a:p>
        </p:txBody>
      </p:sp>
      <p:sp>
        <p:nvSpPr>
          <p:cNvPr id="6" name="problem-heading-0">
            <a:extLst xmlns:a="http://schemas.openxmlformats.org/drawingml/2006/main">
              <a:ext uri="{FF2B5EF4-FFF2-40B4-BE49-F238E27FC236}">
                <a16:creationId xmlns:a16="http://schemas.microsoft.com/office/drawing/2014/main" id="{CE772126-66DC-4086-BD1B-464082B7C4AB}"/>
              </a:ext>
            </a:extLst>
          </p:cNvPr>
          <p:cNvSpPr>
            <a:spLocks xmlns:a="http://schemas.openxmlformats.org/drawingml/2006/main" noGrp="1"/>
          </p:cNvSpPr>
          <p:nvPr/>
        </p:nvSpPr>
        <p:spPr>
          <a:xfrm xmlns:a="http://schemas.openxmlformats.org/drawingml/2006/main">
            <a:off x="7905750" y="2667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Verify identity</a:t>
            </a:r>
          </a:p>
        </p:txBody>
      </p:sp>
      <p:sp>
        <p:nvSpPr>
          <p:cNvPr id="7" name="problem-body-0">
            <a:extLst xmlns:a="http://schemas.openxmlformats.org/drawingml/2006/main">
              <a:ext uri="{FF2B5EF4-FFF2-40B4-BE49-F238E27FC236}">
                <a16:creationId xmlns:a16="http://schemas.microsoft.com/office/drawing/2014/main" id="{0B2C2F14-6ADC-4106-8ED7-26997B86B0E4}"/>
              </a:ext>
            </a:extLst>
          </p:cNvPr>
          <p:cNvSpPr>
            <a:spLocks xmlns:a="http://schemas.openxmlformats.org/drawingml/2006/main" noGrp="1"/>
          </p:cNvSpPr>
          <p:nvPr/>
        </p:nvSpPr>
        <p:spPr>
          <a:xfrm xmlns:a="http://schemas.openxmlformats.org/drawingml/2006/main">
            <a:off x="7905750" y="313372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PLANNED — server-enforced before checkout; not in the live demo.</a:t>
            </a:r>
          </a:p>
        </p:txBody>
      </p:sp>
      <p:sp>
        <p:nvSpPr>
          <p:cNvPr id="8" name="problem-line-1">
            <a:extLst xmlns:a="http://schemas.openxmlformats.org/drawingml/2006/main">
              <a:ext uri="{FF2B5EF4-FFF2-40B4-BE49-F238E27FC236}">
                <a16:creationId xmlns:a16="http://schemas.microsoft.com/office/drawing/2014/main" id="{6AFC7403-25EE-4D0D-9379-D3185F74FF6C}"/>
              </a:ext>
            </a:extLst>
          </p:cNvPr>
          <p:cNvSpPr>
            <a:spLocks xmlns:a="http://schemas.openxmlformats.org/drawingml/2006/main" noGrp="1"/>
          </p:cNvSpPr>
          <p:nvPr/>
        </p:nvSpPr>
        <p:spPr>
          <a:xfrm xmlns:a="http://schemas.openxmlformats.org/drawingml/2006/main">
            <a:off x="7029450" y="3848100"/>
            <a:ext cx="72390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9" name="problem-num-1">
            <a:extLst xmlns:a="http://schemas.openxmlformats.org/drawingml/2006/main">
              <a:ext uri="{FF2B5EF4-FFF2-40B4-BE49-F238E27FC236}">
                <a16:creationId xmlns:a16="http://schemas.microsoft.com/office/drawing/2014/main" id="{CD09E3EF-D7BF-45D7-93B8-4B0261FFB98C}"/>
              </a:ext>
            </a:extLst>
          </p:cNvPr>
          <p:cNvSpPr>
            <a:spLocks xmlns:a="http://schemas.openxmlformats.org/drawingml/2006/main" noGrp="1"/>
          </p:cNvSpPr>
          <p:nvPr/>
        </p:nvSpPr>
        <p:spPr>
          <a:xfrm xmlns:a="http://schemas.openxmlformats.org/drawingml/2006/main">
            <a:off x="7029450" y="404812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02</a:t>
            </a:r>
          </a:p>
        </p:txBody>
      </p:sp>
      <p:sp>
        <p:nvSpPr>
          <p:cNvPr id="10" name="problem-heading-1">
            <a:extLst xmlns:a="http://schemas.openxmlformats.org/drawingml/2006/main">
              <a:ext uri="{FF2B5EF4-FFF2-40B4-BE49-F238E27FC236}">
                <a16:creationId xmlns:a16="http://schemas.microsoft.com/office/drawing/2014/main" id="{52462AF3-882B-4600-9871-095535CD92EF}"/>
              </a:ext>
            </a:extLst>
          </p:cNvPr>
          <p:cNvSpPr>
            <a:spLocks xmlns:a="http://schemas.openxmlformats.org/drawingml/2006/main" noGrp="1"/>
          </p:cNvSpPr>
          <p:nvPr/>
        </p:nvSpPr>
        <p:spPr>
          <a:xfrm xmlns:a="http://schemas.openxmlformats.org/drawingml/2006/main">
            <a:off x="7905750" y="401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Review exact terms</a:t>
            </a:r>
          </a:p>
        </p:txBody>
      </p:sp>
      <p:sp>
        <p:nvSpPr>
          <p:cNvPr id="11" name="problem-body-1">
            <a:extLst xmlns:a="http://schemas.openxmlformats.org/drawingml/2006/main">
              <a:ext uri="{FF2B5EF4-FFF2-40B4-BE49-F238E27FC236}">
                <a16:creationId xmlns:a16="http://schemas.microsoft.com/office/drawing/2014/main" id="{6431976A-9D94-46B7-9EE9-6E234B727F82}"/>
              </a:ext>
            </a:extLst>
          </p:cNvPr>
          <p:cNvSpPr>
            <a:spLocks xmlns:a="http://schemas.openxmlformats.org/drawingml/2006/main" noGrp="1"/>
          </p:cNvSpPr>
          <p:nvPr/>
        </p:nvSpPr>
        <p:spPr>
          <a:xfrm xmlns:a="http://schemas.openxmlformats.org/drawingml/2006/main">
            <a:off x="7905750" y="448627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WORKING — merchant, items, pickup, total and expiry.</a:t>
            </a:r>
          </a:p>
        </p:txBody>
      </p:sp>
      <p:sp>
        <p:nvSpPr>
          <p:cNvPr id="12" name="problem-line-2">
            <a:extLst xmlns:a="http://schemas.openxmlformats.org/drawingml/2006/main">
              <a:ext uri="{FF2B5EF4-FFF2-40B4-BE49-F238E27FC236}">
                <a16:creationId xmlns:a16="http://schemas.microsoft.com/office/drawing/2014/main" id="{5101FF83-153A-4FDA-AF88-2D2B9204F4AA}"/>
              </a:ext>
            </a:extLst>
          </p:cNvPr>
          <p:cNvSpPr>
            <a:spLocks xmlns:a="http://schemas.openxmlformats.org/drawingml/2006/main" noGrp="1"/>
          </p:cNvSpPr>
          <p:nvPr/>
        </p:nvSpPr>
        <p:spPr>
          <a:xfrm xmlns:a="http://schemas.openxmlformats.org/drawingml/2006/main">
            <a:off x="7029450" y="5200650"/>
            <a:ext cx="72390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13" name="problem-num-2">
            <a:extLst xmlns:a="http://schemas.openxmlformats.org/drawingml/2006/main">
              <a:ext uri="{FF2B5EF4-FFF2-40B4-BE49-F238E27FC236}">
                <a16:creationId xmlns:a16="http://schemas.microsoft.com/office/drawing/2014/main" id="{ECDCB99E-A360-423B-A36F-EB5A299BE325}"/>
              </a:ext>
            </a:extLst>
          </p:cNvPr>
          <p:cNvSpPr>
            <a:spLocks xmlns:a="http://schemas.openxmlformats.org/drawingml/2006/main" noGrp="1"/>
          </p:cNvSpPr>
          <p:nvPr/>
        </p:nvSpPr>
        <p:spPr>
          <a:xfrm xmlns:a="http://schemas.openxmlformats.org/drawingml/2006/main">
            <a:off x="7029450" y="540067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6D7974"/>
                </a:solidFill>
                <a:latin typeface="Menlo"/>
                <a:ea typeface="Menlo"/>
                <a:cs typeface="Menlo"/>
              </a:defRPr>
            </a:pPr>
            <a:r>
              <a:rPr sz="1650" b="1">
                <a:solidFill>
                  <a:srgbClr val="6D7974"/>
                </a:solidFill>
                <a:latin typeface="Menlo"/>
                <a:ea typeface="Menlo"/>
                <a:cs typeface="Menlo"/>
              </a:rPr>
              <a:t>03</a:t>
            </a:r>
          </a:p>
        </p:txBody>
      </p:sp>
      <p:sp>
        <p:nvSpPr>
          <p:cNvPr id="14" name="problem-heading-2">
            <a:extLst xmlns:a="http://schemas.openxmlformats.org/drawingml/2006/main">
              <a:ext uri="{FF2B5EF4-FFF2-40B4-BE49-F238E27FC236}">
                <a16:creationId xmlns:a16="http://schemas.microsoft.com/office/drawing/2014/main" id="{65A5D0AE-23F4-44CE-AAA0-004FA07BB143}"/>
              </a:ext>
            </a:extLst>
          </p:cNvPr>
          <p:cNvSpPr>
            <a:spLocks xmlns:a="http://schemas.openxmlformats.org/drawingml/2006/main" noGrp="1"/>
          </p:cNvSpPr>
          <p:nvPr/>
        </p:nvSpPr>
        <p:spPr>
          <a:xfrm xmlns:a="http://schemas.openxmlformats.org/drawingml/2006/main">
            <a:off x="7905750" y="53721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0E4B3B"/>
                </a:solidFill>
                <a:latin typeface="Avenir Next"/>
                <a:ea typeface="Avenir Next"/>
                <a:cs typeface="Avenir Next"/>
              </a:defRPr>
            </a:pPr>
            <a:r>
              <a:rPr sz="2250" b="1">
                <a:solidFill>
                  <a:srgbClr val="0E4B3B"/>
                </a:solidFill>
                <a:latin typeface="Avenir Next"/>
                <a:ea typeface="Avenir Next"/>
                <a:cs typeface="Avenir Next"/>
              </a:rPr>
              <a:t>Confirm once</a:t>
            </a:r>
          </a:p>
        </p:txBody>
      </p:sp>
      <p:sp>
        <p:nvSpPr>
          <p:cNvPr id="15" name="problem-body-2">
            <a:extLst xmlns:a="http://schemas.openxmlformats.org/drawingml/2006/main">
              <a:ext uri="{FF2B5EF4-FFF2-40B4-BE49-F238E27FC236}">
                <a16:creationId xmlns:a16="http://schemas.microsoft.com/office/drawing/2014/main" id="{AFFD3B42-B59D-49D8-984E-64CB04792A63}"/>
              </a:ext>
            </a:extLst>
          </p:cNvPr>
          <p:cNvSpPr>
            <a:spLocks xmlns:a="http://schemas.openxmlformats.org/drawingml/2006/main" noGrp="1"/>
          </p:cNvSpPr>
          <p:nvPr/>
        </p:nvSpPr>
        <p:spPr>
          <a:xfrm xmlns:a="http://schemas.openxmlformats.org/drawingml/2006/main">
            <a:off x="7905750" y="583882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WORKING — one click, then simulated Visa authorization.</a:t>
            </a:r>
          </a:p>
        </p:txBody>
      </p:sp>
      <p:sp>
        <p:nvSpPr>
          <p:cNvPr id="16" name="footer-label-2">
            <a:extLst xmlns:a="http://schemas.openxmlformats.org/drawingml/2006/main">
              <a:ext uri="{FF2B5EF4-FFF2-40B4-BE49-F238E27FC236}">
                <a16:creationId xmlns:a16="http://schemas.microsoft.com/office/drawing/2014/main" id="{6611CBBE-57D8-4F17-ACC1-D8FE5180BE38}"/>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7" name="footer-number-2">
            <a:extLst xmlns:a="http://schemas.openxmlformats.org/drawingml/2006/main">
              <a:ext uri="{FF2B5EF4-FFF2-40B4-BE49-F238E27FC236}">
                <a16:creationId xmlns:a16="http://schemas.microsoft.com/office/drawing/2014/main" id="{2AA90FA9-EF01-40BA-9259-56908DEFC5BF}"/>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05</a:t>
            </a:r>
          </a:p>
        </p:txBody>
      </p:sp>
    </p:spTree>
    <p:extLst>
      <p:ext uri="{BB962C8B-B14F-4D97-AF65-F5344CB8AC3E}">
        <p14:creationId xmlns:p14="http://schemas.microsoft.com/office/powerpoint/2010/main" val="619982641"/>
      </p:ext>
    </p:extLst>
  </p:cSld>
</p:sld>
</file>

<file path=ppt/slides/slide6.xml><?xml version="1.0" encoding="utf-8"?>
<p:sld xmlns:p="http://schemas.openxmlformats.org/presentationml/2006/main">
  <p:cSld>
    <p:bg>
      <p:bgPr>
        <a:solidFill xmlns:a="http://schemas.openxmlformats.org/drawingml/2006/main">
          <a:srgbClr val="0E4B3B"/>
        </a:solidFill>
      </p:bgPr>
    </p:bg>
    <p:spTree>
      <p:nvGrpSpPr>
        <p:cNvPr id="1" name=""/>
        <p:cNvGrpSpPr/>
        <p:nvPr/>
      </p:nvGrpSpPr>
      <p:grpSpPr>
        <a:xfrm xmlns:a="http://schemas.openxmlformats.org/drawingml/2006/main"/>
      </p:grpSpPr>
      <p:sp>
        <p:nvSpPr>
          <p:cNvPr id="16" name="eyebrow-Trust you can test">
            <a:extLst xmlns:a="http://schemas.openxmlformats.org/drawingml/2006/main">
              <a:ext uri="{FF2B5EF4-FFF2-40B4-BE49-F238E27FC236}">
                <a16:creationId xmlns:a16="http://schemas.microsoft.com/office/drawing/2014/main" id="{3F058616-CF95-435A-9AE1-BD44D8B01497}"/>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B7F522"/>
                </a:solidFill>
                <a:latin typeface="Menlo"/>
                <a:ea typeface="Menlo"/>
                <a:cs typeface="Menlo"/>
              </a:defRPr>
            </a:pPr>
            <a:r>
              <a:rPr sz="1350" b="1">
                <a:solidFill>
                  <a:srgbClr val="B7F522"/>
                </a:solidFill>
                <a:latin typeface="Menlo"/>
                <a:ea typeface="Menlo"/>
                <a:cs typeface="Menlo"/>
              </a:rPr>
              <a:t>MERCHANT CONTROL</a:t>
            </a:r>
          </a:p>
        </p:txBody>
      </p:sp>
      <p:sp>
        <p:nvSpPr>
          <p:cNvPr id="2" name="title-Autonomy stops where money starts.">
            <a:extLst xmlns:a="http://schemas.openxmlformats.org/drawingml/2006/main">
              <a:ext uri="{FF2B5EF4-FFF2-40B4-BE49-F238E27FC236}">
                <a16:creationId xmlns:a16="http://schemas.microsoft.com/office/drawing/2014/main" id="{DE43C5D3-4F36-4494-B929-E5ECC06287F1}"/>
              </a:ext>
            </a:extLst>
          </p:cNvPr>
          <p:cNvSpPr>
            <a:spLocks xmlns:a="http://schemas.openxmlformats.org/drawingml/2006/main" noGrp="1"/>
          </p:cNvSpPr>
          <p:nvPr/>
        </p:nvSpPr>
        <p:spPr>
          <a:xfrm xmlns:a="http://schemas.openxmlformats.org/drawingml/2006/main">
            <a:off x="838200" y="990600"/>
            <a:ext cx="12763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FFFFFF"/>
                </a:solidFill>
                <a:latin typeface="Georgia"/>
                <a:ea typeface="Georgia"/>
                <a:cs typeface="Georgia"/>
              </a:defRPr>
            </a:pPr>
            <a:r>
              <a:rPr sz="4650" b="1">
                <a:solidFill>
                  <a:srgbClr val="FFFFFF"/>
                </a:solidFill>
                <a:latin typeface="Georgia"/>
                <a:ea typeface="Georgia"/>
                <a:cs typeface="Georgia"/>
              </a:rPr>
              <a:t>Merchants control what the AI can sell.</a:t>
            </a:r>
          </a:p>
        </p:txBody>
      </p:sp>
      <p:sp>
        <p:nvSpPr>
          <p:cNvPr id="3" name="trust-label-0">
            <a:extLst xmlns:a="http://schemas.openxmlformats.org/drawingml/2006/main">
              <a:ext uri="{FF2B5EF4-FFF2-40B4-BE49-F238E27FC236}">
                <a16:creationId xmlns:a16="http://schemas.microsoft.com/office/drawing/2014/main" id="{D041F315-B888-4E6D-A7D1-CDA440438728}"/>
              </a:ext>
            </a:extLst>
          </p:cNvPr>
          <p:cNvSpPr>
            <a:spLocks xmlns:a="http://schemas.openxmlformats.org/drawingml/2006/main" noGrp="1"/>
          </p:cNvSpPr>
          <p:nvPr/>
        </p:nvSpPr>
        <p:spPr>
          <a:xfrm xmlns:a="http://schemas.openxmlformats.org/drawingml/2006/main">
            <a:off x="838200" y="26479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B7F522"/>
                </a:solidFill>
                <a:latin typeface="Menlo"/>
                <a:ea typeface="Menlo"/>
                <a:cs typeface="Menlo"/>
              </a:defRPr>
            </a:pPr>
            <a:r>
              <a:rPr sz="1125" b="1">
                <a:solidFill>
                  <a:srgbClr val="B7F522"/>
                </a:solidFill>
                <a:latin typeface="Menlo"/>
                <a:ea typeface="Menlo"/>
                <a:cs typeface="Menlo"/>
              </a:rPr>
              <a:t>CATALOGUE</a:t>
            </a:r>
          </a:p>
        </p:txBody>
      </p:sp>
      <p:sp>
        <p:nvSpPr>
          <p:cNvPr id="4" name="trust-result-0">
            <a:extLst xmlns:a="http://schemas.openxmlformats.org/drawingml/2006/main">
              <a:ext uri="{FF2B5EF4-FFF2-40B4-BE49-F238E27FC236}">
                <a16:creationId xmlns:a16="http://schemas.microsoft.com/office/drawing/2014/main" id="{9DB51D62-485A-4145-954A-9CB3FA9EC1C1}"/>
              </a:ext>
            </a:extLst>
          </p:cNvPr>
          <p:cNvSpPr>
            <a:spLocks xmlns:a="http://schemas.openxmlformats.org/drawingml/2006/main" noGrp="1"/>
          </p:cNvSpPr>
          <p:nvPr/>
        </p:nvSpPr>
        <p:spPr>
          <a:xfrm xmlns:a="http://schemas.openxmlformats.org/drawingml/2006/main">
            <a:off x="838200" y="294322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Import validated inventory</a:t>
            </a:r>
          </a:p>
        </p:txBody>
      </p:sp>
      <p:sp>
        <p:nvSpPr>
          <p:cNvPr id="5" name="trust-label-1">
            <a:extLst xmlns:a="http://schemas.openxmlformats.org/drawingml/2006/main">
              <a:ext uri="{FF2B5EF4-FFF2-40B4-BE49-F238E27FC236}">
                <a16:creationId xmlns:a16="http://schemas.microsoft.com/office/drawing/2014/main" id="{6273882A-17B1-47E9-B063-9AE6CDF7B15B}"/>
              </a:ext>
            </a:extLst>
          </p:cNvPr>
          <p:cNvSpPr>
            <a:spLocks xmlns:a="http://schemas.openxmlformats.org/drawingml/2006/main" noGrp="1"/>
          </p:cNvSpPr>
          <p:nvPr/>
        </p:nvSpPr>
        <p:spPr>
          <a:xfrm xmlns:a="http://schemas.openxmlformats.org/drawingml/2006/main">
            <a:off x="838200" y="36766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B7F522"/>
                </a:solidFill>
                <a:latin typeface="Menlo"/>
                <a:ea typeface="Menlo"/>
                <a:cs typeface="Menlo"/>
              </a:defRPr>
            </a:pPr>
            <a:r>
              <a:rPr sz="1125" b="1">
                <a:solidFill>
                  <a:srgbClr val="B7F522"/>
                </a:solidFill>
                <a:latin typeface="Menlo"/>
                <a:ea typeface="Menlo"/>
                <a:cs typeface="Menlo"/>
              </a:rPr>
              <a:t>PRICE + STOCK</a:t>
            </a:r>
          </a:p>
        </p:txBody>
      </p:sp>
      <p:sp>
        <p:nvSpPr>
          <p:cNvPr id="6" name="trust-result-1">
            <a:extLst xmlns:a="http://schemas.openxmlformats.org/drawingml/2006/main">
              <a:ext uri="{FF2B5EF4-FFF2-40B4-BE49-F238E27FC236}">
                <a16:creationId xmlns:a16="http://schemas.microsoft.com/office/drawing/2014/main" id="{F162B87C-715A-459A-B00C-31141FB34338}"/>
              </a:ext>
            </a:extLst>
          </p:cNvPr>
          <p:cNvSpPr>
            <a:spLocks xmlns:a="http://schemas.openxmlformats.org/drawingml/2006/main" noGrp="1"/>
          </p:cNvSpPr>
          <p:nvPr/>
        </p:nvSpPr>
        <p:spPr>
          <a:xfrm xmlns:a="http://schemas.openxmlformats.org/drawingml/2006/main">
            <a:off x="838200" y="397192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Update availability in seconds</a:t>
            </a:r>
          </a:p>
        </p:txBody>
      </p:sp>
      <p:sp>
        <p:nvSpPr>
          <p:cNvPr id="7" name="trust-label-2">
            <a:extLst xmlns:a="http://schemas.openxmlformats.org/drawingml/2006/main">
              <a:ext uri="{FF2B5EF4-FFF2-40B4-BE49-F238E27FC236}">
                <a16:creationId xmlns:a16="http://schemas.microsoft.com/office/drawing/2014/main" id="{C4B81856-03B7-4C6F-8BE0-20567A559FA6}"/>
              </a:ext>
            </a:extLst>
          </p:cNvPr>
          <p:cNvSpPr>
            <a:spLocks xmlns:a="http://schemas.openxmlformats.org/drawingml/2006/main" noGrp="1"/>
          </p:cNvSpPr>
          <p:nvPr/>
        </p:nvSpPr>
        <p:spPr>
          <a:xfrm xmlns:a="http://schemas.openxmlformats.org/drawingml/2006/main">
            <a:off x="838200" y="47053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B7F522"/>
                </a:solidFill>
                <a:latin typeface="Menlo"/>
                <a:ea typeface="Menlo"/>
                <a:cs typeface="Menlo"/>
              </a:defRPr>
            </a:pPr>
            <a:r>
              <a:rPr sz="1125" b="1">
                <a:solidFill>
                  <a:srgbClr val="B7F522"/>
                </a:solidFill>
                <a:latin typeface="Menlo"/>
                <a:ea typeface="Menlo"/>
                <a:cs typeface="Menlo"/>
              </a:rPr>
              <a:t>ORDERS</a:t>
            </a:r>
          </a:p>
        </p:txBody>
      </p:sp>
      <p:sp>
        <p:nvSpPr>
          <p:cNvPr id="8" name="trust-result-2">
            <a:extLst xmlns:a="http://schemas.openxmlformats.org/drawingml/2006/main">
              <a:ext uri="{FF2B5EF4-FFF2-40B4-BE49-F238E27FC236}">
                <a16:creationId xmlns:a16="http://schemas.microsoft.com/office/drawing/2014/main" id="{4710E187-A73B-458B-9E26-75865D8C4963}"/>
              </a:ext>
            </a:extLst>
          </p:cNvPr>
          <p:cNvSpPr>
            <a:spLocks xmlns:a="http://schemas.openxmlformats.org/drawingml/2006/main" noGrp="1"/>
          </p:cNvSpPr>
          <p:nvPr/>
        </p:nvSpPr>
        <p:spPr>
          <a:xfrm xmlns:a="http://schemas.openxmlformats.org/drawingml/2006/main">
            <a:off x="838200" y="500062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Receive exact confirmed orders</a:t>
            </a:r>
          </a:p>
        </p:txBody>
      </p:sp>
      <p:sp>
        <p:nvSpPr>
          <p:cNvPr id="9" name="trust-label-3">
            <a:extLst xmlns:a="http://schemas.openxmlformats.org/drawingml/2006/main">
              <a:ext uri="{FF2B5EF4-FFF2-40B4-BE49-F238E27FC236}">
                <a16:creationId xmlns:a16="http://schemas.microsoft.com/office/drawing/2014/main" id="{8447503C-1BBD-48B3-8538-611E1FF67E77}"/>
              </a:ext>
            </a:extLst>
          </p:cNvPr>
          <p:cNvSpPr>
            <a:spLocks xmlns:a="http://schemas.openxmlformats.org/drawingml/2006/main" noGrp="1"/>
          </p:cNvSpPr>
          <p:nvPr/>
        </p:nvSpPr>
        <p:spPr>
          <a:xfrm xmlns:a="http://schemas.openxmlformats.org/drawingml/2006/main">
            <a:off x="838200" y="57340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125" b="1">
                <a:solidFill>
                  <a:srgbClr val="B7F522"/>
                </a:solidFill>
                <a:latin typeface="Menlo"/>
                <a:ea typeface="Menlo"/>
                <a:cs typeface="Menlo"/>
              </a:defRPr>
            </a:pPr>
            <a:r>
              <a:rPr sz="1125" b="1">
                <a:solidFill>
                  <a:srgbClr val="B7F522"/>
                </a:solidFill>
                <a:latin typeface="Menlo"/>
                <a:ea typeface="Menlo"/>
                <a:cs typeface="Menlo"/>
              </a:rPr>
              <a:t>AUDIT</a:t>
            </a:r>
          </a:p>
        </p:txBody>
      </p:sp>
      <p:sp>
        <p:nvSpPr>
          <p:cNvPr id="10" name="trust-result-3">
            <a:extLst xmlns:a="http://schemas.openxmlformats.org/drawingml/2006/main">
              <a:ext uri="{FF2B5EF4-FFF2-40B4-BE49-F238E27FC236}">
                <a16:creationId xmlns:a16="http://schemas.microsoft.com/office/drawing/2014/main" id="{8AB19497-155D-432D-8278-3D6F1A1EE437}"/>
              </a:ext>
            </a:extLst>
          </p:cNvPr>
          <p:cNvSpPr>
            <a:spLocks xmlns:a="http://schemas.openxmlformats.org/drawingml/2006/main" noGrp="1"/>
          </p:cNvSpPr>
          <p:nvPr/>
        </p:nvSpPr>
        <p:spPr>
          <a:xfrm xmlns:a="http://schemas.openxmlformats.org/drawingml/2006/main">
            <a:off x="838200" y="602932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Inspect every action</a:t>
            </a:r>
          </a:p>
        </p:txBody>
      </p:sp>
      <p:sp>
        <p:nvSpPr>
          <p:cNvPr id="11" name="Woven merchant operations desk with inventory and failure scenarios-backplate">
            <a:extLst xmlns:a="http://schemas.openxmlformats.org/drawingml/2006/main">
              <a:ext uri="{FF2B5EF4-FFF2-40B4-BE49-F238E27FC236}">
                <a16:creationId xmlns:a16="http://schemas.microsoft.com/office/drawing/2014/main" id="{EF59AED9-65B8-4527-8126-6B9C87CB4BB9}"/>
              </a:ext>
            </a:extLst>
          </p:cNvPr>
          <p:cNvSpPr>
            <a:spLocks xmlns:a="http://schemas.openxmlformats.org/drawingml/2006/main" noGrp="1"/>
          </p:cNvSpPr>
          <p:nvPr/>
        </p:nvSpPr>
        <p:spPr>
          <a:xfrm xmlns:a="http://schemas.openxmlformats.org/drawingml/2006/main">
            <a:off x="4762500" y="2247900"/>
            <a:ext cx="9525000" cy="5438775"/>
          </a:xfrm>
          <a:prstGeom xmlns:a="http://schemas.openxmlformats.org/drawingml/2006/main" prst="roundRect">
            <a:avLst>
              <a:gd name="adj" fmla="val 4203"/>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6c24c0f2c7d4d70"/>
          <a:stretch xmlns:a="http://schemas.openxmlformats.org/drawingml/2006/main"/>
        </p:blipFill>
        <p:spPr>
          <a:xfrm xmlns:a="http://schemas.openxmlformats.org/drawingml/2006/main" flipH="0" flipV="0">
            <a:off x="4859867" y="2343150"/>
            <a:ext cx="9330267" cy="5248275"/>
          </a:xfrm>
          <a:prstGeom xmlns:a="http://schemas.openxmlformats.org/drawingml/2006/main" prst="roundRect">
            <a:avLst/>
          </a:prstGeom>
        </p:spPr>
      </p:pic>
      <p:sp>
        <p:nvSpPr>
          <p:cNvPr id="13" name="trust-footnote">
            <a:extLst xmlns:a="http://schemas.openxmlformats.org/drawingml/2006/main">
              <a:ext uri="{FF2B5EF4-FFF2-40B4-BE49-F238E27FC236}">
                <a16:creationId xmlns:a16="http://schemas.microsoft.com/office/drawing/2014/main" id="{DCBEF5DD-5567-4EF5-B8A2-D085501EF181}"/>
              </a:ext>
            </a:extLst>
          </p:cNvPr>
          <p:cNvSpPr>
            <a:spLocks xmlns:a="http://schemas.openxmlformats.org/drawingml/2006/main" noGrp="1"/>
          </p:cNvSpPr>
          <p:nvPr/>
        </p:nvSpPr>
        <p:spPr>
          <a:xfrm xmlns:a="http://schemas.openxmlformats.org/drawingml/2006/main">
            <a:off x="838200" y="708660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5000"/>
              </a:lnSpc>
              <a:buNone/>
              <a:defRPr sz="1050" b="1">
                <a:solidFill>
                  <a:srgbClr val="DCECE5"/>
                </a:solidFill>
                <a:latin typeface="Menlo"/>
                <a:ea typeface="Menlo"/>
                <a:cs typeface="Menlo"/>
              </a:defRPr>
            </a:pPr>
            <a:r>
              <a:rPr sz="1050" b="1">
                <a:solidFill>
                  <a:srgbClr val="DCECE5"/>
                </a:solidFill>
                <a:latin typeface="Menlo"/>
                <a:ea typeface="Menlo"/>
                <a:cs typeface="Menlo"/>
              </a:rPr>
              <a:t>SEEDED DEMO DATA · WORKING CONTROL DESK</a:t>
            </a:r>
          </a:p>
          <a:p xmlns:a="http://schemas.openxmlformats.org/drawingml/2006/main">
            <a:pPr>
              <a:lnSpc>
                <a:spcPct val="115000"/>
              </a:lnSpc>
              <a:buNone/>
              <a:defRPr sz="1050" b="1">
                <a:solidFill>
                  <a:srgbClr val="DCECE5"/>
                </a:solidFill>
                <a:latin typeface="Menlo"/>
                <a:ea typeface="Menlo"/>
                <a:cs typeface="Menlo"/>
              </a:defRPr>
            </a:pPr>
            <a:r>
              <a:rPr sz="1050" b="1">
                <a:solidFill>
                  <a:srgbClr val="DCECE5"/>
                </a:solidFill>
                <a:latin typeface="Menlo"/>
                <a:ea typeface="Menlo"/>
                <a:cs typeface="Menlo"/>
              </a:rPr>
              <a:t>DECLINE + REVERSAL SCENARIOS · NO LIVE RAIL</a:t>
            </a:r>
          </a:p>
        </p:txBody>
      </p:sp>
      <p:sp>
        <p:nvSpPr>
          <p:cNvPr id="14" name="footer-label-7">
            <a:extLst xmlns:a="http://schemas.openxmlformats.org/drawingml/2006/main">
              <a:ext uri="{FF2B5EF4-FFF2-40B4-BE49-F238E27FC236}">
                <a16:creationId xmlns:a16="http://schemas.microsoft.com/office/drawing/2014/main" id="{D1CEC107-8456-466A-976F-F8A491F8F0D9}"/>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DCECE5"/>
                </a:solidFill>
                <a:latin typeface="Menlo"/>
                <a:ea typeface="Menlo"/>
                <a:cs typeface="Menlo"/>
              </a:defRPr>
            </a:pPr>
            <a:r>
              <a:rPr sz="1200" b="1">
                <a:solidFill>
                  <a:srgbClr val="DCECE5"/>
                </a:solidFill>
                <a:latin typeface="Menlo"/>
                <a:ea typeface="Menlo"/>
                <a:cs typeface="Menlo"/>
              </a:rPr>
              <a:t>WOVEN  /  LIFEHACK 2026</a:t>
            </a:r>
          </a:p>
        </p:txBody>
      </p:sp>
      <p:sp>
        <p:nvSpPr>
          <p:cNvPr id="15" name="footer-number-7">
            <a:extLst xmlns:a="http://schemas.openxmlformats.org/drawingml/2006/main">
              <a:ext uri="{FF2B5EF4-FFF2-40B4-BE49-F238E27FC236}">
                <a16:creationId xmlns:a16="http://schemas.microsoft.com/office/drawing/2014/main" id="{C71BD092-E5FA-4867-9F30-E72953CEA489}"/>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DCECE5"/>
                </a:solidFill>
                <a:latin typeface="Menlo"/>
                <a:ea typeface="Menlo"/>
                <a:cs typeface="Menlo"/>
              </a:defRPr>
            </a:pPr>
            <a:r>
              <a:rPr sz="1350" b="1">
                <a:solidFill>
                  <a:srgbClr val="DCECE5"/>
                </a:solidFill>
                <a:latin typeface="Menlo"/>
                <a:ea typeface="Menlo"/>
                <a:cs typeface="Menlo"/>
              </a:rPr>
              <a:t>06</a:t>
            </a:r>
          </a:p>
        </p:txBody>
      </p:sp>
    </p:spTree>
    <p:extLst>
      <p:ext uri="{BB962C8B-B14F-4D97-AF65-F5344CB8AC3E}">
        <p14:creationId xmlns:p14="http://schemas.microsoft.com/office/powerpoint/2010/main" val="1014882248"/>
      </p:ext>
    </p:extLst>
  </p:cSld>
</p:sld>
</file>

<file path=ppt/slides/slide7.xml><?xml version="1.0" encoding="utf-8"?>
<p:sld xmlns:p="http://schemas.openxmlformats.org/presentationml/2006/main">
  <p:cSld>
    <p:bg>
      <p:bgPr>
        <a:solidFill xmlns:a="http://schemas.openxmlformats.org/drawingml/2006/main">
          <a:srgbClr val="0E4B3B"/>
        </a:solidFill>
      </p:bgPr>
    </p:bg>
    <p:spTree>
      <p:nvGrpSpPr>
        <p:cNvPr id="1" name=""/>
        <p:cNvGrpSpPr/>
        <p:nvPr/>
      </p:nvGrpSpPr>
      <p:grpSpPr>
        <a:xfrm xmlns:a="http://schemas.openxmlformats.org/drawingml/2006/main"/>
      </p:grpSpPr>
      <p:sp>
        <p:nvSpPr>
          <p:cNvPr id="10" name="eyebrow-The takeaway">
            <a:extLst xmlns:a="http://schemas.openxmlformats.org/drawingml/2006/main">
              <a:ext uri="{FF2B5EF4-FFF2-40B4-BE49-F238E27FC236}">
                <a16:creationId xmlns:a16="http://schemas.microsoft.com/office/drawing/2014/main" id="{127A4371-AA64-41B4-BB82-2074B9A226A8}"/>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B7F522"/>
                </a:solidFill>
                <a:latin typeface="Menlo"/>
                <a:ea typeface="Menlo"/>
                <a:cs typeface="Menlo"/>
              </a:defRPr>
            </a:pPr>
            <a:r>
              <a:rPr sz="1350" b="1">
                <a:solidFill>
                  <a:srgbClr val="B7F522"/>
                </a:solidFill>
                <a:latin typeface="Menlo"/>
                <a:ea typeface="Menlo"/>
                <a:cs typeface="Menlo"/>
              </a:rPr>
              <a:t>THE TAKEAWAY</a:t>
            </a:r>
          </a:p>
        </p:txBody>
      </p:sp>
      <p:sp>
        <p:nvSpPr>
          <p:cNvPr id="2" name="closing-title">
            <a:extLst xmlns:a="http://schemas.openxmlformats.org/drawingml/2006/main">
              <a:ext uri="{FF2B5EF4-FFF2-40B4-BE49-F238E27FC236}">
                <a16:creationId xmlns:a16="http://schemas.microsoft.com/office/drawing/2014/main" id="{96611E61-644B-4FDB-B197-448F38D56EC2}"/>
              </a:ext>
            </a:extLst>
          </p:cNvPr>
          <p:cNvSpPr>
            <a:spLocks xmlns:a="http://schemas.openxmlformats.org/drawingml/2006/main" noGrp="1"/>
          </p:cNvSpPr>
          <p:nvPr/>
        </p:nvSpPr>
        <p:spPr>
          <a:xfrm xmlns:a="http://schemas.openxmlformats.org/drawingml/2006/main">
            <a:off x="838200" y="1314450"/>
            <a:ext cx="657225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The checkout belongs</a:t>
            </a:r>
          </a:p>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where the request</a:t>
            </a:r>
          </a:p>
          <a:p xmlns:a="http://schemas.openxmlformats.org/drawingml/2006/main">
            <a:pPr>
              <a:lnSpc>
                <a:spcPct val="94000"/>
              </a:lnSpc>
              <a:buNone/>
              <a:defRPr sz="4200" b="1">
                <a:solidFill>
                  <a:srgbClr val="FFFFFF"/>
                </a:solidFill>
                <a:latin typeface="Georgia"/>
                <a:ea typeface="Georgia"/>
                <a:cs typeface="Georgia"/>
              </a:defRPr>
            </a:pPr>
            <a:r>
              <a:rPr sz="4200" b="1">
                <a:solidFill>
                  <a:srgbClr val="FFFFFF"/>
                </a:solidFill>
                <a:latin typeface="Georgia"/>
                <a:ea typeface="Georgia"/>
                <a:cs typeface="Georgia"/>
              </a:rPr>
              <a:t>begins.</a:t>
            </a:r>
          </a:p>
        </p:txBody>
      </p:sp>
      <p:sp>
        <p:nvSpPr>
          <p:cNvPr id="3" name="closing-tagline">
            <a:extLst xmlns:a="http://schemas.openxmlformats.org/drawingml/2006/main">
              <a:ext uri="{FF2B5EF4-FFF2-40B4-BE49-F238E27FC236}">
                <a16:creationId xmlns:a16="http://schemas.microsoft.com/office/drawing/2014/main" id="{6EC2DC6F-0A7B-4F6E-BD30-C7C0CF8409EC}"/>
              </a:ext>
            </a:extLst>
          </p:cNvPr>
          <p:cNvSpPr>
            <a:spLocks xmlns:a="http://schemas.openxmlformats.org/drawingml/2006/main" noGrp="1"/>
          </p:cNvSpPr>
          <p:nvPr/>
        </p:nvSpPr>
        <p:spPr>
          <a:xfrm xmlns:a="http://schemas.openxmlformats.org/drawingml/2006/main">
            <a:off x="838200" y="443865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1">
                <a:solidFill>
                  <a:srgbClr val="B7F522"/>
                </a:solidFill>
                <a:latin typeface="Avenir Next"/>
                <a:ea typeface="Avenir Next"/>
                <a:cs typeface="Avenir Next"/>
              </a:defRPr>
            </a:pPr>
            <a:r>
              <a:rPr sz="2100" b="1">
                <a:solidFill>
                  <a:srgbClr val="B7F522"/>
                </a:solidFill>
                <a:latin typeface="Avenir Next"/>
                <a:ea typeface="Avenir Next"/>
                <a:cs typeface="Avenir Next"/>
              </a:rPr>
              <a:t>Ask once. Review once. Confirm once.</a:t>
            </a:r>
          </a:p>
        </p:txBody>
      </p:sp>
      <p:sp>
        <p:nvSpPr>
          <p:cNvPr id="4" name="closing-triad">
            <a:extLst xmlns:a="http://schemas.openxmlformats.org/drawingml/2006/main">
              <a:ext uri="{FF2B5EF4-FFF2-40B4-BE49-F238E27FC236}">
                <a16:creationId xmlns:a16="http://schemas.microsoft.com/office/drawing/2014/main" id="{72F89658-D2BF-4658-B511-4AA10AF9E935}"/>
              </a:ext>
            </a:extLst>
          </p:cNvPr>
          <p:cNvSpPr>
            <a:spLocks xmlns:a="http://schemas.openxmlformats.org/drawingml/2006/main" noGrp="1"/>
          </p:cNvSpPr>
          <p:nvPr/>
        </p:nvSpPr>
        <p:spPr>
          <a:xfrm xmlns:a="http://schemas.openxmlformats.org/drawingml/2006/main">
            <a:off x="838200" y="5810250"/>
            <a:ext cx="5334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ChatGPT understands.</a:t>
            </a:r>
          </a:p>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Woven builds the right cart.</a:t>
            </a:r>
          </a:p>
          <a:p xmlns:a="http://schemas.openxmlformats.org/drawingml/2006/main">
            <a:pPr>
              <a:lnSpc>
                <a:spcPct val="118000"/>
              </a:lnSpc>
              <a:buNone/>
              <a:defRPr sz="2025" b="1">
                <a:solidFill>
                  <a:srgbClr val="DCECE5"/>
                </a:solidFill>
                <a:latin typeface="Menlo"/>
                <a:ea typeface="Menlo"/>
                <a:cs typeface="Menlo"/>
              </a:defRPr>
            </a:pPr>
            <a:r>
              <a:rPr sz="2025" b="1">
                <a:solidFill>
                  <a:srgbClr val="DCECE5"/>
                </a:solidFill>
                <a:latin typeface="Menlo"/>
                <a:ea typeface="Menlo"/>
                <a:cs typeface="Menlo"/>
              </a:rPr>
              <a:t>The user controls authorization.</a:t>
            </a:r>
          </a:p>
        </p:txBody>
      </p:sp>
      <p:sp>
        <p:nvSpPr>
          <p:cNvPr id="5" name="Woven simulated authorization result and pickup receipt-backplate">
            <a:extLst xmlns:a="http://schemas.openxmlformats.org/drawingml/2006/main">
              <a:ext uri="{FF2B5EF4-FFF2-40B4-BE49-F238E27FC236}">
                <a16:creationId xmlns:a16="http://schemas.microsoft.com/office/drawing/2014/main" id="{6657EEA8-CC04-4F82-BABF-52A8AB7EB24E}"/>
              </a:ext>
            </a:extLst>
          </p:cNvPr>
          <p:cNvSpPr>
            <a:spLocks xmlns:a="http://schemas.openxmlformats.org/drawingml/2006/main" noGrp="1"/>
          </p:cNvSpPr>
          <p:nvPr/>
        </p:nvSpPr>
        <p:spPr>
          <a:xfrm xmlns:a="http://schemas.openxmlformats.org/drawingml/2006/main">
            <a:off x="7620000" y="2381250"/>
            <a:ext cx="6858000" cy="39433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42128613b45476b"/>
          <a:stretch xmlns:a="http://schemas.openxmlformats.org/drawingml/2006/main"/>
        </p:blipFill>
        <p:spPr>
          <a:xfrm xmlns:a="http://schemas.openxmlformats.org/drawingml/2006/main" flipH="0" flipV="0">
            <a:off x="7715250" y="2477691"/>
            <a:ext cx="6667500" cy="3750469"/>
          </a:xfrm>
          <a:prstGeom xmlns:a="http://schemas.openxmlformats.org/drawingml/2006/main" prst="roundRect">
            <a:avLst/>
          </a:prstGeom>
        </p:spPr>
      </p:pic>
      <p:sp>
        <p:nvSpPr>
          <p:cNvPr id="7" name="closing-boundary">
            <a:extLst xmlns:a="http://schemas.openxmlformats.org/drawingml/2006/main">
              <a:ext uri="{FF2B5EF4-FFF2-40B4-BE49-F238E27FC236}">
                <a16:creationId xmlns:a16="http://schemas.microsoft.com/office/drawing/2014/main" id="{F366E3E1-58EC-4B9E-85AC-84B9FDF83536}"/>
              </a:ext>
            </a:extLst>
          </p:cNvPr>
          <p:cNvSpPr>
            <a:spLocks xmlns:a="http://schemas.openxmlformats.org/drawingml/2006/main" noGrp="1"/>
          </p:cNvSpPr>
          <p:nvPr/>
        </p:nvSpPr>
        <p:spPr>
          <a:xfrm xmlns:a="http://schemas.openxmlformats.org/drawingml/2006/main">
            <a:off x="8401050" y="65722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ctr">
              <a:buNone/>
              <a:defRPr sz="1200" b="1">
                <a:solidFill>
                  <a:srgbClr val="B7F522"/>
                </a:solidFill>
                <a:latin typeface="Menlo"/>
                <a:ea typeface="Menlo"/>
                <a:cs typeface="Menlo"/>
              </a:defRPr>
            </a:pPr>
            <a:r>
              <a:rPr sz="1200" b="1">
                <a:solidFill>
                  <a:srgbClr val="B7F522"/>
                </a:solidFill>
                <a:latin typeface="Menlo"/>
                <a:ea typeface="Menlo"/>
                <a:cs typeface="Menlo"/>
              </a:rPr>
              <a:t>IDENTITY PLANNED · VISA AUTHORIZATION SIMULATED</a:t>
            </a:r>
          </a:p>
        </p:txBody>
      </p:sp>
      <p:sp>
        <p:nvSpPr>
          <p:cNvPr id="8" name="footer-label-9">
            <a:extLst xmlns:a="http://schemas.openxmlformats.org/drawingml/2006/main">
              <a:ext uri="{FF2B5EF4-FFF2-40B4-BE49-F238E27FC236}">
                <a16:creationId xmlns:a16="http://schemas.microsoft.com/office/drawing/2014/main" id="{D2647B79-80DB-4F8E-8A2F-05922DDDED74}"/>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DCECE5"/>
                </a:solidFill>
                <a:latin typeface="Menlo"/>
                <a:ea typeface="Menlo"/>
                <a:cs typeface="Menlo"/>
              </a:defRPr>
            </a:pPr>
            <a:r>
              <a:rPr sz="1200" b="1">
                <a:solidFill>
                  <a:srgbClr val="DCECE5"/>
                </a:solidFill>
                <a:latin typeface="Menlo"/>
                <a:ea typeface="Menlo"/>
                <a:cs typeface="Menlo"/>
              </a:rPr>
              <a:t>WOVEN  /  LIFEHACK 2026</a:t>
            </a:r>
          </a:p>
        </p:txBody>
      </p:sp>
      <p:sp>
        <p:nvSpPr>
          <p:cNvPr id="9" name="footer-number-9">
            <a:extLst xmlns:a="http://schemas.openxmlformats.org/drawingml/2006/main">
              <a:ext uri="{FF2B5EF4-FFF2-40B4-BE49-F238E27FC236}">
                <a16:creationId xmlns:a16="http://schemas.microsoft.com/office/drawing/2014/main" id="{62445167-1406-4B61-A1CF-80F49583F03F}"/>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DCECE5"/>
                </a:solidFill>
                <a:latin typeface="Menlo"/>
                <a:ea typeface="Menlo"/>
                <a:cs typeface="Menlo"/>
              </a:defRPr>
            </a:pPr>
            <a:r>
              <a:rPr sz="1350" b="1">
                <a:solidFill>
                  <a:srgbClr val="DCECE5"/>
                </a:solidFill>
                <a:latin typeface="Menlo"/>
                <a:ea typeface="Menlo"/>
                <a:cs typeface="Menlo"/>
              </a:rPr>
              <a:t>07</a:t>
            </a:r>
          </a:p>
        </p:txBody>
      </p:sp>
    </p:spTree>
    <p:extLst>
      <p:ext uri="{BB962C8B-B14F-4D97-AF65-F5344CB8AC3E}">
        <p14:creationId xmlns:p14="http://schemas.microsoft.com/office/powerpoint/2010/main" val="1060689594"/>
      </p:ext>
    </p:extLst>
  </p:cSld>
</p:sld>
</file>

<file path=ppt/slides/slide8.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9" name="eyebrow-Merchant access and scale">
            <a:extLst xmlns:a="http://schemas.openxmlformats.org/drawingml/2006/main">
              <a:ext uri="{FF2B5EF4-FFF2-40B4-BE49-F238E27FC236}">
                <a16:creationId xmlns:a16="http://schemas.microsoft.com/office/drawing/2014/main" id="{45608E1F-4AAA-4FB7-BC67-CDD26807E062}"/>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BACKUP · WHAT IS REAL</a:t>
            </a:r>
          </a:p>
        </p:txBody>
      </p:sp>
      <p:sp>
        <p:nvSpPr>
          <p:cNvPr id="2" name="title-Merchants connect commerce once. Woven handles the conversation.">
            <a:extLst xmlns:a="http://schemas.openxmlformats.org/drawingml/2006/main">
              <a:ext uri="{FF2B5EF4-FFF2-40B4-BE49-F238E27FC236}">
                <a16:creationId xmlns:a16="http://schemas.microsoft.com/office/drawing/2014/main" id="{092C5D01-8197-4D10-8BE3-3B03DD3DF7BC}"/>
              </a:ext>
            </a:extLst>
          </p:cNvPr>
          <p:cNvSpPr>
            <a:spLocks xmlns:a="http://schemas.openxmlformats.org/drawingml/2006/main" noGrp="1"/>
          </p:cNvSpPr>
          <p:nvPr/>
        </p:nvSpPr>
        <p:spPr>
          <a:xfrm xmlns:a="http://schemas.openxmlformats.org/drawingml/2006/main">
            <a:off x="838200" y="990600"/>
            <a:ext cx="1362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The working prototype already completes the core journey.</a:t>
            </a:r>
          </a:p>
        </p:txBody>
      </p:sp>
      <p:sp>
        <p:nvSpPr>
          <p:cNvPr id="3" name="scale-number-0">
            <a:extLst xmlns:a="http://schemas.openxmlformats.org/drawingml/2006/main">
              <a:ext uri="{FF2B5EF4-FFF2-40B4-BE49-F238E27FC236}">
                <a16:creationId xmlns:a16="http://schemas.microsoft.com/office/drawing/2014/main" id="{BD9CC34B-FE98-411F-90C6-63673C207103}"/>
              </a:ext>
            </a:extLst>
          </p:cNvPr>
          <p:cNvSpPr>
            <a:spLocks xmlns:a="http://schemas.openxmlformats.org/drawingml/2006/main" noGrp="1"/>
          </p:cNvSpPr>
          <p:nvPr/>
        </p:nvSpPr>
        <p:spPr>
          <a:xfrm xmlns:a="http://schemas.openxmlformats.org/drawingml/2006/main">
            <a:off x="8382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6D7974"/>
                </a:solidFill>
                <a:latin typeface="Menlo"/>
                <a:ea typeface="Menlo"/>
                <a:cs typeface="Menlo"/>
              </a:defRPr>
            </a:pPr>
            <a:r>
              <a:rPr sz="1800" b="1">
                <a:solidFill>
                  <a:srgbClr val="6D7974"/>
                </a:solidFill>
                <a:latin typeface="Menlo"/>
                <a:ea typeface="Menlo"/>
                <a:cs typeface="Menlo"/>
              </a:rPr>
              <a:t>01</a:t>
            </a:r>
          </a:p>
        </p:txBody>
      </p:sp>
      <p:sp>
        <p:nvSpPr>
          <p:cNvPr id="4" name="scale-line-0">
            <a:extLst xmlns:a="http://schemas.openxmlformats.org/drawingml/2006/main">
              <a:ext uri="{FF2B5EF4-FFF2-40B4-BE49-F238E27FC236}">
                <a16:creationId xmlns:a16="http://schemas.microsoft.com/office/drawing/2014/main" id="{8020E27B-8543-4CD1-842D-6418530300E7}"/>
              </a:ext>
            </a:extLst>
          </p:cNvPr>
          <p:cNvSpPr>
            <a:spLocks xmlns:a="http://schemas.openxmlformats.org/drawingml/2006/main" noGrp="1"/>
          </p:cNvSpPr>
          <p:nvPr/>
        </p:nvSpPr>
        <p:spPr>
          <a:xfrm xmlns:a="http://schemas.openxmlformats.org/drawingml/2006/main">
            <a:off x="838200" y="3600450"/>
            <a:ext cx="4000500" cy="0"/>
          </a:xfrm>
          <a:prstGeom xmlns:a="http://schemas.openxmlformats.org/drawingml/2006/main" prst="line">
            <a:avLst/>
          </a:prstGeom>
          <a:noFill xmlns:a="http://schemas.openxmlformats.org/drawingml/2006/main"/>
          <a:ln xmlns:a="http://schemas.openxmlformats.org/drawingml/2006/main" w="57150">
            <a:solidFill>
              <a:srgbClr val="B7F522"/>
            </a:solidFill>
            <a:prstDash val="solid"/>
          </a:ln>
        </p:spPr>
      </p:sp>
      <p:sp>
        <p:nvSpPr>
          <p:cNvPr id="5" name="scale-heading-0">
            <a:extLst xmlns:a="http://schemas.openxmlformats.org/drawingml/2006/main">
              <a:ext uri="{FF2B5EF4-FFF2-40B4-BE49-F238E27FC236}">
                <a16:creationId xmlns:a16="http://schemas.microsoft.com/office/drawing/2014/main" id="{8F92E23D-A432-42BD-9333-22DC4085330E}"/>
              </a:ext>
            </a:extLst>
          </p:cNvPr>
          <p:cNvSpPr>
            <a:spLocks xmlns:a="http://schemas.openxmlformats.org/drawingml/2006/main" noGrp="1"/>
          </p:cNvSpPr>
          <p:nvPr/>
        </p:nvSpPr>
        <p:spPr>
          <a:xfrm xmlns:a="http://schemas.openxmlformats.org/drawingml/2006/main">
            <a:off x="8382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Cart engine</a:t>
            </a:r>
          </a:p>
        </p:txBody>
      </p:sp>
      <p:sp>
        <p:nvSpPr>
          <p:cNvPr id="6" name="scale-body-0">
            <a:extLst xmlns:a="http://schemas.openxmlformats.org/drawingml/2006/main">
              <a:ext uri="{FF2B5EF4-FFF2-40B4-BE49-F238E27FC236}">
                <a16:creationId xmlns:a16="http://schemas.microsoft.com/office/drawing/2014/main" id="{7804FC9D-8D9A-4950-BAE7-1823E6AE21F0}"/>
              </a:ext>
            </a:extLst>
          </p:cNvPr>
          <p:cNvSpPr>
            <a:spLocks xmlns:a="http://schemas.openxmlformats.org/drawingml/2006/main" noGrp="1"/>
          </p:cNvSpPr>
          <p:nvPr/>
        </p:nvSpPr>
        <p:spPr>
          <a:xfrm xmlns:a="http://schemas.openxmlformats.org/drawingml/2006/main">
            <a:off x="8382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Complete one-merchant carts.
Compatibility · budget · pickup.</a:t>
            </a:r>
          </a:p>
        </p:txBody>
      </p:sp>
      <p:sp>
        <p:nvSpPr>
          <p:cNvPr id="7" name="scale-number-1">
            <a:extLst xmlns:a="http://schemas.openxmlformats.org/drawingml/2006/main">
              <a:ext uri="{FF2B5EF4-FFF2-40B4-BE49-F238E27FC236}">
                <a16:creationId xmlns:a16="http://schemas.microsoft.com/office/drawing/2014/main" id="{CDAA3358-24A7-437B-9A64-77A5253F42A9}"/>
              </a:ext>
            </a:extLst>
          </p:cNvPr>
          <p:cNvSpPr>
            <a:spLocks xmlns:a="http://schemas.openxmlformats.org/drawingml/2006/main" noGrp="1"/>
          </p:cNvSpPr>
          <p:nvPr/>
        </p:nvSpPr>
        <p:spPr>
          <a:xfrm xmlns:a="http://schemas.openxmlformats.org/drawingml/2006/main">
            <a:off x="56007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6D7974"/>
                </a:solidFill>
                <a:latin typeface="Menlo"/>
                <a:ea typeface="Menlo"/>
                <a:cs typeface="Menlo"/>
              </a:defRPr>
            </a:pPr>
            <a:r>
              <a:rPr sz="1800" b="1">
                <a:solidFill>
                  <a:srgbClr val="6D7974"/>
                </a:solidFill>
                <a:latin typeface="Menlo"/>
                <a:ea typeface="Menlo"/>
                <a:cs typeface="Menlo"/>
              </a:rPr>
              <a:t>02</a:t>
            </a:r>
          </a:p>
        </p:txBody>
      </p:sp>
      <p:sp>
        <p:nvSpPr>
          <p:cNvPr id="8" name="scale-line-1">
            <a:extLst xmlns:a="http://schemas.openxmlformats.org/drawingml/2006/main">
              <a:ext uri="{FF2B5EF4-FFF2-40B4-BE49-F238E27FC236}">
                <a16:creationId xmlns:a16="http://schemas.microsoft.com/office/drawing/2014/main" id="{F984DF2F-AB5D-47C4-916F-75204267A738}"/>
              </a:ext>
            </a:extLst>
          </p:cNvPr>
          <p:cNvSpPr>
            <a:spLocks xmlns:a="http://schemas.openxmlformats.org/drawingml/2006/main" noGrp="1"/>
          </p:cNvSpPr>
          <p:nvPr/>
        </p:nvSpPr>
        <p:spPr>
          <a:xfrm xmlns:a="http://schemas.openxmlformats.org/drawingml/2006/main">
            <a:off x="5600700" y="3600450"/>
            <a:ext cx="40005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9" name="scale-heading-1">
            <a:extLst xmlns:a="http://schemas.openxmlformats.org/drawingml/2006/main">
              <a:ext uri="{FF2B5EF4-FFF2-40B4-BE49-F238E27FC236}">
                <a16:creationId xmlns:a16="http://schemas.microsoft.com/office/drawing/2014/main" id="{7E87D58D-B04D-4C2A-B726-635DDE240DB6}"/>
              </a:ext>
            </a:extLst>
          </p:cNvPr>
          <p:cNvSpPr>
            <a:spLocks xmlns:a="http://schemas.openxmlformats.org/drawingml/2006/main" noGrp="1"/>
          </p:cNvSpPr>
          <p:nvPr/>
        </p:nvSpPr>
        <p:spPr>
          <a:xfrm xmlns:a="http://schemas.openxmlformats.org/drawingml/2006/main">
            <a:off x="56007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Checkout control</a:t>
            </a:r>
          </a:p>
        </p:txBody>
      </p:sp>
      <p:sp>
        <p:nvSpPr>
          <p:cNvPr id="10" name="scale-body-1">
            <a:extLst xmlns:a="http://schemas.openxmlformats.org/drawingml/2006/main">
              <a:ext uri="{FF2B5EF4-FFF2-40B4-BE49-F238E27FC236}">
                <a16:creationId xmlns:a16="http://schemas.microsoft.com/office/drawing/2014/main" id="{16E18AA4-AE39-4AEC-9985-ED711ED0D766}"/>
              </a:ext>
            </a:extLst>
          </p:cNvPr>
          <p:cNvSpPr>
            <a:spLocks xmlns:a="http://schemas.openxmlformats.org/drawingml/2006/main" noGrp="1"/>
          </p:cNvSpPr>
          <p:nvPr/>
        </p:nvSpPr>
        <p:spPr>
          <a:xfrm xmlns:a="http://schemas.openxmlformats.org/drawingml/2006/main">
            <a:off x="56007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Expiring exact terms.
Direct confirmation · idempotency.</a:t>
            </a:r>
          </a:p>
        </p:txBody>
      </p:sp>
      <p:sp>
        <p:nvSpPr>
          <p:cNvPr id="11" name="scale-number-2">
            <a:extLst xmlns:a="http://schemas.openxmlformats.org/drawingml/2006/main">
              <a:ext uri="{FF2B5EF4-FFF2-40B4-BE49-F238E27FC236}">
                <a16:creationId xmlns:a16="http://schemas.microsoft.com/office/drawing/2014/main" id="{EA2A17C8-CFB5-4E9D-ABFA-E6E8D2B7F253}"/>
              </a:ext>
            </a:extLst>
          </p:cNvPr>
          <p:cNvSpPr>
            <a:spLocks xmlns:a="http://schemas.openxmlformats.org/drawingml/2006/main" noGrp="1"/>
          </p:cNvSpPr>
          <p:nvPr/>
        </p:nvSpPr>
        <p:spPr>
          <a:xfrm xmlns:a="http://schemas.openxmlformats.org/drawingml/2006/main">
            <a:off x="103632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B7F522"/>
                </a:solidFill>
                <a:latin typeface="Menlo"/>
                <a:ea typeface="Menlo"/>
                <a:cs typeface="Menlo"/>
              </a:defRPr>
            </a:pPr>
            <a:r>
              <a:rPr sz="1800" b="1">
                <a:solidFill>
                  <a:srgbClr val="B7F522"/>
                </a:solidFill>
                <a:latin typeface="Menlo"/>
                <a:ea typeface="Menlo"/>
                <a:cs typeface="Menlo"/>
              </a:rPr>
              <a:t>03</a:t>
            </a:r>
          </a:p>
        </p:txBody>
      </p:sp>
      <p:sp>
        <p:nvSpPr>
          <p:cNvPr id="12" name="scale-line-2">
            <a:extLst xmlns:a="http://schemas.openxmlformats.org/drawingml/2006/main">
              <a:ext uri="{FF2B5EF4-FFF2-40B4-BE49-F238E27FC236}">
                <a16:creationId xmlns:a16="http://schemas.microsoft.com/office/drawing/2014/main" id="{BDE99F7F-19DB-4BD7-AD70-CD6275150621}"/>
              </a:ext>
            </a:extLst>
          </p:cNvPr>
          <p:cNvSpPr>
            <a:spLocks xmlns:a="http://schemas.openxmlformats.org/drawingml/2006/main" noGrp="1"/>
          </p:cNvSpPr>
          <p:nvPr/>
        </p:nvSpPr>
        <p:spPr>
          <a:xfrm xmlns:a="http://schemas.openxmlformats.org/drawingml/2006/main">
            <a:off x="10363200" y="3600450"/>
            <a:ext cx="40005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13" name="scale-heading-2">
            <a:extLst xmlns:a="http://schemas.openxmlformats.org/drawingml/2006/main">
              <a:ext uri="{FF2B5EF4-FFF2-40B4-BE49-F238E27FC236}">
                <a16:creationId xmlns:a16="http://schemas.microsoft.com/office/drawing/2014/main" id="{5AB63753-F0D5-4803-98BD-F4BF46F889B7}"/>
              </a:ext>
            </a:extLst>
          </p:cNvPr>
          <p:cNvSpPr>
            <a:spLocks xmlns:a="http://schemas.openxmlformats.org/drawingml/2006/main" noGrp="1"/>
          </p:cNvSpPr>
          <p:nvPr/>
        </p:nvSpPr>
        <p:spPr>
          <a:xfrm xmlns:a="http://schemas.openxmlformats.org/drawingml/2006/main">
            <a:off x="103632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Merchant operations</a:t>
            </a:r>
          </a:p>
        </p:txBody>
      </p:sp>
      <p:sp>
        <p:nvSpPr>
          <p:cNvPr id="14" name="scale-body-2">
            <a:extLst xmlns:a="http://schemas.openxmlformats.org/drawingml/2006/main">
              <a:ext uri="{FF2B5EF4-FFF2-40B4-BE49-F238E27FC236}">
                <a16:creationId xmlns:a16="http://schemas.microsoft.com/office/drawing/2014/main" id="{E7963198-1A16-48D2-952D-7AD01966B27A}"/>
              </a:ext>
            </a:extLst>
          </p:cNvPr>
          <p:cNvSpPr>
            <a:spLocks xmlns:a="http://schemas.openxmlformats.org/drawingml/2006/main" noGrp="1"/>
          </p:cNvSpPr>
          <p:nvPr/>
        </p:nvSpPr>
        <p:spPr>
          <a:xfrm xmlns:a="http://schemas.openxmlformats.org/drawingml/2006/main">
            <a:off x="103632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Inventory · scenarios · orders.
Audit trail.</a:t>
            </a:r>
          </a:p>
        </p:txBody>
      </p:sp>
      <p:sp>
        <p:nvSpPr>
          <p:cNvPr id="15" name="scale-bottom-band">
            <a:extLst xmlns:a="http://schemas.openxmlformats.org/drawingml/2006/main">
              <a:ext uri="{FF2B5EF4-FFF2-40B4-BE49-F238E27FC236}">
                <a16:creationId xmlns:a16="http://schemas.microsoft.com/office/drawing/2014/main" id="{F6065CF4-96C7-491E-BA9B-6F2C83818CF1}"/>
              </a:ext>
            </a:extLst>
          </p:cNvPr>
          <p:cNvSpPr>
            <a:spLocks xmlns:a="http://schemas.openxmlformats.org/drawingml/2006/main" noGrp="1"/>
          </p:cNvSpPr>
          <p:nvPr/>
        </p:nvSpPr>
        <p:spPr>
          <a:xfrm xmlns:a="http://schemas.openxmlformats.org/drawingml/2006/main">
            <a:off x="838200" y="6781800"/>
            <a:ext cx="13544550" cy="742950"/>
          </a:xfrm>
          <a:prstGeom xmlns:a="http://schemas.openxmlformats.org/drawingml/2006/main" prst="roundRect">
            <a:avLst>
              <a:gd name="adj" fmla="val 25641"/>
            </a:avLst>
          </a:prstGeom>
          <a:solidFill xmlns:a="http://schemas.openxmlformats.org/drawingml/2006/main">
            <a:srgbClr val="DFF1EB"/>
          </a:solidFill>
          <a:ln xmlns:a="http://schemas.openxmlformats.org/drawingml/2006/main" w="0">
            <a:noFill/>
            <a:prstDash val="solid"/>
          </a:ln>
        </p:spPr>
      </p:sp>
      <p:sp>
        <p:nvSpPr>
          <p:cNvPr id="16" name="scale-bottom-text">
            <a:extLst xmlns:a="http://schemas.openxmlformats.org/drawingml/2006/main">
              <a:ext uri="{FF2B5EF4-FFF2-40B4-BE49-F238E27FC236}">
                <a16:creationId xmlns:a16="http://schemas.microsoft.com/office/drawing/2014/main" id="{D6B78FC7-412E-4A33-887B-13E37937B350}"/>
              </a:ext>
            </a:extLst>
          </p:cNvPr>
          <p:cNvSpPr>
            <a:spLocks xmlns:a="http://schemas.openxmlformats.org/drawingml/2006/main" noGrp="1"/>
          </p:cNvSpPr>
          <p:nvPr/>
        </p:nvSpPr>
        <p:spPr>
          <a:xfrm xmlns:a="http://schemas.openxmlformats.org/drawingml/2006/main">
            <a:off x="1181100" y="7010400"/>
            <a:ext cx="1285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ctr">
              <a:buNone/>
              <a:defRPr sz="1950" b="1">
                <a:solidFill>
                  <a:srgbClr val="0E4B3B"/>
                </a:solidFill>
                <a:latin typeface="Avenir Next"/>
                <a:ea typeface="Avenir Next"/>
                <a:cs typeface="Avenir Next"/>
              </a:defRPr>
            </a:pPr>
            <a:r>
              <a:rPr sz="1950" b="1">
                <a:solidFill>
                  <a:srgbClr val="0E4B3B"/>
                </a:solidFill>
                <a:latin typeface="Avenir Next"/>
                <a:ea typeface="Avenir Next"/>
                <a:cs typeface="Avenir Next"/>
              </a:rPr>
              <a:t>MCP APP + REACT UI · SEEDED DATA · SIMULATED PAYMENT</a:t>
            </a:r>
          </a:p>
        </p:txBody>
      </p:sp>
      <p:sp>
        <p:nvSpPr>
          <p:cNvPr id="17" name="footer-label-8">
            <a:extLst xmlns:a="http://schemas.openxmlformats.org/drawingml/2006/main">
              <a:ext uri="{FF2B5EF4-FFF2-40B4-BE49-F238E27FC236}">
                <a16:creationId xmlns:a16="http://schemas.microsoft.com/office/drawing/2014/main" id="{9082A8B2-54A2-4FFA-BF7F-CAF73884DF6D}"/>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8" name="footer-number-8">
            <a:extLst xmlns:a="http://schemas.openxmlformats.org/drawingml/2006/main">
              <a:ext uri="{FF2B5EF4-FFF2-40B4-BE49-F238E27FC236}">
                <a16:creationId xmlns:a16="http://schemas.microsoft.com/office/drawing/2014/main" id="{A05B45A2-0753-4E4D-906E-D80A40A98AC8}"/>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08</a:t>
            </a:r>
          </a:p>
        </p:txBody>
      </p:sp>
    </p:spTree>
    <p:extLst>
      <p:ext uri="{BB962C8B-B14F-4D97-AF65-F5344CB8AC3E}">
        <p14:creationId xmlns:p14="http://schemas.microsoft.com/office/powerpoint/2010/main" val="1578701116"/>
      </p:ext>
    </p:extLst>
  </p:cSld>
</p:sld>
</file>

<file path=ppt/slides/slide9.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9" name="eyebrow-Merchant access and scale">
            <a:extLst xmlns:a="http://schemas.openxmlformats.org/drawingml/2006/main">
              <a:ext uri="{FF2B5EF4-FFF2-40B4-BE49-F238E27FC236}">
                <a16:creationId xmlns:a16="http://schemas.microsoft.com/office/drawing/2014/main" id="{45608E1F-4AAA-4FB7-BC67-CDD26807E062}"/>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BACKUP · WHAT IS SIMULATED</a:t>
            </a:r>
          </a:p>
        </p:txBody>
      </p:sp>
      <p:sp>
        <p:nvSpPr>
          <p:cNvPr id="2" name="title-Merchants connect commerce once. Woven handles the conversation.">
            <a:extLst xmlns:a="http://schemas.openxmlformats.org/drawingml/2006/main">
              <a:ext uri="{FF2B5EF4-FFF2-40B4-BE49-F238E27FC236}">
                <a16:creationId xmlns:a16="http://schemas.microsoft.com/office/drawing/2014/main" id="{092C5D01-8197-4D10-8BE3-3B03DD3DF7BC}"/>
              </a:ext>
            </a:extLst>
          </p:cNvPr>
          <p:cNvSpPr>
            <a:spLocks xmlns:a="http://schemas.openxmlformats.org/drawingml/2006/main" noGrp="1"/>
          </p:cNvSpPr>
          <p:nvPr/>
        </p:nvSpPr>
        <p:spPr>
          <a:xfrm xmlns:a="http://schemas.openxmlformats.org/drawingml/2006/main">
            <a:off x="838200" y="990600"/>
            <a:ext cx="1362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The prototype never claims live identity, inventory or payments.</a:t>
            </a:r>
          </a:p>
        </p:txBody>
      </p:sp>
      <p:sp>
        <p:nvSpPr>
          <p:cNvPr id="3" name="scale-number-0">
            <a:extLst xmlns:a="http://schemas.openxmlformats.org/drawingml/2006/main">
              <a:ext uri="{FF2B5EF4-FFF2-40B4-BE49-F238E27FC236}">
                <a16:creationId xmlns:a16="http://schemas.microsoft.com/office/drawing/2014/main" id="{BD9CC34B-FE98-411F-90C6-63673C207103}"/>
              </a:ext>
            </a:extLst>
          </p:cNvPr>
          <p:cNvSpPr>
            <a:spLocks xmlns:a="http://schemas.openxmlformats.org/drawingml/2006/main" noGrp="1"/>
          </p:cNvSpPr>
          <p:nvPr/>
        </p:nvSpPr>
        <p:spPr>
          <a:xfrm xmlns:a="http://schemas.openxmlformats.org/drawingml/2006/main">
            <a:off x="8382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6D7974"/>
                </a:solidFill>
                <a:latin typeface="Menlo"/>
                <a:ea typeface="Menlo"/>
                <a:cs typeface="Menlo"/>
              </a:defRPr>
            </a:pPr>
            <a:r>
              <a:rPr sz="1800" b="1">
                <a:solidFill>
                  <a:srgbClr val="6D7974"/>
                </a:solidFill>
                <a:latin typeface="Menlo"/>
                <a:ea typeface="Menlo"/>
                <a:cs typeface="Menlo"/>
              </a:rPr>
              <a:t>01</a:t>
            </a:r>
          </a:p>
        </p:txBody>
      </p:sp>
      <p:sp>
        <p:nvSpPr>
          <p:cNvPr id="4" name="scale-line-0">
            <a:extLst xmlns:a="http://schemas.openxmlformats.org/drawingml/2006/main">
              <a:ext uri="{FF2B5EF4-FFF2-40B4-BE49-F238E27FC236}">
                <a16:creationId xmlns:a16="http://schemas.microsoft.com/office/drawing/2014/main" id="{8020E27B-8543-4CD1-842D-6418530300E7}"/>
              </a:ext>
            </a:extLst>
          </p:cNvPr>
          <p:cNvSpPr>
            <a:spLocks xmlns:a="http://schemas.openxmlformats.org/drawingml/2006/main" noGrp="1"/>
          </p:cNvSpPr>
          <p:nvPr/>
        </p:nvSpPr>
        <p:spPr>
          <a:xfrm xmlns:a="http://schemas.openxmlformats.org/drawingml/2006/main">
            <a:off x="838200" y="3600450"/>
            <a:ext cx="4000500" cy="0"/>
          </a:xfrm>
          <a:prstGeom xmlns:a="http://schemas.openxmlformats.org/drawingml/2006/main" prst="line">
            <a:avLst/>
          </a:prstGeom>
          <a:noFill xmlns:a="http://schemas.openxmlformats.org/drawingml/2006/main"/>
          <a:ln xmlns:a="http://schemas.openxmlformats.org/drawingml/2006/main" w="57150">
            <a:solidFill>
              <a:srgbClr val="B7F522"/>
            </a:solidFill>
            <a:prstDash val="solid"/>
          </a:ln>
        </p:spPr>
      </p:sp>
      <p:sp>
        <p:nvSpPr>
          <p:cNvPr id="5" name="scale-heading-0">
            <a:extLst xmlns:a="http://schemas.openxmlformats.org/drawingml/2006/main">
              <a:ext uri="{FF2B5EF4-FFF2-40B4-BE49-F238E27FC236}">
                <a16:creationId xmlns:a16="http://schemas.microsoft.com/office/drawing/2014/main" id="{8F92E23D-A432-42BD-9333-22DC4085330E}"/>
              </a:ext>
            </a:extLst>
          </p:cNvPr>
          <p:cNvSpPr>
            <a:spLocks xmlns:a="http://schemas.openxmlformats.org/drawingml/2006/main" noGrp="1"/>
          </p:cNvSpPr>
          <p:nvPr/>
        </p:nvSpPr>
        <p:spPr>
          <a:xfrm xmlns:a="http://schemas.openxmlformats.org/drawingml/2006/main">
            <a:off x="8382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Demo data</a:t>
            </a:r>
          </a:p>
        </p:txBody>
      </p:sp>
      <p:sp>
        <p:nvSpPr>
          <p:cNvPr id="6" name="scale-body-0">
            <a:extLst xmlns:a="http://schemas.openxmlformats.org/drawingml/2006/main">
              <a:ext uri="{FF2B5EF4-FFF2-40B4-BE49-F238E27FC236}">
                <a16:creationId xmlns:a16="http://schemas.microsoft.com/office/drawing/2014/main" id="{7804FC9D-8D9A-4950-BAE7-1823E6AE21F0}"/>
              </a:ext>
            </a:extLst>
          </p:cNvPr>
          <p:cNvSpPr>
            <a:spLocks xmlns:a="http://schemas.openxmlformats.org/drawingml/2006/main" noGrp="1"/>
          </p:cNvSpPr>
          <p:nvPr/>
        </p:nvSpPr>
        <p:spPr>
          <a:xfrm xmlns:a="http://schemas.openxmlformats.org/drawingml/2006/main">
            <a:off x="8382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Seeded merchant inventory
and pickup estimates.</a:t>
            </a:r>
          </a:p>
        </p:txBody>
      </p:sp>
      <p:sp>
        <p:nvSpPr>
          <p:cNvPr id="7" name="scale-number-1">
            <a:extLst xmlns:a="http://schemas.openxmlformats.org/drawingml/2006/main">
              <a:ext uri="{FF2B5EF4-FFF2-40B4-BE49-F238E27FC236}">
                <a16:creationId xmlns:a16="http://schemas.microsoft.com/office/drawing/2014/main" id="{CDAA3358-24A7-437B-9A64-77A5253F42A9}"/>
              </a:ext>
            </a:extLst>
          </p:cNvPr>
          <p:cNvSpPr>
            <a:spLocks xmlns:a="http://schemas.openxmlformats.org/drawingml/2006/main" noGrp="1"/>
          </p:cNvSpPr>
          <p:nvPr/>
        </p:nvSpPr>
        <p:spPr>
          <a:xfrm xmlns:a="http://schemas.openxmlformats.org/drawingml/2006/main">
            <a:off x="56007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6D7974"/>
                </a:solidFill>
                <a:latin typeface="Menlo"/>
                <a:ea typeface="Menlo"/>
                <a:cs typeface="Menlo"/>
              </a:defRPr>
            </a:pPr>
            <a:r>
              <a:rPr sz="1800" b="1">
                <a:solidFill>
                  <a:srgbClr val="6D7974"/>
                </a:solidFill>
                <a:latin typeface="Menlo"/>
                <a:ea typeface="Menlo"/>
                <a:cs typeface="Menlo"/>
              </a:rPr>
              <a:t>02</a:t>
            </a:r>
          </a:p>
        </p:txBody>
      </p:sp>
      <p:sp>
        <p:nvSpPr>
          <p:cNvPr id="8" name="scale-line-1">
            <a:extLst xmlns:a="http://schemas.openxmlformats.org/drawingml/2006/main">
              <a:ext uri="{FF2B5EF4-FFF2-40B4-BE49-F238E27FC236}">
                <a16:creationId xmlns:a16="http://schemas.microsoft.com/office/drawing/2014/main" id="{F984DF2F-AB5D-47C4-916F-75204267A738}"/>
              </a:ext>
            </a:extLst>
          </p:cNvPr>
          <p:cNvSpPr>
            <a:spLocks xmlns:a="http://schemas.openxmlformats.org/drawingml/2006/main" noGrp="1"/>
          </p:cNvSpPr>
          <p:nvPr/>
        </p:nvSpPr>
        <p:spPr>
          <a:xfrm xmlns:a="http://schemas.openxmlformats.org/drawingml/2006/main">
            <a:off x="5600700" y="3600450"/>
            <a:ext cx="40005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9" name="scale-heading-1">
            <a:extLst xmlns:a="http://schemas.openxmlformats.org/drawingml/2006/main">
              <a:ext uri="{FF2B5EF4-FFF2-40B4-BE49-F238E27FC236}">
                <a16:creationId xmlns:a16="http://schemas.microsoft.com/office/drawing/2014/main" id="{7E87D58D-B04D-4C2A-B726-635DDE240DB6}"/>
              </a:ext>
            </a:extLst>
          </p:cNvPr>
          <p:cNvSpPr>
            <a:spLocks xmlns:a="http://schemas.openxmlformats.org/drawingml/2006/main" noGrp="1"/>
          </p:cNvSpPr>
          <p:nvPr/>
        </p:nvSpPr>
        <p:spPr>
          <a:xfrm xmlns:a="http://schemas.openxmlformats.org/drawingml/2006/main">
            <a:off x="56007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Identity direction</a:t>
            </a:r>
          </a:p>
        </p:txBody>
      </p:sp>
      <p:sp>
        <p:nvSpPr>
          <p:cNvPr id="10" name="scale-body-1">
            <a:extLst xmlns:a="http://schemas.openxmlformats.org/drawingml/2006/main">
              <a:ext uri="{FF2B5EF4-FFF2-40B4-BE49-F238E27FC236}">
                <a16:creationId xmlns:a16="http://schemas.microsoft.com/office/drawing/2014/main" id="{16E18AA4-AE39-4AEC-9985-ED711ED0D766}"/>
              </a:ext>
            </a:extLst>
          </p:cNvPr>
          <p:cNvSpPr>
            <a:spLocks xmlns:a="http://schemas.openxmlformats.org/drawingml/2006/main" noGrp="1"/>
          </p:cNvSpPr>
          <p:nvPr/>
        </p:nvSpPr>
        <p:spPr>
          <a:xfrm xmlns:a="http://schemas.openxmlformats.org/drawingml/2006/main">
            <a:off x="56007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Connector-style check is planned
and not in the live demo.</a:t>
            </a:r>
          </a:p>
        </p:txBody>
      </p:sp>
      <p:sp>
        <p:nvSpPr>
          <p:cNvPr id="11" name="scale-number-2">
            <a:extLst xmlns:a="http://schemas.openxmlformats.org/drawingml/2006/main">
              <a:ext uri="{FF2B5EF4-FFF2-40B4-BE49-F238E27FC236}">
                <a16:creationId xmlns:a16="http://schemas.microsoft.com/office/drawing/2014/main" id="{EA2A17C8-CFB5-4E9D-ABFA-E6E8D2B7F253}"/>
              </a:ext>
            </a:extLst>
          </p:cNvPr>
          <p:cNvSpPr>
            <a:spLocks xmlns:a="http://schemas.openxmlformats.org/drawingml/2006/main" noGrp="1"/>
          </p:cNvSpPr>
          <p:nvPr/>
        </p:nvSpPr>
        <p:spPr>
          <a:xfrm xmlns:a="http://schemas.openxmlformats.org/drawingml/2006/main">
            <a:off x="10363200" y="29527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800" b="1">
                <a:solidFill>
                  <a:srgbClr val="B7F522"/>
                </a:solidFill>
                <a:latin typeface="Menlo"/>
                <a:ea typeface="Menlo"/>
                <a:cs typeface="Menlo"/>
              </a:defRPr>
            </a:pPr>
            <a:r>
              <a:rPr sz="1800" b="1">
                <a:solidFill>
                  <a:srgbClr val="B7F522"/>
                </a:solidFill>
                <a:latin typeface="Menlo"/>
                <a:ea typeface="Menlo"/>
                <a:cs typeface="Menlo"/>
              </a:rPr>
              <a:t>03</a:t>
            </a:r>
          </a:p>
        </p:txBody>
      </p:sp>
      <p:sp>
        <p:nvSpPr>
          <p:cNvPr id="12" name="scale-line-2">
            <a:extLst xmlns:a="http://schemas.openxmlformats.org/drawingml/2006/main">
              <a:ext uri="{FF2B5EF4-FFF2-40B4-BE49-F238E27FC236}">
                <a16:creationId xmlns:a16="http://schemas.microsoft.com/office/drawing/2014/main" id="{BDE99F7F-19DB-4BD7-AD70-CD6275150621}"/>
              </a:ext>
            </a:extLst>
          </p:cNvPr>
          <p:cNvSpPr>
            <a:spLocks xmlns:a="http://schemas.openxmlformats.org/drawingml/2006/main" noGrp="1"/>
          </p:cNvSpPr>
          <p:nvPr/>
        </p:nvSpPr>
        <p:spPr>
          <a:xfrm xmlns:a="http://schemas.openxmlformats.org/drawingml/2006/main">
            <a:off x="10363200" y="3600450"/>
            <a:ext cx="4000500" cy="0"/>
          </a:xfrm>
          <a:prstGeom xmlns:a="http://schemas.openxmlformats.org/drawingml/2006/main" prst="line">
            <a:avLst/>
          </a:prstGeom>
          <a:noFill xmlns:a="http://schemas.openxmlformats.org/drawingml/2006/main"/>
          <a:ln xmlns:a="http://schemas.openxmlformats.org/drawingml/2006/main" w="19050">
            <a:solidFill>
              <a:srgbClr val="D8D0C4"/>
            </a:solidFill>
            <a:prstDash val="solid"/>
          </a:ln>
        </p:spPr>
      </p:sp>
      <p:sp>
        <p:nvSpPr>
          <p:cNvPr id="13" name="scale-heading-2">
            <a:extLst xmlns:a="http://schemas.openxmlformats.org/drawingml/2006/main">
              <a:ext uri="{FF2B5EF4-FFF2-40B4-BE49-F238E27FC236}">
                <a16:creationId xmlns:a16="http://schemas.microsoft.com/office/drawing/2014/main" id="{5AB63753-F0D5-4803-98BD-F4BF46F889B7}"/>
              </a:ext>
            </a:extLst>
          </p:cNvPr>
          <p:cNvSpPr>
            <a:spLocks xmlns:a="http://schemas.openxmlformats.org/drawingml/2006/main" noGrp="1"/>
          </p:cNvSpPr>
          <p:nvPr/>
        </p:nvSpPr>
        <p:spPr>
          <a:xfrm xmlns:a="http://schemas.openxmlformats.org/drawingml/2006/main">
            <a:off x="10363200" y="39052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7000"/>
              </a:lnSpc>
              <a:buNone/>
              <a:defRPr sz="2550" b="1">
                <a:solidFill>
                  <a:srgbClr val="0E4B3B"/>
                </a:solidFill>
                <a:latin typeface="Georgia"/>
                <a:ea typeface="Georgia"/>
                <a:cs typeface="Georgia"/>
              </a:defRPr>
            </a:pPr>
            <a:r>
              <a:rPr sz="2550" b="1">
                <a:solidFill>
                  <a:srgbClr val="0E4B3B"/>
                </a:solidFill>
                <a:latin typeface="Georgia"/>
                <a:ea typeface="Georgia"/>
                <a:cs typeface="Georgia"/>
              </a:rPr>
              <a:t>Visa response</a:t>
            </a:r>
          </a:p>
        </p:txBody>
      </p:sp>
      <p:sp>
        <p:nvSpPr>
          <p:cNvPr id="14" name="scale-body-2">
            <a:extLst xmlns:a="http://schemas.openxmlformats.org/drawingml/2006/main">
              <a:ext uri="{FF2B5EF4-FFF2-40B4-BE49-F238E27FC236}">
                <a16:creationId xmlns:a16="http://schemas.microsoft.com/office/drawing/2014/main" id="{E7963198-1A16-48D2-952D-7AD01966B27A}"/>
              </a:ext>
            </a:extLst>
          </p:cNvPr>
          <p:cNvSpPr>
            <a:spLocks xmlns:a="http://schemas.openxmlformats.org/drawingml/2006/main" noGrp="1"/>
          </p:cNvSpPr>
          <p:nvPr/>
        </p:nvSpPr>
        <p:spPr>
          <a:xfrm xmlns:a="http://schemas.openxmlformats.org/drawingml/2006/main">
            <a:off x="10363200" y="4838700"/>
            <a:ext cx="39052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Simulated approval, decline
and reversal · no live charge.</a:t>
            </a:r>
          </a:p>
        </p:txBody>
      </p:sp>
      <p:sp>
        <p:nvSpPr>
          <p:cNvPr id="15" name="scale-bottom-band">
            <a:extLst xmlns:a="http://schemas.openxmlformats.org/drawingml/2006/main">
              <a:ext uri="{FF2B5EF4-FFF2-40B4-BE49-F238E27FC236}">
                <a16:creationId xmlns:a16="http://schemas.microsoft.com/office/drawing/2014/main" id="{F6065CF4-96C7-491E-BA9B-6F2C83818CF1}"/>
              </a:ext>
            </a:extLst>
          </p:cNvPr>
          <p:cNvSpPr>
            <a:spLocks xmlns:a="http://schemas.openxmlformats.org/drawingml/2006/main" noGrp="1"/>
          </p:cNvSpPr>
          <p:nvPr/>
        </p:nvSpPr>
        <p:spPr>
          <a:xfrm xmlns:a="http://schemas.openxmlformats.org/drawingml/2006/main">
            <a:off x="838200" y="6781800"/>
            <a:ext cx="13544550" cy="742950"/>
          </a:xfrm>
          <a:prstGeom xmlns:a="http://schemas.openxmlformats.org/drawingml/2006/main" prst="roundRect">
            <a:avLst>
              <a:gd name="adj" fmla="val 25641"/>
            </a:avLst>
          </a:prstGeom>
          <a:solidFill xmlns:a="http://schemas.openxmlformats.org/drawingml/2006/main">
            <a:srgbClr val="DFF1EB"/>
          </a:solidFill>
          <a:ln xmlns:a="http://schemas.openxmlformats.org/drawingml/2006/main" w="0">
            <a:noFill/>
            <a:prstDash val="solid"/>
          </a:ln>
        </p:spPr>
      </p:sp>
      <p:sp>
        <p:nvSpPr>
          <p:cNvPr id="16" name="scale-bottom-text">
            <a:extLst xmlns:a="http://schemas.openxmlformats.org/drawingml/2006/main">
              <a:ext uri="{FF2B5EF4-FFF2-40B4-BE49-F238E27FC236}">
                <a16:creationId xmlns:a16="http://schemas.microsoft.com/office/drawing/2014/main" id="{D6B78FC7-412E-4A33-887B-13E37937B350}"/>
              </a:ext>
            </a:extLst>
          </p:cNvPr>
          <p:cNvSpPr>
            <a:spLocks xmlns:a="http://schemas.openxmlformats.org/drawingml/2006/main" noGrp="1"/>
          </p:cNvSpPr>
          <p:nvPr/>
        </p:nvSpPr>
        <p:spPr>
          <a:xfrm xmlns:a="http://schemas.openxmlformats.org/drawingml/2006/main">
            <a:off x="1181100" y="7010400"/>
            <a:ext cx="1285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ctr">
              <a:buNone/>
              <a:defRPr sz="1950" b="1">
                <a:solidFill>
                  <a:srgbClr val="0E4B3B"/>
                </a:solidFill>
                <a:latin typeface="Avenir Next"/>
                <a:ea typeface="Avenir Next"/>
                <a:cs typeface="Avenir Next"/>
              </a:defRPr>
            </a:pPr>
            <a:r>
              <a:rPr sz="1950" b="1">
                <a:solidFill>
                  <a:srgbClr val="0E4B3B"/>
                </a:solidFill>
                <a:latin typeface="Avenir Next"/>
                <a:ea typeface="Avenir Next"/>
                <a:cs typeface="Avenir Next"/>
              </a:rPr>
              <a:t>NO VISA ACCOUNT · NO PAYMENT CREDENTIALS · NO PARTNERSHIP CLAIM</a:t>
            </a:r>
          </a:p>
        </p:txBody>
      </p:sp>
      <p:sp>
        <p:nvSpPr>
          <p:cNvPr id="17" name="footer-label-8">
            <a:extLst xmlns:a="http://schemas.openxmlformats.org/drawingml/2006/main">
              <a:ext uri="{FF2B5EF4-FFF2-40B4-BE49-F238E27FC236}">
                <a16:creationId xmlns:a16="http://schemas.microsoft.com/office/drawing/2014/main" id="{9082A8B2-54A2-4FFA-BF7F-CAF73884DF6D}"/>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8" name="footer-number-8">
            <a:extLst xmlns:a="http://schemas.openxmlformats.org/drawingml/2006/main">
              <a:ext uri="{FF2B5EF4-FFF2-40B4-BE49-F238E27FC236}">
                <a16:creationId xmlns:a16="http://schemas.microsoft.com/office/drawing/2014/main" id="{A05B45A2-0753-4E4D-906E-D80A40A98AC8}"/>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09</a:t>
            </a:r>
          </a:p>
        </p:txBody>
      </p:sp>
    </p:spTree>
    <p:extLst>
      <p:ext uri="{BB962C8B-B14F-4D97-AF65-F5344CB8AC3E}">
        <p14:creationId xmlns:p14="http://schemas.microsoft.com/office/powerpoint/2010/main" val="15787011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bffdb01cf344feb"/>
          <a:srcRect xmlns:a="http://schemas.openxmlformats.org/drawingml/2006/main" l="0" t="0" r="0" b="0"/>
          <a:stretch xmlns:a="http://schemas.openxmlformats.org/drawingml/2006/main">
            <a:fillRect l="0" t="0" r="0" b="0"/>
          </a:stretch>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614777387"/>
      </p:ext>
    </p:extLst>
  </p:cSld>
</p:sld>
</file>

<file path=ppt/slides/slide11.xml><?xml version="1.0" encoding="utf-8"?>
<p:sld xmlns:p="http://schemas.openxmlformats.org/presentationml/2006/main">
  <p:cSld>
    <p:bg>
      <p:bgPr>
        <a:solidFill xmlns:a="http://schemas.openxmlformats.org/drawingml/2006/main">
          <a:srgbClr val="F4EEE4"/>
        </a:solidFill>
      </p:bgPr>
    </p:bg>
    <p:spTree>
      <p:nvGrpSpPr>
        <p:cNvPr id="1" name=""/>
        <p:cNvGrpSpPr/>
        <p:nvPr/>
      </p:nvGrpSpPr>
      <p:grpSpPr>
        <a:xfrm xmlns:a="http://schemas.openxmlformats.org/drawingml/2006/main"/>
      </p:grpSpPr>
      <p:sp>
        <p:nvSpPr>
          <p:cNvPr id="11" name="eyebrow-The live demo">
            <a:extLst xmlns:a="http://schemas.openxmlformats.org/drawingml/2006/main">
              <a:ext uri="{FF2B5EF4-FFF2-40B4-BE49-F238E27FC236}">
                <a16:creationId xmlns:a16="http://schemas.microsoft.com/office/drawing/2014/main" id="{46635EF8-3618-4994-81BA-2542F409376A}"/>
              </a:ext>
            </a:extLst>
          </p:cNvPr>
          <p:cNvSpPr>
            <a:spLocks xmlns:a="http://schemas.openxmlformats.org/drawingml/2006/main" noGrp="1"/>
          </p:cNvSpPr>
          <p:nvPr/>
        </p:nvSpPr>
        <p:spPr>
          <a:xfrm xmlns:a="http://schemas.openxmlformats.org/drawingml/2006/main">
            <a:off x="838200" y="5905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6D7974"/>
                </a:solidFill>
                <a:latin typeface="Menlo"/>
                <a:ea typeface="Menlo"/>
                <a:cs typeface="Menlo"/>
              </a:defRPr>
            </a:pPr>
            <a:r>
              <a:rPr sz="1350" b="1">
                <a:solidFill>
                  <a:srgbClr val="6D7974"/>
                </a:solidFill>
                <a:latin typeface="Menlo"/>
                <a:ea typeface="Menlo"/>
                <a:cs typeface="Menlo"/>
              </a:rPr>
              <a:t>BACKUP · TRUST CONTROLS</a:t>
            </a:r>
          </a:p>
        </p:txBody>
      </p:sp>
      <p:sp>
        <p:nvSpPr>
          <p:cNvPr id="2" name="title-The AI recommends. The user confirms the exact terms.">
            <a:extLst xmlns:a="http://schemas.openxmlformats.org/drawingml/2006/main">
              <a:ext uri="{FF2B5EF4-FFF2-40B4-BE49-F238E27FC236}">
                <a16:creationId xmlns:a16="http://schemas.microsoft.com/office/drawing/2014/main" id="{E6C7E214-CE49-432D-A6ED-84FB60003964}"/>
              </a:ext>
            </a:extLst>
          </p:cNvPr>
          <p:cNvSpPr>
            <a:spLocks xmlns:a="http://schemas.openxmlformats.org/drawingml/2006/main" noGrp="1"/>
          </p:cNvSpPr>
          <p:nvPr/>
        </p:nvSpPr>
        <p:spPr>
          <a:xfrm xmlns:a="http://schemas.openxmlformats.org/drawingml/2006/main">
            <a:off x="838200" y="990600"/>
            <a:ext cx="13525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4650" b="1">
                <a:solidFill>
                  <a:srgbClr val="0E4B3B"/>
                </a:solidFill>
                <a:latin typeface="Georgia"/>
                <a:ea typeface="Georgia"/>
                <a:cs typeface="Georgia"/>
              </a:defRPr>
            </a:pPr>
            <a:r>
              <a:rPr sz="4650" b="1">
                <a:solidFill>
                  <a:srgbClr val="0E4B3B"/>
                </a:solidFill>
                <a:latin typeface="Georgia"/>
                <a:ea typeface="Georgia"/>
                <a:cs typeface="Georgia"/>
              </a:rPr>
              <a:t>Trust is enforced at the purchase boundary.</a:t>
            </a:r>
          </a:p>
        </p:txBody>
      </p:sp>
      <p:sp>
        <p:nvSpPr>
          <p:cNvPr id="3" name="boundary-statement">
            <a:extLst xmlns:a="http://schemas.openxmlformats.org/drawingml/2006/main">
              <a:ext uri="{FF2B5EF4-FFF2-40B4-BE49-F238E27FC236}">
                <a16:creationId xmlns:a16="http://schemas.microsoft.com/office/drawing/2014/main" id="{64039A6F-00FA-4C7A-8407-F1FA78BFDFA5}"/>
              </a:ext>
            </a:extLst>
          </p:cNvPr>
          <p:cNvSpPr>
            <a:spLocks xmlns:a="http://schemas.openxmlformats.org/drawingml/2006/main" noGrp="1"/>
          </p:cNvSpPr>
          <p:nvPr/>
        </p:nvSpPr>
        <p:spPr>
          <a:xfrm xmlns:a="http://schemas.openxmlformats.org/drawingml/2006/main">
            <a:off x="838200" y="2895600"/>
            <a:ext cx="4191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95000"/>
              </a:lnSpc>
              <a:buNone/>
              <a:defRPr sz="3150" b="1">
                <a:solidFill>
                  <a:srgbClr val="0E4B3B"/>
                </a:solidFill>
                <a:latin typeface="Georgia"/>
                <a:ea typeface="Georgia"/>
                <a:cs typeface="Georgia"/>
              </a:defRPr>
            </a:pPr>
            <a:r>
              <a:rPr sz="3150" b="1">
                <a:solidFill>
                  <a:srgbClr val="0E4B3B"/>
                </a:solidFill>
                <a:latin typeface="Georgia"/>
                <a:ea typeface="Georgia"/>
                <a:cs typeface="Georgia"/>
              </a:rPr>
              <a:t>Exact terms are bound.</a:t>
            </a:r>
          </a:p>
          <a:p xmlns:a="http://schemas.openxmlformats.org/drawingml/2006/main">
            <a:pPr>
              <a:lnSpc>
                <a:spcPct val="95000"/>
              </a:lnSpc>
              <a:buNone/>
              <a:defRPr sz="3150" b="1">
                <a:solidFill>
                  <a:srgbClr val="0E4B3B"/>
                </a:solidFill>
                <a:latin typeface="Georgia"/>
                <a:ea typeface="Georgia"/>
                <a:cs typeface="Georgia"/>
              </a:defRPr>
            </a:pPr>
            <a:r>
              <a:rPr sz="3150" b="1">
                <a:solidFill>
                  <a:srgbClr val="0E4B3B"/>
                </a:solidFill>
                <a:latin typeface="Georgia"/>
                <a:ea typeface="Georgia"/>
                <a:cs typeface="Georgia"/>
              </a:rPr>
              <a:t>Only the user confirms.</a:t>
            </a:r>
          </a:p>
        </p:txBody>
      </p:sp>
      <p:sp>
        <p:nvSpPr>
          <p:cNvPr id="4" name="simulated-label">
            <a:extLst xmlns:a="http://schemas.openxmlformats.org/drawingml/2006/main">
              <a:ext uri="{FF2B5EF4-FFF2-40B4-BE49-F238E27FC236}">
                <a16:creationId xmlns:a16="http://schemas.microsoft.com/office/drawing/2014/main" id="{906B7775-6C73-4936-919D-C949C0ED9DEE}"/>
              </a:ext>
            </a:extLst>
          </p:cNvPr>
          <p:cNvSpPr>
            <a:spLocks xmlns:a="http://schemas.openxmlformats.org/drawingml/2006/main" noGrp="1"/>
          </p:cNvSpPr>
          <p:nvPr/>
        </p:nvSpPr>
        <p:spPr>
          <a:xfrm xmlns:a="http://schemas.openxmlformats.org/drawingml/2006/main">
            <a:off x="838200" y="4724400"/>
            <a:ext cx="3143250" cy="514350"/>
          </a:xfrm>
          <a:prstGeom xmlns:a="http://schemas.openxmlformats.org/drawingml/2006/main" prst="roundRect">
            <a:avLst>
              <a:gd name="adj" fmla="val 50000"/>
            </a:avLst>
          </a:prstGeom>
          <a:solidFill xmlns:a="http://schemas.openxmlformats.org/drawingml/2006/main">
            <a:srgbClr val="1545E8"/>
          </a:solidFill>
          <a:ln xmlns:a="http://schemas.openxmlformats.org/drawingml/2006/main" w="0">
            <a:noFill/>
            <a:prstDash val="solid"/>
          </a:ln>
        </p:spPr>
      </p:sp>
      <p:sp>
        <p:nvSpPr>
          <p:cNvPr id="5" name="simulated-label-text">
            <a:extLst xmlns:a="http://schemas.openxmlformats.org/drawingml/2006/main">
              <a:ext uri="{FF2B5EF4-FFF2-40B4-BE49-F238E27FC236}">
                <a16:creationId xmlns:a16="http://schemas.microsoft.com/office/drawing/2014/main" id="{0DCF3A62-833F-4EDD-B0B4-4EEFB00BFC41}"/>
              </a:ext>
            </a:extLst>
          </p:cNvPr>
          <p:cNvSpPr>
            <a:spLocks xmlns:a="http://schemas.openxmlformats.org/drawingml/2006/main" noGrp="1"/>
          </p:cNvSpPr>
          <p:nvPr/>
        </p:nvSpPr>
        <p:spPr>
          <a:xfrm xmlns:a="http://schemas.openxmlformats.org/drawingml/2006/main">
            <a:off x="1028700" y="48768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ctr">
              <a:buNone/>
              <a:defRPr sz="1275" b="1">
                <a:solidFill>
                  <a:srgbClr val="FFFFFF"/>
                </a:solidFill>
                <a:latin typeface="Menlo"/>
                <a:ea typeface="Menlo"/>
                <a:cs typeface="Menlo"/>
              </a:defRPr>
            </a:pPr>
            <a:r>
              <a:rPr sz="1275" b="1">
                <a:solidFill>
                  <a:srgbClr val="FFFFFF"/>
                </a:solidFill>
                <a:latin typeface="Menlo"/>
                <a:ea typeface="Menlo"/>
                <a:cs typeface="Menlo"/>
              </a:rPr>
              <a:t>IDENTITY · PLANNED / NOT LIVE</a:t>
            </a:r>
          </a:p>
        </p:txBody>
      </p:sp>
      <p:sp>
        <p:nvSpPr>
          <p:cNvPr id="6" name="exact-terms">
            <a:extLst xmlns:a="http://schemas.openxmlformats.org/drawingml/2006/main">
              <a:ext uri="{FF2B5EF4-FFF2-40B4-BE49-F238E27FC236}">
                <a16:creationId xmlns:a16="http://schemas.microsoft.com/office/drawing/2014/main" id="{24D4E798-F7E3-4205-9A3C-908586EEA799}"/>
              </a:ext>
            </a:extLst>
          </p:cNvPr>
          <p:cNvSpPr>
            <a:spLocks xmlns:a="http://schemas.openxmlformats.org/drawingml/2006/main" noGrp="1"/>
          </p:cNvSpPr>
          <p:nvPr/>
        </p:nvSpPr>
        <p:spPr>
          <a:xfrm xmlns:a="http://schemas.openxmlformats.org/drawingml/2006/main">
            <a:off x="838200" y="5638800"/>
            <a:ext cx="3810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nSpc>
                <a:spcPct val="118000"/>
              </a:lnSpc>
              <a:buNone/>
              <a:defRPr sz="1800">
                <a:solidFill>
                  <a:srgbClr val="6D7974"/>
                </a:solidFill>
                <a:latin typeface="Avenir Next"/>
                <a:ea typeface="Avenir Next"/>
                <a:cs typeface="Avenir Next"/>
              </a:defRPr>
            </a:pPr>
            <a:r>
              <a:rPr sz="1800">
                <a:solidFill>
                  <a:srgbClr val="6D7974"/>
                </a:solidFill>
                <a:latin typeface="Avenir Next"/>
                <a:ea typeface="Avenir Next"/>
                <a:cs typeface="Avenir Next"/>
              </a:rPr>
              <a:t>Price + stock rechecked · mandate expires · private nonce
Idempotent order · simulated reversal</a:t>
            </a:r>
          </a:p>
        </p:txBody>
      </p:sp>
      <p:sp>
        <p:nvSpPr>
          <p:cNvPr id="7" name="Woven checkout mandate showing exact terms and explicit confirmation-backplate">
            <a:extLst xmlns:a="http://schemas.openxmlformats.org/drawingml/2006/main">
              <a:ext uri="{FF2B5EF4-FFF2-40B4-BE49-F238E27FC236}">
                <a16:creationId xmlns:a16="http://schemas.microsoft.com/office/drawing/2014/main" id="{8ADD3CA5-C1ED-4601-B88F-C6932A9AEDCB}"/>
              </a:ext>
            </a:extLst>
          </p:cNvPr>
          <p:cNvSpPr>
            <a:spLocks xmlns:a="http://schemas.openxmlformats.org/drawingml/2006/main" noGrp="1"/>
          </p:cNvSpPr>
          <p:nvPr/>
        </p:nvSpPr>
        <p:spPr>
          <a:xfrm xmlns:a="http://schemas.openxmlformats.org/drawingml/2006/main">
            <a:off x="5095875" y="2362200"/>
            <a:ext cx="9191625" cy="52578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785bd862f514d5a"/>
          <a:stretch xmlns:a="http://schemas.openxmlformats.org/drawingml/2006/main"/>
        </p:blipFill>
        <p:spPr>
          <a:xfrm xmlns:a="http://schemas.openxmlformats.org/drawingml/2006/main" flipH="0" flipV="0">
            <a:off x="5191125" y="2459534"/>
            <a:ext cx="9001125" cy="5063133"/>
          </a:xfrm>
          <a:prstGeom xmlns:a="http://schemas.openxmlformats.org/drawingml/2006/main" prst="roundRect">
            <a:avLst/>
          </a:prstGeom>
        </p:spPr>
      </p:pic>
      <p:sp>
        <p:nvSpPr>
          <p:cNvPr id="9" name="footer-label-6">
            <a:extLst xmlns:a="http://schemas.openxmlformats.org/drawingml/2006/main">
              <a:ext uri="{FF2B5EF4-FFF2-40B4-BE49-F238E27FC236}">
                <a16:creationId xmlns:a16="http://schemas.microsoft.com/office/drawing/2014/main" id="{180E82C5-4959-4CB6-9B7C-CA48FE5A4C58}"/>
              </a:ext>
            </a:extLst>
          </p:cNvPr>
          <p:cNvSpPr>
            <a:spLocks xmlns:a="http://schemas.openxmlformats.org/drawingml/2006/main" noGrp="1"/>
          </p:cNvSpPr>
          <p:nvPr/>
        </p:nvSpPr>
        <p:spPr>
          <a:xfrm xmlns:a="http://schemas.openxmlformats.org/drawingml/2006/main">
            <a:off x="838200" y="802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buNone/>
              <a:defRPr sz="1200" b="1">
                <a:solidFill>
                  <a:srgbClr val="6D7974"/>
                </a:solidFill>
                <a:latin typeface="Menlo"/>
                <a:ea typeface="Menlo"/>
                <a:cs typeface="Menlo"/>
              </a:defRPr>
            </a:pPr>
            <a:r>
              <a:rPr sz="1200" b="1">
                <a:solidFill>
                  <a:srgbClr val="6D7974"/>
                </a:solidFill>
                <a:latin typeface="Menlo"/>
                <a:ea typeface="Menlo"/>
                <a:cs typeface="Menlo"/>
              </a:rPr>
              <a:t>WOVEN  /  LIFEHACK 2026</a:t>
            </a:r>
          </a:p>
        </p:txBody>
      </p:sp>
      <p:sp>
        <p:nvSpPr>
          <p:cNvPr id="10" name="footer-number-6">
            <a:extLst xmlns:a="http://schemas.openxmlformats.org/drawingml/2006/main">
              <a:ext uri="{FF2B5EF4-FFF2-40B4-BE49-F238E27FC236}">
                <a16:creationId xmlns:a16="http://schemas.microsoft.com/office/drawing/2014/main" id="{573541B3-83F3-4ADA-A401-90AC23E83D47}"/>
              </a:ext>
            </a:extLst>
          </p:cNvPr>
          <p:cNvSpPr>
            <a:spLocks xmlns:a="http://schemas.openxmlformats.org/drawingml/2006/main" noGrp="1"/>
          </p:cNvSpPr>
          <p:nvPr/>
        </p:nvSpPr>
        <p:spPr>
          <a:xfrm xmlns:a="http://schemas.openxmlformats.org/drawingml/2006/main">
            <a:off x="13620750" y="8001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350" b="1">
                <a:solidFill>
                  <a:srgbClr val="6D7974"/>
                </a:solidFill>
                <a:latin typeface="Menlo"/>
                <a:ea typeface="Menlo"/>
                <a:cs typeface="Menlo"/>
              </a:defRPr>
            </a:pPr>
            <a:r>
              <a:rPr sz="1350" b="1">
                <a:solidFill>
                  <a:srgbClr val="6D7974"/>
                </a:solidFill>
                <a:latin typeface="Menlo"/>
                <a:ea typeface="Menlo"/>
                <a:cs typeface="Menlo"/>
              </a:rPr>
              <a:t>11</a:t>
            </a:r>
          </a:p>
        </p:txBody>
      </p:sp>
    </p:spTree>
    <p:extLst>
      <p:ext uri="{BB962C8B-B14F-4D97-AF65-F5344CB8AC3E}">
        <p14:creationId xmlns:p14="http://schemas.microsoft.com/office/powerpoint/2010/main" val="209191745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bffdb01cf344feb"/>
          <a:srcRect xmlns:a="http://schemas.openxmlformats.org/drawingml/2006/main" l="0" t="0" r="0" b="0"/>
          <a:stretch xmlns:a="http://schemas.openxmlformats.org/drawingml/2006/main">
            <a:fillRect l="0" t="0" r="0" b="0"/>
          </a:stretch>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6147773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2026-08-29T17:25:55.9040000Z</dcterms:created>
  <dcterms:modified xsi:type="dcterms:W3CDTF">2026-08-29T17:25:55.9040000Z</dcterms:modified>
</coreProperties>
</file>